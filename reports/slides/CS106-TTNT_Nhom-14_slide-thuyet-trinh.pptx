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MdAPE (%)</c:v>
                </c:pt>
              </c:strCache>
            </c:strRef>
          </c:tx>
          <c:spPr>
            <a:ln w="31750" cap="flat">
              <a:solidFill>
                <a:srgbClr val="C8553A"/>
              </a:solidFill>
              <a:prstDash val="solid"/>
              <a:round/>
            </a:ln>
            <a:effectLst/>
          </c:spPr>
          <c:marker>
            <c:symbol val="circle"/>
            <c:size val="8"/>
            <c:spPr>
              <a:solidFill>
                <a:srgbClr val="C8553A"/>
              </a:solidFill>
              <a:ln w="9525" cap="flat">
                <a:solidFill>
                  <a:srgbClr val="C8553A"/>
                </a:solidFill>
                <a:prstDash val="solid"/>
                <a:round/>
              </a:ln>
              <a:effectLst/>
            </c:spPr>
          </c:marker>
          <c:cat>
            <c:strRef>
              <c:f>Sheet1!$A$2:$A$8</c:f>
              <c:strCache>
                <c:ptCount val="7"/>
                <c:pt idx="0">
                  <c:v>186</c:v>
                </c:pt>
                <c:pt idx="1">
                  <c:v>465</c:v>
                </c:pt>
                <c:pt idx="2">
                  <c:v>744</c:v>
                </c:pt>
                <c:pt idx="3">
                  <c:v>1.023</c:v>
                </c:pt>
                <c:pt idx="4">
                  <c:v>1.302</c:v>
                </c:pt>
                <c:pt idx="5">
                  <c:v>1.581</c:v>
                </c:pt>
                <c:pt idx="6">
                  <c:v>1.860</c:v>
                </c:pt>
              </c:strCache>
            </c:strRef>
          </c:cat>
          <c:val>
            <c:numRef>
              <c:f>Sheet1!$B$2:$B$8</c:f>
              <c:numCache>
                <c:formatCode>General</c:formatCode>
                <c:ptCount val="7"/>
                <c:pt idx="0">
                  <c:v>22.9</c:v>
                </c:pt>
                <c:pt idx="1">
                  <c:v>15.7</c:v>
                </c:pt>
                <c:pt idx="2">
                  <c:v>15.3</c:v>
                </c:pt>
                <c:pt idx="3">
                  <c:v>15.5</c:v>
                </c:pt>
                <c:pt idx="4">
                  <c:v>14.2</c:v>
                </c:pt>
                <c:pt idx="5">
                  <c:v>13.4</c:v>
                </c:pt>
                <c:pt idx="6">
                  <c:v>14.2</c:v>
                </c:pt>
              </c:numCache>
            </c:numRef>
          </c:val>
          <c:smooth val="0"/>
          <c:extLst>
            <c:ext xmlns:c16="http://schemas.microsoft.com/office/drawing/2014/chart" uri="{C3380CC4-5D6E-409C-BE32-E72D297353CC}">
              <c16:uniqueId val="{00000000-E163-2D49-911F-42456F62A0C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D74"/>
                </a:solidFill>
                <a:latin typeface="Calibri"/>
              </a:defRPr>
            </a:pPr>
            <a:endParaRPr lang="en-US"/>
          </a:p>
        </c:txPr>
        <c:crossAx val="2094734552"/>
        <c:crosses val="autoZero"/>
        <c:auto val="1"/>
        <c:lblAlgn val="ctr"/>
        <c:lblOffset val="100"/>
        <c:noMultiLvlLbl val="1"/>
      </c:catAx>
      <c:valAx>
        <c:axId val="2094734552"/>
        <c:scaling>
          <c:orientation val="minMax"/>
          <c:max val="24"/>
          <c:min val="12"/>
        </c:scaling>
        <c:delete val="0"/>
        <c:axPos val="l"/>
        <c:majorGridlines>
          <c:spPr>
            <a:ln w="9525" cap="flat">
              <a:solidFill>
                <a:srgbClr val="E3EA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D74"/>
                </a:solidFill>
                <a:latin typeface="Calibri"/>
              </a:defRPr>
            </a:pPr>
            <a:endParaRPr lang="en-US"/>
          </a:p>
        </c:txPr>
        <c:crossAx val="2094734554"/>
        <c:crosses val="autoZero"/>
        <c:crossBetween val="between"/>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309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cô và các bạn. Nhóm 14 trình bày đồ án đề tài 5: dự báo giá nhà TP.HCM từ dữ liệu rao vặt. Nhóm có bảy thành viên như trên slide.
Bài trình bày đi qua bốn phần: dữ liệu và cách làm sạch, trích đặc trưng từ văn bản, kết quả các thí nghiệm, rồi demo và hạn chế.</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là ước lượng tổng giá rao của một bất động sản. Đầu vào có hai loại.
Loại thứ nhất là các trường người bán điền vào form: diện tích, phòng ngủ, số tầng, vị trí, pháp lý.
Loại thứ hai là phần mô tả tự viết. Phần này chứa những thứ form không hỏi: hẻm xe hơi, nở hậu, ngộp bank, sổ hồng riêng. Ai từng đi mua nhà đều biết mấy chữ đó kéo giá lên hoặc xuống.
Câu hỏi nhóm đặt ra: phần văn bản đó đáng bao nhiêu, đo được bằng con số. Câu trả lời nằm ở slide ablation.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đến từ ba nguồn.
Hai nguồn hiện tại: Chợ Tốt, lấy qua API JSON công khai, quét theo từng quận; và mogi.vn, parse HTML từ trang danh sách vào trang chi tiết.
Nguồn lịch sử là bộ vietnam-real-estates trên Hugging Face, tải dạng parquet.
Con số lớn trên mỗi thẻ là số tin còn lại sau làm sạch.
Khi thu thập, nhóm tự đặt bốn ranh giới: tôn trọng robots.txt, không vượt anti-bot, một request mỗi 1,5 giây, và không thu thập thông tin người bán.
Nếu được hỏi vì sao kho thô không có trong repo: tin rao có thể còn dấu vết người bán, và bộ Hugging Face có license CC BY-NC 4.0 cấm tái phân phối. Chạy make crawl để dựng lại.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Tin rao hay chứa số điện thoại, và người bán cố tình né bộ lọc của sàn: chữ số Unicode, emoji, chữ cái thay số, số viết bằng chữ, hoặc ký tự vô hình chèn vào giữa.
Nếu chuẩn hoá rồi xoá thẳng trên chuỗi đã chuẩn hoá thì văn bản lưu lại bị méo. Nhóm tách hai việc: tạo một chuỗi chỉ dùng để dò, giữ bản đồ vị trí về văn bản gốc, rồi chỉ xoá đúng đoạn là số điện thoại trên văn bản gốc.
Việc xoá chạy ngay lúc ghi file, trước khi tin vào kho thô. Mười bốn kiểu nguỵ trang có test riêng, và quét lại kho thô không còn số nào.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mô tả, nhóm rút bảy trường định lượng bằng regex. Ba luật khó nhất đều đến từ cách người Việt viết tin rao.
Thứ nhất, "1 trệt 2 lầu" là 3 tầng. Phải cộng các thành phần, không lấy con số đầu tiên gặp được.
Thứ hai, "4x15" là kích thước chứ không phải diện tích. Phải nhân ra 60 m², và chiều ngang 4 m chính là mặt tiền.
Thứ ba, "nhà mặt tiền" là loại vị trí, còn "mặt tiền 4m" là số đo. Cùng một chữ nhưng đổ vào hai trường khác nhau.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đo bộ luật, nhóm không nhờ LLM gán nhãn. Nhãn lấy từ chính các trường có cấu trúc người bán điền vào form. Bộ luật chỉ đọc tiêu đề và mô tả nên không nhìn thấy các trường đó. Bộ nhãn vàng là 200 tin chọn ngẫu nhiên.
Diện tích đạt F1 0,939, vượt chỉ tiêu 0,9. Số tầng dừng ở 0,802.
Nhìn vào lỗi của số tầng: 13 trong 17 lỗi lệch đúng một đơn vị, phần lớn là tin viết "1 trệt 1 lầu" nhưng điền số 1 vào form. Cùng một cách viết, người này khai 1, người kia khai 2. Đó là nhiễu của nhãn, không phải bộ luật đọc sai.
Nếu được hỏi về phòng ngủ: F1 0,887, cũng chưa chạm 0,9 (thiếu 0,013); 12 trong 16 lỗi là lệch một đơn vị. Số nhà tắm không nằm trong chỉ tiêu.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01/07/2025, TP.HCM còn 168 đơn vị cấp xã: 113 phường, 54 xã và 1 đặc khu. Hệ quả cho dữ liệu: tin 2026 ghi tên phường mới, còn bộ lịch sử ghi tên phường cũ.
Thay vì tải một bảng ánh xạ bên ngoài, nhóm dựng bảng từ chính dữ liệu. API Chợ Tốt trả cả tên phường hệ cũ lẫn hệ mới cho cùng một tin, nên mỗi tin là một cặp ánh xạ do sàn khẳng định.
Bảng này cũng lộ ra cạm bẫy: 14 trong 16 phường mới gộp từ nhiều phường cũ. Tỷ lệ đa số thấp nhất chỉ 0,45, nghĩa là với phường mới đó, phường cũ xuất hiện nhiều nhất cũng chỉ chiếm 45% số tin. Ánh xạ kiểu này bị đánh dấu là đa số mỏng thay vì áp thẳng.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Rò rỉ nhãn là lỗi làm kết quả đẹp giả. Nhóm không tin vào câu "đã lọc rồi", mà chạy một danh sách kiểm trước mỗi lần huấn luyện. Danh sách này bắt được hai lỗi thật.
Lỗi một: tiền đã được lọc khỏi mô tả, nhưng bước tách từ bỏ dấu phẩy thập phân, biến "5,85" thành "585" nằm cạnh chữ "tỷ" còn sót. Giá quay lại trong đặc trưng.
Lỗi hai: đơn giá viết dính thành "110 triệum2" nên lọt bộ lọc tiền. Nhân với diện tích là ra thẳng nhãn.
Sau khi sửa, không dòng nào trong 34.607 dòng còn token tiền đi vào TF-IDF.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toàn bộ pipeline, sáu khối từ trái sang phải.
Thu thập từ ba nguồn, ghi vào kho thô, xoá số điện thoại ngay lúc ghi. Tiền xử lý chuẩn hoá giá và địa chỉ, trích bảy trường bằng regex, khử trùng lặp và lọc ngoại lai. Khối đặc trưng tách từ tiếng Việt, thêm cờ văn bản và TF-IDF/SVD, ghép với đặc trưng bảng bằng ColumnTransformer. Sau đó huấn luyện 12 mô hình, kiểm rò rỉ trước mỗi lần chạy, rồi đánh giá bằng bốn thí nghiệm và đưa lên web app.
Hàng dưới là số dòng qua từng bước làm sạch: gộp ba nguồn được 42.760 dòng, còn 34.607 dòng sau khi lọc ngoại lai.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so 12 mô hình, chia bốn tầng như bốn tầng nhà.
Tầng 0 là mốc: Dummy dự báo trung vị, và baseline môi giới. Tầng 1 là tuyến tính: Linear, Ridge, Lasso. Tầng 2 là nhóm chủ lực: Random Forest và ba mô hình boosting. Tầng 3 là KNN, cây quyết định và MLP.
Mốc đáng quan tâm nhất là baseline môi giới: lấy trung vị giá/m² theo quận, phường, loại nhà rồi nhân diện tích. Đó đúng là cách một người môi giới ước giá trong đầu.
Thắng Dummy chỉ cho biết dữ liệu có tín hiệu. Thắng baseline môi giới mới là phần học máy thật sự đóng góp.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chính trên 2.326 tin Chợ Tốt, 5-fold. Mọi mô hình dùng chung một bộ fold, cùng ngân sách tinh chỉnh (tối đa 20 cấu hình), cùng seed.
Nhóm dẫn đầu là CatBoost, LightGBM và XGBoost, MdAPE quanh 14%. So với baseline môi giới 20,5%, nhóm này thấp hơn 6,32 tới 6,66 điểm phần trăm. Đó là phần giá trị học máy tạo ra so với cách định giá thủ công.
Ba mô hình này cách nhau chưa tới một độ lệch chuẩn giữa các fold, nên nhóm không tuyên bố mô hình nào thắng.
Nếu được hỏi: tinh chỉnh chạy một lần trên toàn phần train rồi dùng lại cho 5 fold (không nested), nên số CV hơi lạc quan. Trên tập hold-out 20% chưa dùng để chọn tham số: XGBoost 13,4%, CatBoost 13,8%, LightGBM 14,2%.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E1 có một chỗ lạ: nhóm tuyến tính có MdAPE khá, quanh 19%, nhưng R² lại âm.
Đây không phải lỗi cài đặt. Mô hình học trên log giá. Ở vài điểm nó ngoại suy rất xa, và khi lấy exp để quy về VND thì sai lệch đó thành con số khổng lồ. RMSE, kéo theo R², sụp vì vài điểm này, còn trung vị gần như không đổi. Nhìn RMSE của hồi quy tuyến tính: độ lệch chuẩn giữa các fold 10,006, gần bằng chính trung bình 10,970.
Vì vậy phải đọc cả ba chỉ số. Chỉ đọc R² thì tưởng hồi quy tuyến tính vô dụng. Chỉ đọc MdAPE thì tưởng nó ngang boosting. Cả hai đều sai.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 lại câu hỏi ở đầu: văn bản đáng bao nhiêu. Nhóm giữ nguyên mô hình LightGBM, bộ fold và ngân sách tinh chỉnh, chỉ bật tắt nhánh văn bản.
Chỉ đặc trưng bảng cho MdAPE 14,77%. Thêm cờ văn bản thủ công giảm 0,69 điểm. Thêm TF-IDF/SVD giảm 0,86. Dùng cả hai giảm 0,89. Cả ba cấu hình có văn bản đều tốt hơn, và tốt hơn theo cùng một chiều.
Nhóm cũng nói rõ cỡ hiệu ứng: mức giảm nhỏ hơn độ lệch chuẩn giữa các fold, lên tới 1,19. Vì bốn cấu hình dùng chung fold nên đây là phép so bắt cặp, vẫn có ý nghĩa, nhưng nên đọc là xu hướng nhất quán về dấu, chưa phải con số chốt.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 hỏi: mô hình học trên dữ liệu cũ đem dùng cho thị trường hôm nay thì sai số ra sao.
Nhóm huấn luyện trên 31.947 tin đăng tới 30/06/2025, rồi kiểm trên 2.326 tin crawl tháng 08/2026. Cả hai phía đều là giá rao, nên con số đo được không lẫn khoảng cách giữa giá rao và giá giao dịch.
Kết quả: mọi mô hình tính được đều xấu đi, trung vị 2,8 điểm phần trăm MdAPE. Trong nhóm boosting, CatBoost chỉ tăng 0,8 điểm.
Có một lưu ý nhóm muốn nói trước: tập huấn luyện và tập kiểm còn khác nhau về sàn, nên một phần chênh lệch là chênh giữa hai nguồn chứ không thuần là trôi giá.
Biểu đồ bên phải là bối cảnh: giá/m² trung vị theo tháng ở năm quận, điểm tròn là bộ lịch sử, hình thoi là tin crawl 08/2026.
Nếu được hỏi về hồi quy tuyến tính: dự báo tràn số khi chuyển giao. Ridge cũng tuyến tính nhưng có điều chuẩn thì chuyển giao bình thường.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web app Streamlit. Người dùng nhập quận, phường, loại nhà, diện tích, số tầng, số phòng và mô tả tin rao.
App nạp đúng artefact mà bước huấn luyện xuất ra, không huấn luyện lại. Ví dụ trong ảnh là nhà phố Tân Bình 60 m², 3 tầng: giá ước lượng 8,04 tỷ.
Khoảng tham khảo 6,90 tới 9,19 tỷ rộng đúng bằng MdAPE đo trên tập hold-out, 14,2%, chứ không phải con số nhóm tự đặt.
Bên phải là biểu đồ SHAP waterfall, giải thích cho riêng căn này đặc trưng nào đẩy giá lên, đặc trưng nào kéo xuống.
Nếu có thời gian, mở app chạy trực tiếp: make demo.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nói thẳng bốn hạn chế.
Một, mô hình học từ giá rao, không phải giá giao dịch. Nhóm không có dữ liệu giao dịch nên không đoán khoảng cách giữa hai loại giá.
Hai, dữ liệu chỉ phủ TP.HCM và dày nhất ở Tân Bình, Tân Phú, Quận 12. E3 bỏ từng phường ra khỏi tập huấn luyện rồi dự báo đúng phường đó: MdAPE trung bình 15,2%, dao động từ 11,8% tới 21,4% tuỳ phường.
Ba, tin rao tự mâu thuẫn: form một đằng, mô tả một nẻo.
Bốn, trường số tầng chưa đạt F1 0,9. Nhóm báo cáo kèm phân tích lỗi thay vì chỉnh luật cho khớp một tập nhãn tự nó đã nhiễu.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Hướng tiếp theo có bốn việc.
Bổ sung dữ liệu: script crawl đã chạy tiếp được từ chỗ dừng, chỉ cần chạy thêm.
Thêm toạ độ và đặc trưng khoảng cách: đã thiết kế, hoãn lại theo cut-line của kế hoạch.
Đối chiếu với giá giao dịch thật, nếu tiếp cận được dữ liệu.
Và đọc đường cong học để quyết định crawl thêm có đáng không. Từ 186 lên 1.860 tin, MdAPE giảm từ 22,9% xuống 14,2%. Bước cuối lại tăng 0,8 điểm, nhưng mỗi tỷ lệ mới chạy một lần, nên muốn chốt đường cong đã phẳng thì phải lặp lại nhiều lần rồi so trung bình.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rút ra ba điều.
Một, nhóm boosting hơn baseline môi giới 6,32 tới 6,66 điểm phần trăm MdAPE.
Hai, mô tả rao vặt có tín hiệu giá, nhưng hiệu ứng nhỏ: 0,89 điểm.
Ba, mô hình học trên dữ liệu cũ kém đi khi gặp thị trường mới, trung vị 2,8 điểm.
Nhóm cảm ơn thầy cô và các bạn đã lắng nghe. Xin mời đặt câu hỏi.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03A"/>
        </a:solidFill>
        <a:effectLst/>
      </p:bgPr>
    </p:bg>
    <p:spTree>
      <p:nvGrpSpPr>
        <p:cNvPr id="1" name=""/>
        <p:cNvGrpSpPr/>
        <p:nvPr/>
      </p:nvGrpSpPr>
      <p:grpSpPr>
        <a:xfrm>
          <a:off x="0" y="0"/>
          <a:ext cx="0" cy="0"/>
          <a:chOff x="0" y="0"/>
          <a:chExt cx="0" cy="0"/>
        </a:xfrm>
      </p:grpSpPr>
      <p:sp>
        <p:nvSpPr>
          <p:cNvPr id="2" name="Text 0"/>
          <p:cNvSpPr txBox="1"/>
          <p:nvPr/>
        </p:nvSpPr>
        <p:spPr>
          <a:xfrm>
            <a:off x="640080" y="777240"/>
            <a:ext cx="6400800" cy="365760"/>
          </a:xfrm>
          <a:prstGeom prst="rect">
            <a:avLst/>
          </a:prstGeom>
          <a:noFill/>
          <a:ln/>
        </p:spPr>
        <p:txBody>
          <a:bodyPr wrap="square" lIns="0" tIns="0" rIns="0" bIns="0" rtlCol="0" anchor="t"/>
          <a:lstStyle/>
          <a:p>
            <a:pPr marL="0" indent="0">
              <a:buNone/>
            </a:pPr>
            <a:r>
              <a:rPr lang="en-US" sz="1300" b="1" kern="0" spc="150" dirty="0">
                <a:solidFill>
                  <a:srgbClr val="F2A283"/>
                </a:solidFill>
                <a:latin typeface="Calibri" pitchFamily="34" charset="0"/>
                <a:ea typeface="Calibri" pitchFamily="34" charset="-122"/>
                <a:cs typeface="Calibri" pitchFamily="34" charset="-120"/>
              </a:rPr>
              <a:t>CS106.F31.CN2 · ĐỒ ÁN ĐỀ TÀI 5 · NHÓM 14</a:t>
            </a:r>
            <a:endParaRPr lang="en-US" sz="1300" dirty="0"/>
          </a:p>
        </p:txBody>
      </p:sp>
      <p:sp>
        <p:nvSpPr>
          <p:cNvPr id="3" name="Text 1"/>
          <p:cNvSpPr txBox="1"/>
          <p:nvPr/>
        </p:nvSpPr>
        <p:spPr>
          <a:xfrm>
            <a:off x="640080" y="1234440"/>
            <a:ext cx="6400800" cy="2103120"/>
          </a:xfrm>
          <a:prstGeom prst="rect">
            <a:avLst/>
          </a:prstGeom>
          <a:noFill/>
          <a:ln/>
        </p:spPr>
        <p:txBody>
          <a:bodyPr wrap="square" lIns="0" tIns="0" rIns="0" bIns="0" rtlCol="0" anchor="t"/>
          <a:lstStyle/>
          <a:p>
            <a:pPr marL="0" indent="0">
              <a:buNone/>
            </a:pPr>
            <a:r>
              <a:rPr lang="en-US" sz="4600" b="1" dirty="0">
                <a:solidFill>
                  <a:srgbClr val="FFFFFF"/>
                </a:solidFill>
                <a:latin typeface="Calibri" pitchFamily="34" charset="0"/>
                <a:ea typeface="Calibri" pitchFamily="34" charset="-122"/>
                <a:cs typeface="Calibri" pitchFamily="34" charset="-120"/>
              </a:rPr>
              <a:t>Dự báo giá nhà TP.HCM từ dữ liệu rao vặt</a:t>
            </a:r>
            <a:endParaRPr lang="en-US" sz="4600" dirty="0"/>
          </a:p>
        </p:txBody>
      </p:sp>
      <p:sp>
        <p:nvSpPr>
          <p:cNvPr id="4" name="Text 2"/>
          <p:cNvSpPr txBox="1"/>
          <p:nvPr/>
        </p:nvSpPr>
        <p:spPr>
          <a:xfrm>
            <a:off x="640080" y="3429000"/>
            <a:ext cx="6217920" cy="1005840"/>
          </a:xfrm>
          <a:prstGeom prst="rect">
            <a:avLst/>
          </a:prstGeom>
          <a:noFill/>
          <a:ln/>
        </p:spPr>
        <p:txBody>
          <a:bodyPr wrap="square" lIns="0" tIns="0" rIns="0" bIns="0" rtlCol="0" anchor="t"/>
          <a:lstStyle/>
          <a:p>
            <a:pPr marL="0" indent="0">
              <a:buNone/>
            </a:pPr>
            <a:r>
              <a:rPr lang="en-US" sz="1600" dirty="0">
                <a:solidFill>
                  <a:srgbClr val="B4CAD0"/>
                </a:solidFill>
                <a:latin typeface="Calibri" pitchFamily="34" charset="0"/>
                <a:ea typeface="Calibri" pitchFamily="34" charset="-122"/>
                <a:cs typeface="Calibri" pitchFamily="34" charset="-120"/>
              </a:rPr>
              <a:t>Thu thập tin rao, trích đặc trưng từ mô tả tự do, chuẩn hoá địa chỉ qua đợt sáp nhập 2025, rồi so sánh 12 mô hình hồi quy trên cùng một bộ fold.</a:t>
            </a:r>
            <a:endParaRPr lang="en-US" sz="1600" dirty="0"/>
          </a:p>
        </p:txBody>
      </p:sp>
      <p:sp>
        <p:nvSpPr>
          <p:cNvPr id="5" name="Text 3"/>
          <p:cNvSpPr txBox="1"/>
          <p:nvPr/>
        </p:nvSpPr>
        <p:spPr>
          <a:xfrm>
            <a:off x="640080" y="4709160"/>
            <a:ext cx="2011680" cy="5029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34.607</a:t>
            </a:r>
            <a:endParaRPr lang="en-US" sz="2800" dirty="0"/>
          </a:p>
        </p:txBody>
      </p:sp>
      <p:sp>
        <p:nvSpPr>
          <p:cNvPr id="6" name="Text 4"/>
          <p:cNvSpPr txBox="1"/>
          <p:nvPr/>
        </p:nvSpPr>
        <p:spPr>
          <a:xfrm>
            <a:off x="640080" y="5230368"/>
            <a:ext cx="2011680" cy="548640"/>
          </a:xfrm>
          <a:prstGeom prst="rect">
            <a:avLst/>
          </a:prstGeom>
          <a:noFill/>
          <a:ln/>
        </p:spPr>
        <p:txBody>
          <a:bodyPr wrap="square" lIns="0" tIns="0" rIns="0" bIns="0" rtlCol="0" anchor="t"/>
          <a:lstStyle/>
          <a:p>
            <a:pPr marL="0" indent="0">
              <a:buNone/>
            </a:pPr>
            <a:r>
              <a:rPr lang="en-US" sz="1200" dirty="0">
                <a:solidFill>
                  <a:srgbClr val="B4CAD0"/>
                </a:solidFill>
                <a:latin typeface="Calibri" pitchFamily="34" charset="0"/>
                <a:ea typeface="Calibri" pitchFamily="34" charset="-122"/>
                <a:cs typeface="Calibri" pitchFamily="34" charset="-120"/>
              </a:rPr>
              <a:t>dòng dữ liệu</a:t>
            </a:r>
            <a:endParaRPr lang="en-US" sz="1200" dirty="0"/>
          </a:p>
          <a:p>
            <a:pPr marL="0" indent="0">
              <a:buNone/>
            </a:pPr>
            <a:r>
              <a:rPr lang="en-US" sz="1200" dirty="0">
                <a:solidFill>
                  <a:srgbClr val="B4CAD0"/>
                </a:solidFill>
                <a:latin typeface="Calibri" pitchFamily="34" charset="0"/>
                <a:ea typeface="Calibri" pitchFamily="34" charset="-122"/>
                <a:cs typeface="Calibri" pitchFamily="34" charset="-120"/>
              </a:rPr>
              <a:t>sau làm sạch</a:t>
            </a:r>
            <a:endParaRPr lang="en-US" sz="1200" dirty="0"/>
          </a:p>
        </p:txBody>
      </p:sp>
      <p:sp>
        <p:nvSpPr>
          <p:cNvPr id="7" name="Text 5"/>
          <p:cNvSpPr txBox="1"/>
          <p:nvPr/>
        </p:nvSpPr>
        <p:spPr>
          <a:xfrm>
            <a:off x="2788920" y="4709160"/>
            <a:ext cx="2011680" cy="5029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2788920" y="5230368"/>
            <a:ext cx="2011680" cy="548640"/>
          </a:xfrm>
          <a:prstGeom prst="rect">
            <a:avLst/>
          </a:prstGeom>
          <a:noFill/>
          <a:ln/>
        </p:spPr>
        <p:txBody>
          <a:bodyPr wrap="square" lIns="0" tIns="0" rIns="0" bIns="0" rtlCol="0" anchor="t"/>
          <a:lstStyle/>
          <a:p>
            <a:pPr marL="0" indent="0">
              <a:buNone/>
            </a:pPr>
            <a:r>
              <a:rPr lang="en-US" sz="1200" dirty="0">
                <a:solidFill>
                  <a:srgbClr val="B4CAD0"/>
                </a:solidFill>
                <a:latin typeface="Calibri" pitchFamily="34" charset="0"/>
                <a:ea typeface="Calibri" pitchFamily="34" charset="-122"/>
                <a:cs typeface="Calibri" pitchFamily="34" charset="-120"/>
              </a:rPr>
              <a:t>mô hình</a:t>
            </a:r>
            <a:endParaRPr lang="en-US" sz="1200" dirty="0"/>
          </a:p>
          <a:p>
            <a:pPr marL="0" indent="0">
              <a:buNone/>
            </a:pPr>
            <a:r>
              <a:rPr lang="en-US" sz="1200" dirty="0">
                <a:solidFill>
                  <a:srgbClr val="B4CAD0"/>
                </a:solidFill>
                <a:latin typeface="Calibri" pitchFamily="34" charset="0"/>
                <a:ea typeface="Calibri" pitchFamily="34" charset="-122"/>
                <a:cs typeface="Calibri" pitchFamily="34" charset="-120"/>
              </a:rPr>
              <a:t>chia 4 tầng</a:t>
            </a:r>
            <a:endParaRPr lang="en-US" sz="1200" dirty="0"/>
          </a:p>
        </p:txBody>
      </p:sp>
      <p:sp>
        <p:nvSpPr>
          <p:cNvPr id="9" name="Text 7"/>
          <p:cNvSpPr txBox="1"/>
          <p:nvPr/>
        </p:nvSpPr>
        <p:spPr>
          <a:xfrm>
            <a:off x="4937760" y="4709160"/>
            <a:ext cx="2011680" cy="5029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6,32–6,66</a:t>
            </a:r>
            <a:endParaRPr lang="en-US" sz="2800" dirty="0"/>
          </a:p>
        </p:txBody>
      </p:sp>
      <p:sp>
        <p:nvSpPr>
          <p:cNvPr id="10" name="Text 8"/>
          <p:cNvSpPr txBox="1"/>
          <p:nvPr/>
        </p:nvSpPr>
        <p:spPr>
          <a:xfrm>
            <a:off x="4937760" y="5230368"/>
            <a:ext cx="2011680" cy="548640"/>
          </a:xfrm>
          <a:prstGeom prst="rect">
            <a:avLst/>
          </a:prstGeom>
          <a:noFill/>
          <a:ln/>
        </p:spPr>
        <p:txBody>
          <a:bodyPr wrap="square" lIns="0" tIns="0" rIns="0" bIns="0" rtlCol="0" anchor="t"/>
          <a:lstStyle/>
          <a:p>
            <a:pPr marL="0" indent="0">
              <a:buNone/>
            </a:pPr>
            <a:r>
              <a:rPr lang="en-US" sz="1200" dirty="0">
                <a:solidFill>
                  <a:srgbClr val="B4CAD0"/>
                </a:solidFill>
                <a:latin typeface="Calibri" pitchFamily="34" charset="0"/>
                <a:ea typeface="Calibri" pitchFamily="34" charset="-122"/>
                <a:cs typeface="Calibri" pitchFamily="34" charset="-120"/>
              </a:rPr>
              <a:t>điểm % MdAPE thấp</a:t>
            </a:r>
            <a:endParaRPr lang="en-US" sz="1200" dirty="0"/>
          </a:p>
          <a:p>
            <a:pPr marL="0" indent="0">
              <a:buNone/>
            </a:pPr>
            <a:r>
              <a:rPr lang="en-US" sz="1200" dirty="0">
                <a:solidFill>
                  <a:srgbClr val="B4CAD0"/>
                </a:solidFill>
                <a:latin typeface="Calibri" pitchFamily="34" charset="0"/>
                <a:ea typeface="Calibri" pitchFamily="34" charset="-122"/>
                <a:cs typeface="Calibri" pitchFamily="34" charset="-120"/>
              </a:rPr>
              <a:t>hơn baseline môi giới</a:t>
            </a:r>
            <a:endParaRPr lang="en-US" sz="1200" dirty="0"/>
          </a:p>
        </p:txBody>
      </p:sp>
      <p:sp>
        <p:nvSpPr>
          <p:cNvPr id="11" name="Text 9"/>
          <p:cNvSpPr txBox="1"/>
          <p:nvPr/>
        </p:nvSpPr>
        <p:spPr>
          <a:xfrm>
            <a:off x="640080" y="6172200"/>
            <a:ext cx="1828800" cy="274320"/>
          </a:xfrm>
          <a:prstGeom prst="rect">
            <a:avLst/>
          </a:prstGeom>
          <a:noFill/>
          <a:ln/>
        </p:spPr>
        <p:txBody>
          <a:bodyPr wrap="square" lIns="0" tIns="0" rIns="0" bIns="0" rtlCol="0" anchor="t"/>
          <a:lstStyle/>
          <a:p>
            <a:pPr marL="0" indent="0">
              <a:buNone/>
            </a:pPr>
            <a:r>
              <a:rPr lang="en-US" sz="1200" dirty="0">
                <a:solidFill>
                  <a:srgbClr val="B4CAD0"/>
                </a:solidFill>
                <a:latin typeface="Calibri" pitchFamily="34" charset="0"/>
                <a:ea typeface="Calibri" pitchFamily="34" charset="-122"/>
                <a:cs typeface="Calibri" pitchFamily="34" charset="-120"/>
              </a:rPr>
              <a:t>2026</a:t>
            </a:r>
            <a:endParaRPr lang="en-US" sz="1200" dirty="0"/>
          </a:p>
        </p:txBody>
      </p:sp>
      <p:sp>
        <p:nvSpPr>
          <p:cNvPr id="12" name="Shape 10"/>
          <p:cNvSpPr/>
          <p:nvPr/>
        </p:nvSpPr>
        <p:spPr>
          <a:xfrm>
            <a:off x="7498080" y="731520"/>
            <a:ext cx="4114800" cy="5440680"/>
          </a:xfrm>
          <a:prstGeom prst="roundRect">
            <a:avLst>
              <a:gd name="adj" fmla="val 2667"/>
            </a:avLst>
          </a:prstGeom>
          <a:solidFill>
            <a:srgbClr val="1C4250"/>
          </a:solidFill>
          <a:ln w="12700">
            <a:solidFill>
              <a:srgbClr val="1C4250"/>
            </a:solidFill>
            <a:prstDash val="solid"/>
          </a:ln>
        </p:spPr>
        <p:txBody>
          <a:bodyPr/>
          <a:lstStyle/>
          <a:p>
            <a:endParaRPr lang="en-VN"/>
          </a:p>
        </p:txBody>
      </p:sp>
      <p:sp>
        <p:nvSpPr>
          <p:cNvPr id="13" name="Text 11"/>
          <p:cNvSpPr txBox="1"/>
          <p:nvPr/>
        </p:nvSpPr>
        <p:spPr>
          <a:xfrm>
            <a:off x="7772400" y="914400"/>
            <a:ext cx="3566160" cy="41148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Thành viên nhóm</a:t>
            </a:r>
            <a:endParaRPr lang="en-US" sz="1700" dirty="0"/>
          </a:p>
        </p:txBody>
      </p:sp>
      <p:sp>
        <p:nvSpPr>
          <p:cNvPr id="14" name="Text 12"/>
          <p:cNvSpPr txBox="1"/>
          <p:nvPr/>
        </p:nvSpPr>
        <p:spPr>
          <a:xfrm>
            <a:off x="7772400" y="1463040"/>
            <a:ext cx="3566160" cy="310896"/>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Lê Phú Hiếu</a:t>
            </a:r>
            <a:endParaRPr lang="en-US" sz="1500" dirty="0"/>
          </a:p>
        </p:txBody>
      </p:sp>
      <p:sp>
        <p:nvSpPr>
          <p:cNvPr id="15" name="Text 13"/>
          <p:cNvSpPr txBox="1"/>
          <p:nvPr/>
        </p:nvSpPr>
        <p:spPr>
          <a:xfrm>
            <a:off x="7772400" y="1764792"/>
            <a:ext cx="3566160" cy="256032"/>
          </a:xfrm>
          <a:prstGeom prst="rect">
            <a:avLst/>
          </a:prstGeom>
          <a:noFill/>
          <a:ln/>
        </p:spPr>
        <p:txBody>
          <a:bodyPr wrap="square" lIns="0" tIns="0" rIns="0" bIns="0" rtlCol="0" anchor="t"/>
          <a:lstStyle/>
          <a:p>
            <a:pPr marL="0" indent="0">
              <a:buNone/>
            </a:pPr>
            <a:r>
              <a:rPr lang="en-US" sz="1150" dirty="0">
                <a:solidFill>
                  <a:srgbClr val="B4CAD0"/>
                </a:solidFill>
                <a:latin typeface="Calibri" pitchFamily="34" charset="0"/>
                <a:ea typeface="Calibri" pitchFamily="34" charset="-122"/>
                <a:cs typeface="Calibri" pitchFamily="34" charset="-120"/>
              </a:rPr>
              <a:t>26410038 · LT.K2026.1.TTNT</a:t>
            </a:r>
            <a:endParaRPr lang="en-US" sz="1150" dirty="0"/>
          </a:p>
        </p:txBody>
      </p:sp>
      <p:sp>
        <p:nvSpPr>
          <p:cNvPr id="16" name="Text 14"/>
          <p:cNvSpPr txBox="1"/>
          <p:nvPr/>
        </p:nvSpPr>
        <p:spPr>
          <a:xfrm>
            <a:off x="7772400" y="2121408"/>
            <a:ext cx="3566160" cy="310896"/>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Nguyễn Thanh Duy</a:t>
            </a:r>
            <a:endParaRPr lang="en-US" sz="1500" dirty="0"/>
          </a:p>
        </p:txBody>
      </p:sp>
      <p:sp>
        <p:nvSpPr>
          <p:cNvPr id="17" name="Text 15"/>
          <p:cNvSpPr txBox="1"/>
          <p:nvPr/>
        </p:nvSpPr>
        <p:spPr>
          <a:xfrm>
            <a:off x="7772400" y="2423160"/>
            <a:ext cx="3566160" cy="256032"/>
          </a:xfrm>
          <a:prstGeom prst="rect">
            <a:avLst/>
          </a:prstGeom>
          <a:noFill/>
          <a:ln/>
        </p:spPr>
        <p:txBody>
          <a:bodyPr wrap="square" lIns="0" tIns="0" rIns="0" bIns="0" rtlCol="0" anchor="t"/>
          <a:lstStyle/>
          <a:p>
            <a:pPr marL="0" indent="0">
              <a:buNone/>
            </a:pPr>
            <a:r>
              <a:rPr lang="en-US" sz="1150" dirty="0">
                <a:solidFill>
                  <a:srgbClr val="B4CAD0"/>
                </a:solidFill>
                <a:latin typeface="Calibri" pitchFamily="34" charset="0"/>
                <a:ea typeface="Calibri" pitchFamily="34" charset="-122"/>
                <a:cs typeface="Calibri" pitchFamily="34" charset="-120"/>
              </a:rPr>
              <a:t>26410030 · LT.K2026.1.TTNT</a:t>
            </a:r>
            <a:endParaRPr lang="en-US" sz="1150" dirty="0"/>
          </a:p>
        </p:txBody>
      </p:sp>
      <p:sp>
        <p:nvSpPr>
          <p:cNvPr id="18" name="Text 16"/>
          <p:cNvSpPr txBox="1"/>
          <p:nvPr/>
        </p:nvSpPr>
        <p:spPr>
          <a:xfrm>
            <a:off x="7772400" y="2779776"/>
            <a:ext cx="3566160" cy="310896"/>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Nguyễn Thanh Phong</a:t>
            </a:r>
            <a:endParaRPr lang="en-US" sz="1500" dirty="0"/>
          </a:p>
        </p:txBody>
      </p:sp>
      <p:sp>
        <p:nvSpPr>
          <p:cNvPr id="19" name="Text 17"/>
          <p:cNvSpPr txBox="1"/>
          <p:nvPr/>
        </p:nvSpPr>
        <p:spPr>
          <a:xfrm>
            <a:off x="7772400" y="3081528"/>
            <a:ext cx="3566160" cy="256032"/>
          </a:xfrm>
          <a:prstGeom prst="rect">
            <a:avLst/>
          </a:prstGeom>
          <a:noFill/>
          <a:ln/>
        </p:spPr>
        <p:txBody>
          <a:bodyPr wrap="square" lIns="0" tIns="0" rIns="0" bIns="0" rtlCol="0" anchor="t"/>
          <a:lstStyle/>
          <a:p>
            <a:pPr marL="0" indent="0">
              <a:buNone/>
            </a:pPr>
            <a:r>
              <a:rPr lang="en-US" sz="1150" dirty="0">
                <a:solidFill>
                  <a:srgbClr val="B4CAD0"/>
                </a:solidFill>
                <a:latin typeface="Calibri" pitchFamily="34" charset="0"/>
                <a:ea typeface="Calibri" pitchFamily="34" charset="-122"/>
                <a:cs typeface="Calibri" pitchFamily="34" charset="-120"/>
              </a:rPr>
              <a:t>26410090 · LT.K2026.1.TTNT</a:t>
            </a:r>
            <a:endParaRPr lang="en-US" sz="1150" dirty="0"/>
          </a:p>
        </p:txBody>
      </p:sp>
      <p:sp>
        <p:nvSpPr>
          <p:cNvPr id="20" name="Text 18"/>
          <p:cNvSpPr txBox="1"/>
          <p:nvPr/>
        </p:nvSpPr>
        <p:spPr>
          <a:xfrm>
            <a:off x="7772400" y="3438144"/>
            <a:ext cx="3566160" cy="310896"/>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Nguyễn Thị Mai Thi</a:t>
            </a:r>
            <a:endParaRPr lang="en-US" sz="1500" dirty="0"/>
          </a:p>
        </p:txBody>
      </p:sp>
      <p:sp>
        <p:nvSpPr>
          <p:cNvPr id="21" name="Text 19"/>
          <p:cNvSpPr txBox="1"/>
          <p:nvPr/>
        </p:nvSpPr>
        <p:spPr>
          <a:xfrm>
            <a:off x="7772400" y="3739896"/>
            <a:ext cx="3566160" cy="256032"/>
          </a:xfrm>
          <a:prstGeom prst="rect">
            <a:avLst/>
          </a:prstGeom>
          <a:noFill/>
          <a:ln/>
        </p:spPr>
        <p:txBody>
          <a:bodyPr wrap="square" lIns="0" tIns="0" rIns="0" bIns="0" rtlCol="0" anchor="t"/>
          <a:lstStyle/>
          <a:p>
            <a:pPr marL="0" indent="0">
              <a:buNone/>
            </a:pPr>
            <a:r>
              <a:rPr lang="en-US" sz="1150" dirty="0">
                <a:solidFill>
                  <a:srgbClr val="B4CAD0"/>
                </a:solidFill>
                <a:latin typeface="Calibri" pitchFamily="34" charset="0"/>
                <a:ea typeface="Calibri" pitchFamily="34" charset="-122"/>
                <a:cs typeface="Calibri" pitchFamily="34" charset="-120"/>
              </a:rPr>
              <a:t>26410117 · LT.K2026.1.TTNT</a:t>
            </a:r>
            <a:endParaRPr lang="en-US" sz="1150" dirty="0"/>
          </a:p>
        </p:txBody>
      </p:sp>
      <p:sp>
        <p:nvSpPr>
          <p:cNvPr id="22" name="Text 20"/>
          <p:cNvSpPr txBox="1"/>
          <p:nvPr/>
        </p:nvSpPr>
        <p:spPr>
          <a:xfrm>
            <a:off x="7772400" y="4096512"/>
            <a:ext cx="3566160" cy="310896"/>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Hồ Viết Trịnh</a:t>
            </a:r>
            <a:endParaRPr lang="en-US" sz="1500" dirty="0"/>
          </a:p>
        </p:txBody>
      </p:sp>
      <p:sp>
        <p:nvSpPr>
          <p:cNvPr id="23" name="Text 21"/>
          <p:cNvSpPr txBox="1"/>
          <p:nvPr/>
        </p:nvSpPr>
        <p:spPr>
          <a:xfrm>
            <a:off x="7772400" y="4398264"/>
            <a:ext cx="3566160" cy="256032"/>
          </a:xfrm>
          <a:prstGeom prst="rect">
            <a:avLst/>
          </a:prstGeom>
          <a:noFill/>
          <a:ln/>
        </p:spPr>
        <p:txBody>
          <a:bodyPr wrap="square" lIns="0" tIns="0" rIns="0" bIns="0" rtlCol="0" anchor="t"/>
          <a:lstStyle/>
          <a:p>
            <a:pPr marL="0" indent="0">
              <a:buNone/>
            </a:pPr>
            <a:r>
              <a:rPr lang="en-US" sz="1150" dirty="0">
                <a:solidFill>
                  <a:srgbClr val="B4CAD0"/>
                </a:solidFill>
                <a:latin typeface="Calibri" pitchFamily="34" charset="0"/>
                <a:ea typeface="Calibri" pitchFamily="34" charset="-122"/>
                <a:cs typeface="Calibri" pitchFamily="34" charset="-120"/>
              </a:rPr>
              <a:t>26410140 · LT.K2026.1.TTNT</a:t>
            </a:r>
            <a:endParaRPr lang="en-US" sz="1150" dirty="0"/>
          </a:p>
        </p:txBody>
      </p:sp>
      <p:sp>
        <p:nvSpPr>
          <p:cNvPr id="24" name="Text 22"/>
          <p:cNvSpPr txBox="1"/>
          <p:nvPr/>
        </p:nvSpPr>
        <p:spPr>
          <a:xfrm>
            <a:off x="7772400" y="4754880"/>
            <a:ext cx="3566160" cy="310896"/>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Nguyễn Ngọc Bích</a:t>
            </a:r>
            <a:endParaRPr lang="en-US" sz="1500" dirty="0"/>
          </a:p>
        </p:txBody>
      </p:sp>
      <p:sp>
        <p:nvSpPr>
          <p:cNvPr id="25" name="Text 23"/>
          <p:cNvSpPr txBox="1"/>
          <p:nvPr/>
        </p:nvSpPr>
        <p:spPr>
          <a:xfrm>
            <a:off x="7772400" y="5056632"/>
            <a:ext cx="3566160" cy="256032"/>
          </a:xfrm>
          <a:prstGeom prst="rect">
            <a:avLst/>
          </a:prstGeom>
          <a:noFill/>
          <a:ln/>
        </p:spPr>
        <p:txBody>
          <a:bodyPr wrap="square" lIns="0" tIns="0" rIns="0" bIns="0" rtlCol="0" anchor="t"/>
          <a:lstStyle/>
          <a:p>
            <a:pPr marL="0" indent="0">
              <a:buNone/>
            </a:pPr>
            <a:r>
              <a:rPr lang="en-US" sz="1150" dirty="0">
                <a:solidFill>
                  <a:srgbClr val="B4CAD0"/>
                </a:solidFill>
                <a:latin typeface="Calibri" pitchFamily="34" charset="0"/>
                <a:ea typeface="Calibri" pitchFamily="34" charset="-122"/>
                <a:cs typeface="Calibri" pitchFamily="34" charset="-120"/>
              </a:rPr>
              <a:t>25730012 · CN1.K2025.1.TTNT</a:t>
            </a:r>
            <a:endParaRPr lang="en-US" sz="1150" dirty="0"/>
          </a:p>
        </p:txBody>
      </p:sp>
      <p:sp>
        <p:nvSpPr>
          <p:cNvPr id="26" name="Text 24"/>
          <p:cNvSpPr txBox="1"/>
          <p:nvPr/>
        </p:nvSpPr>
        <p:spPr>
          <a:xfrm>
            <a:off x="7772400" y="5413248"/>
            <a:ext cx="3566160" cy="310896"/>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Nguyễn Anh Tài</a:t>
            </a:r>
            <a:endParaRPr lang="en-US" sz="1500" dirty="0"/>
          </a:p>
        </p:txBody>
      </p:sp>
      <p:sp>
        <p:nvSpPr>
          <p:cNvPr id="27" name="Text 25"/>
          <p:cNvSpPr txBox="1"/>
          <p:nvPr/>
        </p:nvSpPr>
        <p:spPr>
          <a:xfrm>
            <a:off x="7772400" y="5715000"/>
            <a:ext cx="3566160" cy="256032"/>
          </a:xfrm>
          <a:prstGeom prst="rect">
            <a:avLst/>
          </a:prstGeom>
          <a:noFill/>
          <a:ln/>
        </p:spPr>
        <p:txBody>
          <a:bodyPr wrap="square" lIns="0" tIns="0" rIns="0" bIns="0" rtlCol="0" anchor="t"/>
          <a:lstStyle/>
          <a:p>
            <a:pPr marL="0" indent="0">
              <a:buNone/>
            </a:pPr>
            <a:r>
              <a:rPr lang="en-US" sz="1150" dirty="0">
                <a:solidFill>
                  <a:srgbClr val="B4CAD0"/>
                </a:solidFill>
                <a:latin typeface="Calibri" pitchFamily="34" charset="0"/>
                <a:ea typeface="Calibri" pitchFamily="34" charset="-122"/>
                <a:cs typeface="Calibri" pitchFamily="34" charset="-120"/>
              </a:rPr>
              <a:t>25730063 · CN1.K2025.1.TTNT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ĐẶT VẤN ĐỀ</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Bài toán</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Text 6"/>
          <p:cNvSpPr txBox="1"/>
          <p:nvPr/>
        </p:nvSpPr>
        <p:spPr>
          <a:xfrm>
            <a:off x="548640" y="1783080"/>
            <a:ext cx="5577840" cy="868680"/>
          </a:xfrm>
          <a:prstGeom prst="rect">
            <a:avLst/>
          </a:prstGeom>
          <a:noFill/>
          <a:ln/>
        </p:spPr>
        <p:txBody>
          <a:bodyPr wrap="square" lIns="0" tIns="0" rIns="0" bIns="0" rtlCol="0" anchor="t"/>
          <a:lstStyle/>
          <a:p>
            <a:pPr marL="0" indent="0">
              <a:buNone/>
            </a:pPr>
            <a:r>
              <a:rPr lang="en-US" sz="2000" dirty="0">
                <a:solidFill>
                  <a:srgbClr val="1B2A30"/>
                </a:solidFill>
                <a:latin typeface="Calibri" pitchFamily="34" charset="0"/>
                <a:ea typeface="Calibri" pitchFamily="34" charset="-122"/>
                <a:cs typeface="Calibri" pitchFamily="34" charset="-120"/>
              </a:rPr>
              <a:t>Ước lượng </a:t>
            </a:r>
            <a:r>
              <a:rPr lang="en-US" sz="2000" b="1" dirty="0">
                <a:solidFill>
                  <a:srgbClr val="C8553A"/>
                </a:solidFill>
                <a:latin typeface="Calibri" pitchFamily="34" charset="0"/>
                <a:ea typeface="Calibri" pitchFamily="34" charset="-122"/>
                <a:cs typeface="Calibri" pitchFamily="34" charset="-120"/>
              </a:rPr>
              <a:t>tổng giá rao</a:t>
            </a:r>
            <a:r>
              <a:rPr lang="en-US" sz="2000" dirty="0">
                <a:solidFill>
                  <a:srgbClr val="1B2A30"/>
                </a:solidFill>
                <a:latin typeface="Calibri" pitchFamily="34" charset="0"/>
                <a:ea typeface="Calibri" pitchFamily="34" charset="-122"/>
                <a:cs typeface="Calibri" pitchFamily="34" charset="-120"/>
              </a:rPr>
              <a:t> của một bất động sản tại TP.HCM từ hai loại đầu vào:</a:t>
            </a:r>
            <a:endParaRPr lang="en-US" sz="2000" dirty="0"/>
          </a:p>
        </p:txBody>
      </p:sp>
      <p:sp>
        <p:nvSpPr>
          <p:cNvPr id="9" name="Shape 7"/>
          <p:cNvSpPr/>
          <p:nvPr/>
        </p:nvSpPr>
        <p:spPr>
          <a:xfrm>
            <a:off x="548640" y="2834640"/>
            <a:ext cx="731520" cy="731520"/>
          </a:xfrm>
          <a:prstGeom prst="ellipse">
            <a:avLst/>
          </a:prstGeom>
          <a:solidFill>
            <a:srgbClr val="EAF2F3"/>
          </a:solidFill>
          <a:ln w="12700">
            <a:solidFill>
              <a:srgbClr val="EAF2F3"/>
            </a:solidFill>
            <a:prstDash val="solid"/>
          </a:ln>
        </p:spPr>
        <p:txBody>
          <a:bodyPr/>
          <a:lstStyle/>
          <a:p>
            <a:endParaRPr lang="en-VN"/>
          </a:p>
        </p:txBody>
      </p:sp>
      <p:pic>
        <p:nvPicPr>
          <p:cNvPr id="10" name="Image 0" descr="preencoded.png"/>
          <p:cNvPicPr>
            <a:picLocks noChangeAspect="1"/>
          </p:cNvPicPr>
          <p:nvPr/>
        </p:nvPicPr>
        <p:blipFill>
          <a:blip r:embed="rId3"/>
          <a:stretch>
            <a:fillRect/>
          </a:stretch>
        </p:blipFill>
        <p:spPr>
          <a:xfrm>
            <a:off x="731520" y="3017520"/>
            <a:ext cx="365760" cy="365760"/>
          </a:xfrm>
          <a:prstGeom prst="rect">
            <a:avLst/>
          </a:prstGeom>
        </p:spPr>
      </p:pic>
      <p:sp>
        <p:nvSpPr>
          <p:cNvPr id="11" name="Text 8"/>
          <p:cNvSpPr txBox="1"/>
          <p:nvPr/>
        </p:nvSpPr>
        <p:spPr>
          <a:xfrm>
            <a:off x="1463040" y="2852928"/>
            <a:ext cx="4663440" cy="365760"/>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Thuộc tính có cấu trúc</a:t>
            </a:r>
            <a:endParaRPr lang="en-US" sz="1800" dirty="0"/>
          </a:p>
        </p:txBody>
      </p:sp>
      <p:sp>
        <p:nvSpPr>
          <p:cNvPr id="12" name="Text 9"/>
          <p:cNvSpPr txBox="1"/>
          <p:nvPr/>
        </p:nvSpPr>
        <p:spPr>
          <a:xfrm>
            <a:off x="1463040" y="3218688"/>
            <a:ext cx="4663440" cy="365760"/>
          </a:xfrm>
          <a:prstGeom prst="rect">
            <a:avLst/>
          </a:prstGeom>
          <a:noFill/>
          <a:ln/>
        </p:spPr>
        <p:txBody>
          <a:bodyPr wrap="square" lIns="0" tIns="0" rIns="0" bIns="0" rtlCol="0" anchor="t"/>
          <a:lstStyle/>
          <a:p>
            <a:pPr marL="0" indent="0">
              <a:buNone/>
            </a:pPr>
            <a:r>
              <a:rPr lang="en-US" sz="1500" dirty="0">
                <a:solidFill>
                  <a:srgbClr val="5B6D74"/>
                </a:solidFill>
                <a:latin typeface="Calibri" pitchFamily="34" charset="0"/>
                <a:ea typeface="Calibri" pitchFamily="34" charset="-122"/>
                <a:cs typeface="Calibri" pitchFamily="34" charset="-120"/>
              </a:rPr>
              <a:t>diện tích, phòng ngủ, số tầng, vị trí, pháp lý</a:t>
            </a:r>
            <a:endParaRPr lang="en-US" sz="1500" dirty="0"/>
          </a:p>
        </p:txBody>
      </p:sp>
      <p:sp>
        <p:nvSpPr>
          <p:cNvPr id="13" name="Shape 10"/>
          <p:cNvSpPr/>
          <p:nvPr/>
        </p:nvSpPr>
        <p:spPr>
          <a:xfrm>
            <a:off x="548640" y="3977640"/>
            <a:ext cx="731520" cy="731520"/>
          </a:xfrm>
          <a:prstGeom prst="ellipse">
            <a:avLst/>
          </a:prstGeom>
          <a:solidFill>
            <a:srgbClr val="EAF2F3"/>
          </a:solidFill>
          <a:ln w="12700">
            <a:solidFill>
              <a:srgbClr val="EAF2F3"/>
            </a:solidFill>
            <a:prstDash val="solid"/>
          </a:ln>
        </p:spPr>
        <p:txBody>
          <a:bodyPr/>
          <a:lstStyle/>
          <a:p>
            <a:endParaRPr lang="en-VN"/>
          </a:p>
        </p:txBody>
      </p:sp>
      <p:pic>
        <p:nvPicPr>
          <p:cNvPr id="14" name="Image 1" descr="preencoded.png"/>
          <p:cNvPicPr>
            <a:picLocks noChangeAspect="1"/>
          </p:cNvPicPr>
          <p:nvPr/>
        </p:nvPicPr>
        <p:blipFill>
          <a:blip r:embed="rId4"/>
          <a:stretch>
            <a:fillRect/>
          </a:stretch>
        </p:blipFill>
        <p:spPr>
          <a:xfrm>
            <a:off x="731520" y="4160520"/>
            <a:ext cx="365760" cy="365760"/>
          </a:xfrm>
          <a:prstGeom prst="rect">
            <a:avLst/>
          </a:prstGeom>
        </p:spPr>
      </p:pic>
      <p:sp>
        <p:nvSpPr>
          <p:cNvPr id="15" name="Text 11"/>
          <p:cNvSpPr txBox="1"/>
          <p:nvPr/>
        </p:nvSpPr>
        <p:spPr>
          <a:xfrm>
            <a:off x="1463040" y="3995928"/>
            <a:ext cx="4663440" cy="365760"/>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Mô tả tự do của tin rao</a:t>
            </a:r>
            <a:endParaRPr lang="en-US" sz="1800" dirty="0"/>
          </a:p>
        </p:txBody>
      </p:sp>
      <p:sp>
        <p:nvSpPr>
          <p:cNvPr id="16" name="Text 12"/>
          <p:cNvSpPr txBox="1"/>
          <p:nvPr/>
        </p:nvSpPr>
        <p:spPr>
          <a:xfrm>
            <a:off x="1463040" y="4361688"/>
            <a:ext cx="4663440" cy="365760"/>
          </a:xfrm>
          <a:prstGeom prst="rect">
            <a:avLst/>
          </a:prstGeom>
          <a:noFill/>
          <a:ln/>
        </p:spPr>
        <p:txBody>
          <a:bodyPr wrap="square" lIns="0" tIns="0" rIns="0" bIns="0" rtlCol="0" anchor="t"/>
          <a:lstStyle/>
          <a:p>
            <a:pPr marL="0" indent="0">
              <a:buNone/>
            </a:pPr>
            <a:r>
              <a:rPr lang="en-US" sz="1500" dirty="0">
                <a:solidFill>
                  <a:srgbClr val="5B6D74"/>
                </a:solidFill>
                <a:latin typeface="Calibri" pitchFamily="34" charset="0"/>
                <a:ea typeface="Calibri" pitchFamily="34" charset="-122"/>
                <a:cs typeface="Calibri" pitchFamily="34" charset="-120"/>
              </a:rPr>
              <a:t>phần người bán tự viết, form của sàn không ép khuôn</a:t>
            </a:r>
            <a:endParaRPr lang="en-US" sz="1500" dirty="0"/>
          </a:p>
        </p:txBody>
      </p:sp>
      <p:sp>
        <p:nvSpPr>
          <p:cNvPr id="17" name="Shape 13"/>
          <p:cNvSpPr/>
          <p:nvPr/>
        </p:nvSpPr>
        <p:spPr>
          <a:xfrm>
            <a:off x="6492240" y="1783080"/>
            <a:ext cx="5120640" cy="3246120"/>
          </a:xfrm>
          <a:prstGeom prst="roundRect">
            <a:avLst>
              <a:gd name="adj" fmla="val 2817"/>
            </a:avLst>
          </a:prstGeom>
          <a:solidFill>
            <a:srgbClr val="FFFFFF"/>
          </a:solidFill>
          <a:ln w="12700">
            <a:solidFill>
              <a:srgbClr val="D3DFE2"/>
            </a:solidFill>
            <a:prstDash val="solid"/>
          </a:ln>
          <a:effectLst>
            <a:outerShdw blurRad="127000" dist="25400" dir="5400000" algn="bl" rotWithShape="0">
              <a:srgbClr val="000000">
                <a:alpha val="10000"/>
              </a:srgbClr>
            </a:outerShdw>
          </a:effectLst>
        </p:spPr>
        <p:txBody>
          <a:bodyPr/>
          <a:lstStyle/>
          <a:p>
            <a:endParaRPr lang="en-VN"/>
          </a:p>
        </p:txBody>
      </p:sp>
      <p:sp>
        <p:nvSpPr>
          <p:cNvPr id="18" name="Text 14"/>
          <p:cNvSpPr txBox="1"/>
          <p:nvPr/>
        </p:nvSpPr>
        <p:spPr>
          <a:xfrm>
            <a:off x="6766560" y="1938528"/>
            <a:ext cx="4572000" cy="411480"/>
          </a:xfrm>
          <a:prstGeom prst="rect">
            <a:avLst/>
          </a:prstGeom>
          <a:noFill/>
          <a:ln/>
        </p:spPr>
        <p:txBody>
          <a:bodyPr wrap="square" lIns="0" tIns="0" rIns="0" bIns="0" rtlCol="0" anchor="t"/>
          <a:lstStyle/>
          <a:p>
            <a:pPr marL="0" indent="0">
              <a:buNone/>
            </a:pPr>
            <a:r>
              <a:rPr lang="en-US" sz="1700" b="1" dirty="0">
                <a:solidFill>
                  <a:srgbClr val="13303A"/>
                </a:solidFill>
                <a:latin typeface="Calibri" pitchFamily="34" charset="0"/>
                <a:ea typeface="Calibri" pitchFamily="34" charset="-122"/>
                <a:cs typeface="Calibri" pitchFamily="34" charset="-120"/>
              </a:rPr>
              <a:t>Mô tả chứa thứ form không có</a:t>
            </a:r>
            <a:endParaRPr lang="en-US" sz="1700" dirty="0"/>
          </a:p>
        </p:txBody>
      </p:sp>
      <p:sp>
        <p:nvSpPr>
          <p:cNvPr id="19" name="Shape 15"/>
          <p:cNvSpPr/>
          <p:nvPr/>
        </p:nvSpPr>
        <p:spPr>
          <a:xfrm>
            <a:off x="6766560" y="2468880"/>
            <a:ext cx="2240280" cy="1097280"/>
          </a:xfrm>
          <a:prstGeom prst="roundRect">
            <a:avLst>
              <a:gd name="adj" fmla="val 8333"/>
            </a:avLst>
          </a:prstGeom>
          <a:solidFill>
            <a:srgbClr val="FBEAE3"/>
          </a:solidFill>
          <a:ln w="12700">
            <a:solidFill>
              <a:srgbClr val="FBEAE3"/>
            </a:solidFill>
            <a:prstDash val="solid"/>
          </a:ln>
        </p:spPr>
        <p:txBody>
          <a:bodyPr/>
          <a:lstStyle/>
          <a:p>
            <a:endParaRPr lang="en-VN"/>
          </a:p>
        </p:txBody>
      </p:sp>
      <p:sp>
        <p:nvSpPr>
          <p:cNvPr id="20" name="Text 16"/>
          <p:cNvSpPr txBox="1"/>
          <p:nvPr/>
        </p:nvSpPr>
        <p:spPr>
          <a:xfrm>
            <a:off x="6931152" y="2633472"/>
            <a:ext cx="1920240" cy="384048"/>
          </a:xfrm>
          <a:prstGeom prst="rect">
            <a:avLst/>
          </a:prstGeom>
          <a:noFill/>
          <a:ln/>
        </p:spPr>
        <p:txBody>
          <a:bodyPr wrap="square" lIns="0" tIns="0" rIns="0" bIns="0" rtlCol="0" anchor="t"/>
          <a:lstStyle/>
          <a:p>
            <a:pPr marL="0" indent="0">
              <a:buNone/>
            </a:pPr>
            <a:r>
              <a:rPr lang="en-US" sz="1800" b="1" dirty="0">
                <a:solidFill>
                  <a:srgbClr val="C8553A"/>
                </a:solidFill>
                <a:latin typeface="Calibri" pitchFamily="34" charset="0"/>
                <a:ea typeface="Calibri" pitchFamily="34" charset="-122"/>
                <a:cs typeface="Calibri" pitchFamily="34" charset="-120"/>
              </a:rPr>
              <a:t>“hẻm xe hơi”</a:t>
            </a:r>
            <a:endParaRPr lang="en-US" sz="1800" dirty="0"/>
          </a:p>
        </p:txBody>
      </p:sp>
      <p:sp>
        <p:nvSpPr>
          <p:cNvPr id="21" name="Text 17"/>
          <p:cNvSpPr txBox="1"/>
          <p:nvPr/>
        </p:nvSpPr>
        <p:spPr>
          <a:xfrm>
            <a:off x="6931152" y="3017520"/>
            <a:ext cx="1965960" cy="457200"/>
          </a:xfrm>
          <a:prstGeom prst="rect">
            <a:avLst/>
          </a:prstGeom>
          <a:noFill/>
          <a:ln/>
        </p:spPr>
        <p:txBody>
          <a:bodyPr wrap="square" lIns="0" tIns="0" rIns="0" bIns="0" rtlCol="0" anchor="t"/>
          <a:lstStyle/>
          <a:p>
            <a:pPr marL="0" indent="0">
              <a:buNone/>
            </a:pPr>
            <a:r>
              <a:rPr lang="en-US" sz="1200" dirty="0">
                <a:solidFill>
                  <a:srgbClr val="1B2A30"/>
                </a:solidFill>
                <a:latin typeface="Calibri" pitchFamily="34" charset="0"/>
                <a:ea typeface="Calibri" pitchFamily="34" charset="-122"/>
                <a:cs typeface="Calibri" pitchFamily="34" charset="-120"/>
              </a:rPr>
              <a:t>ô tô vào tận cửa</a:t>
            </a:r>
            <a:endParaRPr lang="en-US" sz="1200" dirty="0"/>
          </a:p>
        </p:txBody>
      </p:sp>
      <p:sp>
        <p:nvSpPr>
          <p:cNvPr id="22" name="Shape 18"/>
          <p:cNvSpPr/>
          <p:nvPr/>
        </p:nvSpPr>
        <p:spPr>
          <a:xfrm>
            <a:off x="9144000" y="2468880"/>
            <a:ext cx="2240280" cy="1097280"/>
          </a:xfrm>
          <a:prstGeom prst="roundRect">
            <a:avLst>
              <a:gd name="adj" fmla="val 8333"/>
            </a:avLst>
          </a:prstGeom>
          <a:solidFill>
            <a:srgbClr val="FBEAE3"/>
          </a:solidFill>
          <a:ln w="12700">
            <a:solidFill>
              <a:srgbClr val="FBEAE3"/>
            </a:solidFill>
            <a:prstDash val="solid"/>
          </a:ln>
        </p:spPr>
        <p:txBody>
          <a:bodyPr/>
          <a:lstStyle/>
          <a:p>
            <a:endParaRPr lang="en-VN"/>
          </a:p>
        </p:txBody>
      </p:sp>
      <p:sp>
        <p:nvSpPr>
          <p:cNvPr id="23" name="Text 19"/>
          <p:cNvSpPr txBox="1"/>
          <p:nvPr/>
        </p:nvSpPr>
        <p:spPr>
          <a:xfrm>
            <a:off x="9308592" y="2633472"/>
            <a:ext cx="1920240" cy="384048"/>
          </a:xfrm>
          <a:prstGeom prst="rect">
            <a:avLst/>
          </a:prstGeom>
          <a:noFill/>
          <a:ln/>
        </p:spPr>
        <p:txBody>
          <a:bodyPr wrap="square" lIns="0" tIns="0" rIns="0" bIns="0" rtlCol="0" anchor="t"/>
          <a:lstStyle/>
          <a:p>
            <a:pPr marL="0" indent="0">
              <a:buNone/>
            </a:pPr>
            <a:r>
              <a:rPr lang="en-US" sz="1800" b="1" dirty="0">
                <a:solidFill>
                  <a:srgbClr val="C8553A"/>
                </a:solidFill>
                <a:latin typeface="Calibri" pitchFamily="34" charset="0"/>
                <a:ea typeface="Calibri" pitchFamily="34" charset="-122"/>
                <a:cs typeface="Calibri" pitchFamily="34" charset="-120"/>
              </a:rPr>
              <a:t>“nở hậu”</a:t>
            </a:r>
            <a:endParaRPr lang="en-US" sz="1800" dirty="0"/>
          </a:p>
        </p:txBody>
      </p:sp>
      <p:sp>
        <p:nvSpPr>
          <p:cNvPr id="24" name="Text 20"/>
          <p:cNvSpPr txBox="1"/>
          <p:nvPr/>
        </p:nvSpPr>
        <p:spPr>
          <a:xfrm>
            <a:off x="9308592" y="3017520"/>
            <a:ext cx="1965960" cy="457200"/>
          </a:xfrm>
          <a:prstGeom prst="rect">
            <a:avLst/>
          </a:prstGeom>
          <a:noFill/>
          <a:ln/>
        </p:spPr>
        <p:txBody>
          <a:bodyPr wrap="square" lIns="0" tIns="0" rIns="0" bIns="0" rtlCol="0" anchor="t"/>
          <a:lstStyle/>
          <a:p>
            <a:pPr marL="0" indent="0">
              <a:buNone/>
            </a:pPr>
            <a:r>
              <a:rPr lang="en-US" sz="1200" dirty="0">
                <a:solidFill>
                  <a:srgbClr val="1B2A30"/>
                </a:solidFill>
                <a:latin typeface="Calibri" pitchFamily="34" charset="0"/>
                <a:ea typeface="Calibri" pitchFamily="34" charset="-122"/>
                <a:cs typeface="Calibri" pitchFamily="34" charset="-120"/>
              </a:rPr>
              <a:t>phía sau rộng hơn mặt tiền</a:t>
            </a:r>
            <a:endParaRPr lang="en-US" sz="1200" dirty="0"/>
          </a:p>
        </p:txBody>
      </p:sp>
      <p:sp>
        <p:nvSpPr>
          <p:cNvPr id="25" name="Shape 21"/>
          <p:cNvSpPr/>
          <p:nvPr/>
        </p:nvSpPr>
        <p:spPr>
          <a:xfrm>
            <a:off x="6766560" y="3703320"/>
            <a:ext cx="2240280" cy="1097280"/>
          </a:xfrm>
          <a:prstGeom prst="roundRect">
            <a:avLst>
              <a:gd name="adj" fmla="val 8333"/>
            </a:avLst>
          </a:prstGeom>
          <a:solidFill>
            <a:srgbClr val="FBEAE3"/>
          </a:solidFill>
          <a:ln w="12700">
            <a:solidFill>
              <a:srgbClr val="FBEAE3"/>
            </a:solidFill>
            <a:prstDash val="solid"/>
          </a:ln>
        </p:spPr>
        <p:txBody>
          <a:bodyPr/>
          <a:lstStyle/>
          <a:p>
            <a:endParaRPr lang="en-VN"/>
          </a:p>
        </p:txBody>
      </p:sp>
      <p:sp>
        <p:nvSpPr>
          <p:cNvPr id="26" name="Text 22"/>
          <p:cNvSpPr txBox="1"/>
          <p:nvPr/>
        </p:nvSpPr>
        <p:spPr>
          <a:xfrm>
            <a:off x="6931152" y="3867912"/>
            <a:ext cx="1920240" cy="384048"/>
          </a:xfrm>
          <a:prstGeom prst="rect">
            <a:avLst/>
          </a:prstGeom>
          <a:noFill/>
          <a:ln/>
        </p:spPr>
        <p:txBody>
          <a:bodyPr wrap="square" lIns="0" tIns="0" rIns="0" bIns="0" rtlCol="0" anchor="t"/>
          <a:lstStyle/>
          <a:p>
            <a:pPr marL="0" indent="0">
              <a:buNone/>
            </a:pPr>
            <a:r>
              <a:rPr lang="en-US" sz="1800" b="1" dirty="0">
                <a:solidFill>
                  <a:srgbClr val="C8553A"/>
                </a:solidFill>
                <a:latin typeface="Calibri" pitchFamily="34" charset="0"/>
                <a:ea typeface="Calibri" pitchFamily="34" charset="-122"/>
                <a:cs typeface="Calibri" pitchFamily="34" charset="-120"/>
              </a:rPr>
              <a:t>“ngộp bank”</a:t>
            </a:r>
            <a:endParaRPr lang="en-US" sz="1800" dirty="0"/>
          </a:p>
        </p:txBody>
      </p:sp>
      <p:sp>
        <p:nvSpPr>
          <p:cNvPr id="27" name="Text 23"/>
          <p:cNvSpPr txBox="1"/>
          <p:nvPr/>
        </p:nvSpPr>
        <p:spPr>
          <a:xfrm>
            <a:off x="6931152" y="4251960"/>
            <a:ext cx="1965960" cy="457200"/>
          </a:xfrm>
          <a:prstGeom prst="rect">
            <a:avLst/>
          </a:prstGeom>
          <a:noFill/>
          <a:ln/>
        </p:spPr>
        <p:txBody>
          <a:bodyPr wrap="square" lIns="0" tIns="0" rIns="0" bIns="0" rtlCol="0" anchor="t"/>
          <a:lstStyle/>
          <a:p>
            <a:pPr marL="0" indent="0">
              <a:buNone/>
            </a:pPr>
            <a:r>
              <a:rPr lang="en-US" sz="1200" dirty="0">
                <a:solidFill>
                  <a:srgbClr val="1B2A30"/>
                </a:solidFill>
                <a:latin typeface="Calibri" pitchFamily="34" charset="0"/>
                <a:ea typeface="Calibri" pitchFamily="34" charset="-122"/>
                <a:cs typeface="Calibri" pitchFamily="34" charset="-120"/>
              </a:rPr>
              <a:t>chủ kẹt nợ ngân hàng, cần bán gấp</a:t>
            </a:r>
            <a:endParaRPr lang="en-US" sz="1200" dirty="0"/>
          </a:p>
        </p:txBody>
      </p:sp>
      <p:sp>
        <p:nvSpPr>
          <p:cNvPr id="28" name="Shape 24"/>
          <p:cNvSpPr/>
          <p:nvPr/>
        </p:nvSpPr>
        <p:spPr>
          <a:xfrm>
            <a:off x="9144000" y="3703320"/>
            <a:ext cx="2240280" cy="1097280"/>
          </a:xfrm>
          <a:prstGeom prst="roundRect">
            <a:avLst>
              <a:gd name="adj" fmla="val 8333"/>
            </a:avLst>
          </a:prstGeom>
          <a:solidFill>
            <a:srgbClr val="FBEAE3"/>
          </a:solidFill>
          <a:ln w="12700">
            <a:solidFill>
              <a:srgbClr val="FBEAE3"/>
            </a:solidFill>
            <a:prstDash val="solid"/>
          </a:ln>
        </p:spPr>
        <p:txBody>
          <a:bodyPr/>
          <a:lstStyle/>
          <a:p>
            <a:endParaRPr lang="en-VN"/>
          </a:p>
        </p:txBody>
      </p:sp>
      <p:sp>
        <p:nvSpPr>
          <p:cNvPr id="29" name="Text 25"/>
          <p:cNvSpPr txBox="1"/>
          <p:nvPr/>
        </p:nvSpPr>
        <p:spPr>
          <a:xfrm>
            <a:off x="9308592" y="3867912"/>
            <a:ext cx="1920240" cy="384048"/>
          </a:xfrm>
          <a:prstGeom prst="rect">
            <a:avLst/>
          </a:prstGeom>
          <a:noFill/>
          <a:ln/>
        </p:spPr>
        <p:txBody>
          <a:bodyPr wrap="square" lIns="0" tIns="0" rIns="0" bIns="0" rtlCol="0" anchor="t"/>
          <a:lstStyle/>
          <a:p>
            <a:pPr marL="0" indent="0">
              <a:buNone/>
            </a:pPr>
            <a:r>
              <a:rPr lang="en-US" sz="1800" b="1" dirty="0">
                <a:solidFill>
                  <a:srgbClr val="C8553A"/>
                </a:solidFill>
                <a:latin typeface="Calibri" pitchFamily="34" charset="0"/>
                <a:ea typeface="Calibri" pitchFamily="34" charset="-122"/>
                <a:cs typeface="Calibri" pitchFamily="34" charset="-120"/>
              </a:rPr>
              <a:t>“sổ hồng riêng”</a:t>
            </a:r>
            <a:endParaRPr lang="en-US" sz="1800" dirty="0"/>
          </a:p>
        </p:txBody>
      </p:sp>
      <p:sp>
        <p:nvSpPr>
          <p:cNvPr id="30" name="Text 26"/>
          <p:cNvSpPr txBox="1"/>
          <p:nvPr/>
        </p:nvSpPr>
        <p:spPr>
          <a:xfrm>
            <a:off x="9308592" y="4251960"/>
            <a:ext cx="1965960" cy="457200"/>
          </a:xfrm>
          <a:prstGeom prst="rect">
            <a:avLst/>
          </a:prstGeom>
          <a:noFill/>
          <a:ln/>
        </p:spPr>
        <p:txBody>
          <a:bodyPr wrap="square" lIns="0" tIns="0" rIns="0" bIns="0" rtlCol="0" anchor="t"/>
          <a:lstStyle/>
          <a:p>
            <a:pPr marL="0" indent="0">
              <a:buNone/>
            </a:pPr>
            <a:r>
              <a:rPr lang="en-US" sz="1200" dirty="0">
                <a:solidFill>
                  <a:srgbClr val="1B2A30"/>
                </a:solidFill>
                <a:latin typeface="Calibri" pitchFamily="34" charset="0"/>
                <a:ea typeface="Calibri" pitchFamily="34" charset="-122"/>
                <a:cs typeface="Calibri" pitchFamily="34" charset="-120"/>
              </a:rPr>
              <a:t>pháp lý tách riêng, rõ ràng</a:t>
            </a:r>
            <a:endParaRPr lang="en-US" sz="1200" dirty="0"/>
          </a:p>
        </p:txBody>
      </p:sp>
      <p:sp>
        <p:nvSpPr>
          <p:cNvPr id="31" name="Shape 27"/>
          <p:cNvSpPr/>
          <p:nvPr/>
        </p:nvSpPr>
        <p:spPr>
          <a:xfrm>
            <a:off x="548640" y="5349240"/>
            <a:ext cx="11064240" cy="868680"/>
          </a:xfrm>
          <a:prstGeom prst="roundRect">
            <a:avLst>
              <a:gd name="adj" fmla="val 10526"/>
            </a:avLst>
          </a:prstGeom>
          <a:solidFill>
            <a:srgbClr val="13303A"/>
          </a:solidFill>
          <a:ln w="12700">
            <a:solidFill>
              <a:srgbClr val="13303A"/>
            </a:solidFill>
            <a:prstDash val="solid"/>
          </a:ln>
        </p:spPr>
        <p:txBody>
          <a:bodyPr/>
          <a:lstStyle/>
          <a:p>
            <a:endParaRPr lang="en-VN"/>
          </a:p>
        </p:txBody>
      </p:sp>
      <p:sp>
        <p:nvSpPr>
          <p:cNvPr id="32" name="Text 28"/>
          <p:cNvSpPr txBox="1"/>
          <p:nvPr/>
        </p:nvSpPr>
        <p:spPr>
          <a:xfrm>
            <a:off x="868680" y="5349240"/>
            <a:ext cx="7863840" cy="868680"/>
          </a:xfrm>
          <a:prstGeom prst="rect">
            <a:avLst/>
          </a:prstGeom>
          <a:noFill/>
          <a:ln/>
        </p:spPr>
        <p:txBody>
          <a:bodyPr wrap="square" lIns="0" tIns="0" rIns="0" bIns="0" rtlCol="0" anchor="ctr"/>
          <a:lstStyle/>
          <a:p>
            <a:pPr marL="0" indent="0">
              <a:buNone/>
            </a:pPr>
            <a:r>
              <a:rPr lang="en-US" sz="2400" b="1" dirty="0">
                <a:solidFill>
                  <a:srgbClr val="F2A283"/>
                </a:solidFill>
                <a:latin typeface="Calibri" pitchFamily="34" charset="0"/>
                <a:ea typeface="Calibri" pitchFamily="34" charset="-122"/>
                <a:cs typeface="Calibri" pitchFamily="34" charset="-120"/>
              </a:rPr>
              <a:t>Câu hỏi trung tâm: </a:t>
            </a:r>
            <a:r>
              <a:rPr lang="en-US" sz="2400" b="1" dirty="0">
                <a:solidFill>
                  <a:srgbClr val="FFFFFF"/>
                </a:solidFill>
                <a:latin typeface="Calibri" pitchFamily="34" charset="0"/>
                <a:ea typeface="Calibri" pitchFamily="34" charset="-122"/>
                <a:cs typeface="Calibri" pitchFamily="34" charset="-120"/>
              </a:rPr>
              <a:t>phần văn bản đó đáng bao nhiêu?</a:t>
            </a:r>
            <a:endParaRPr lang="en-US" sz="2400" dirty="0"/>
          </a:p>
        </p:txBody>
      </p:sp>
      <p:sp>
        <p:nvSpPr>
          <p:cNvPr id="33" name="Text 29"/>
          <p:cNvSpPr txBox="1"/>
          <p:nvPr/>
        </p:nvSpPr>
        <p:spPr>
          <a:xfrm>
            <a:off x="8595360" y="5349240"/>
            <a:ext cx="2788920" cy="868680"/>
          </a:xfrm>
          <a:prstGeom prst="rect">
            <a:avLst/>
          </a:prstGeom>
          <a:noFill/>
          <a:ln/>
        </p:spPr>
        <p:txBody>
          <a:bodyPr wrap="square" lIns="0" tIns="0" rIns="0" bIns="0" rtlCol="0" anchor="ctr"/>
          <a:lstStyle/>
          <a:p>
            <a:pPr marL="0" indent="0" algn="r">
              <a:buNone/>
            </a:pPr>
            <a:r>
              <a:rPr lang="en-US" sz="1300" dirty="0">
                <a:solidFill>
                  <a:srgbClr val="B4CAD0"/>
                </a:solidFill>
                <a:latin typeface="Calibri" pitchFamily="34" charset="0"/>
                <a:ea typeface="Calibri" pitchFamily="34" charset="-122"/>
                <a:cs typeface="Calibri" pitchFamily="34" charset="-120"/>
              </a:rPr>
              <a:t>Trả lời ở slide 13 (ablation)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DỮ LIỆU</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Ba nguồn dữ liệu</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783080"/>
            <a:ext cx="3566160" cy="2971800"/>
          </a:xfrm>
          <a:prstGeom prst="roundRect">
            <a:avLst>
              <a:gd name="adj" fmla="val 3077"/>
            </a:avLst>
          </a:prstGeom>
          <a:solidFill>
            <a:srgbClr val="EAF2F3"/>
          </a:solidFill>
          <a:ln w="12700">
            <a:solidFill>
              <a:srgbClr val="EAF2F3"/>
            </a:solidFill>
            <a:prstDash val="solid"/>
          </a:ln>
        </p:spPr>
        <p:txBody>
          <a:bodyPr/>
          <a:lstStyle/>
          <a:p>
            <a:endParaRPr lang="en-VN"/>
          </a:p>
        </p:txBody>
      </p:sp>
      <p:sp>
        <p:nvSpPr>
          <p:cNvPr id="9" name="Shape 7"/>
          <p:cNvSpPr/>
          <p:nvPr/>
        </p:nvSpPr>
        <p:spPr>
          <a:xfrm>
            <a:off x="822960" y="2057400"/>
            <a:ext cx="658368" cy="658368"/>
          </a:xfrm>
          <a:prstGeom prst="ellipse">
            <a:avLst/>
          </a:prstGeom>
          <a:solidFill>
            <a:srgbClr val="FFFFFF"/>
          </a:solidFill>
          <a:ln w="12700">
            <a:solidFill>
              <a:srgbClr val="FFFFFF"/>
            </a:solidFill>
            <a:prstDash val="solid"/>
          </a:ln>
        </p:spPr>
        <p:txBody>
          <a:bodyPr/>
          <a:lstStyle/>
          <a:p>
            <a:endParaRPr lang="en-VN"/>
          </a:p>
        </p:txBody>
      </p:sp>
      <p:pic>
        <p:nvPicPr>
          <p:cNvPr id="10" name="Image 0" descr="preencoded.png"/>
          <p:cNvPicPr>
            <a:picLocks noChangeAspect="1"/>
          </p:cNvPicPr>
          <p:nvPr/>
        </p:nvPicPr>
        <p:blipFill>
          <a:blip r:embed="rId3"/>
          <a:stretch>
            <a:fillRect/>
          </a:stretch>
        </p:blipFill>
        <p:spPr>
          <a:xfrm>
            <a:off x="987552" y="2221992"/>
            <a:ext cx="329184" cy="329184"/>
          </a:xfrm>
          <a:prstGeom prst="rect">
            <a:avLst/>
          </a:prstGeom>
        </p:spPr>
      </p:pic>
      <p:sp>
        <p:nvSpPr>
          <p:cNvPr id="11" name="Shape 8"/>
          <p:cNvSpPr/>
          <p:nvPr/>
        </p:nvSpPr>
        <p:spPr>
          <a:xfrm>
            <a:off x="2788920" y="2221992"/>
            <a:ext cx="1051560" cy="329184"/>
          </a:xfrm>
          <a:prstGeom prst="roundRect">
            <a:avLst>
              <a:gd name="adj" fmla="val 50000"/>
            </a:avLst>
          </a:prstGeom>
          <a:solidFill>
            <a:srgbClr val="C8553A"/>
          </a:solidFill>
          <a:ln w="12700">
            <a:solidFill>
              <a:srgbClr val="C8553A"/>
            </a:solidFill>
            <a:prstDash val="solid"/>
          </a:ln>
        </p:spPr>
        <p:txBody>
          <a:bodyPr/>
          <a:lstStyle/>
          <a:p>
            <a:endParaRPr lang="en-VN"/>
          </a:p>
        </p:txBody>
      </p:sp>
      <p:sp>
        <p:nvSpPr>
          <p:cNvPr id="12" name="Text 9"/>
          <p:cNvSpPr txBox="1"/>
          <p:nvPr/>
        </p:nvSpPr>
        <p:spPr>
          <a:xfrm>
            <a:off x="2788920" y="2221992"/>
            <a:ext cx="1051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Hiện tại</a:t>
            </a:r>
            <a:endParaRPr lang="en-US" sz="1200" dirty="0"/>
          </a:p>
        </p:txBody>
      </p:sp>
      <p:sp>
        <p:nvSpPr>
          <p:cNvPr id="13" name="Text 10"/>
          <p:cNvSpPr txBox="1"/>
          <p:nvPr/>
        </p:nvSpPr>
        <p:spPr>
          <a:xfrm>
            <a:off x="822960" y="2834640"/>
            <a:ext cx="3017520" cy="411480"/>
          </a:xfrm>
          <a:prstGeom prst="rect">
            <a:avLst/>
          </a:prstGeom>
          <a:noFill/>
          <a:ln/>
        </p:spPr>
        <p:txBody>
          <a:bodyPr wrap="square" lIns="0" tIns="0" rIns="0" bIns="0" rtlCol="0" anchor="t"/>
          <a:lstStyle/>
          <a:p>
            <a:pPr marL="0" indent="0">
              <a:buNone/>
            </a:pPr>
            <a:r>
              <a:rPr lang="en-US" sz="2100" b="1" dirty="0">
                <a:solidFill>
                  <a:srgbClr val="13303A"/>
                </a:solidFill>
                <a:latin typeface="Calibri" pitchFamily="34" charset="0"/>
                <a:ea typeface="Calibri" pitchFamily="34" charset="-122"/>
                <a:cs typeface="Calibri" pitchFamily="34" charset="-120"/>
              </a:rPr>
              <a:t>Chợ Tốt</a:t>
            </a:r>
            <a:endParaRPr lang="en-US" sz="2100" dirty="0"/>
          </a:p>
        </p:txBody>
      </p:sp>
      <p:sp>
        <p:nvSpPr>
          <p:cNvPr id="14" name="Text 11"/>
          <p:cNvSpPr txBox="1"/>
          <p:nvPr/>
        </p:nvSpPr>
        <p:spPr>
          <a:xfrm>
            <a:off x="822960" y="3246120"/>
            <a:ext cx="3017520" cy="640080"/>
          </a:xfrm>
          <a:prstGeom prst="rect">
            <a:avLst/>
          </a:prstGeom>
          <a:noFill/>
          <a:ln/>
        </p:spPr>
        <p:txBody>
          <a:bodyPr wrap="square" lIns="0" tIns="0" rIns="0" bIns="0" rtlCol="0" anchor="t"/>
          <a:lstStyle/>
          <a:p>
            <a:pPr marL="0" indent="0">
              <a:buNone/>
            </a:pPr>
            <a:r>
              <a:rPr lang="en-US" sz="1450" dirty="0">
                <a:solidFill>
                  <a:srgbClr val="1B2A30"/>
                </a:solidFill>
                <a:latin typeface="Calibri" pitchFamily="34" charset="0"/>
                <a:ea typeface="Calibri" pitchFamily="34" charset="-122"/>
                <a:cs typeface="Calibri" pitchFamily="34" charset="-120"/>
              </a:rPr>
              <a:t>API JSON công khai, quét theo quận</a:t>
            </a:r>
            <a:endParaRPr lang="en-US" sz="1450" dirty="0"/>
          </a:p>
        </p:txBody>
      </p:sp>
      <p:sp>
        <p:nvSpPr>
          <p:cNvPr id="15" name="Text 12"/>
          <p:cNvSpPr txBox="1"/>
          <p:nvPr/>
        </p:nvSpPr>
        <p:spPr>
          <a:xfrm>
            <a:off x="822960" y="3867912"/>
            <a:ext cx="3017520" cy="457200"/>
          </a:xfrm>
          <a:prstGeom prst="rect">
            <a:avLst/>
          </a:prstGeom>
          <a:noFill/>
          <a:ln/>
        </p:spPr>
        <p:txBody>
          <a:bodyPr wrap="square" lIns="0" tIns="0" rIns="0" bIns="0" rtlCol="0" anchor="b"/>
          <a:lstStyle/>
          <a:p>
            <a:pPr marL="0" indent="0">
              <a:buNone/>
            </a:pPr>
            <a:r>
              <a:rPr lang="en-US" sz="2800" b="1" dirty="0">
                <a:solidFill>
                  <a:srgbClr val="C8553A"/>
                </a:solidFill>
                <a:latin typeface="Calibri" pitchFamily="34" charset="0"/>
                <a:ea typeface="Calibri" pitchFamily="34" charset="-122"/>
                <a:cs typeface="Calibri" pitchFamily="34" charset="-120"/>
              </a:rPr>
              <a:t>2.326</a:t>
            </a:r>
            <a:r>
              <a:rPr lang="en-US" sz="1300" dirty="0">
                <a:solidFill>
                  <a:srgbClr val="1B2A30"/>
                </a:solidFill>
                <a:latin typeface="Calibri" pitchFamily="34" charset="0"/>
                <a:ea typeface="Calibri" pitchFamily="34" charset="-122"/>
                <a:cs typeface="Calibri" pitchFamily="34" charset="-120"/>
              </a:rPr>
              <a:t>  tin sau làm sạch</a:t>
            </a:r>
            <a:endParaRPr lang="en-US" sz="2800" dirty="0"/>
          </a:p>
        </p:txBody>
      </p:sp>
      <p:sp>
        <p:nvSpPr>
          <p:cNvPr id="16" name="Text 13"/>
          <p:cNvSpPr txBox="1"/>
          <p:nvPr/>
        </p:nvSpPr>
        <p:spPr>
          <a:xfrm>
            <a:off x="822960" y="4343400"/>
            <a:ext cx="3017520" cy="274320"/>
          </a:xfrm>
          <a:prstGeom prst="rect">
            <a:avLst/>
          </a:prstGeom>
          <a:noFill/>
          <a:ln/>
        </p:spPr>
        <p:txBody>
          <a:bodyPr wrap="square" lIns="0" tIns="0" rIns="0" bIns="0" rtlCol="0" anchor="t"/>
          <a:lstStyle/>
          <a:p>
            <a:pPr marL="0" indent="0">
              <a:buNone/>
            </a:pPr>
            <a:r>
              <a:rPr lang="en-US" sz="1200" dirty="0">
                <a:solidFill>
                  <a:srgbClr val="5B6D74"/>
                </a:solidFill>
                <a:latin typeface="Calibri" pitchFamily="34" charset="0"/>
                <a:ea typeface="Calibri" pitchFamily="34" charset="-122"/>
                <a:cs typeface="Calibri" pitchFamily="34" charset="-120"/>
              </a:rPr>
              <a:t>từ 2.400 tin thô</a:t>
            </a:r>
            <a:endParaRPr lang="en-US" sz="1200" dirty="0"/>
          </a:p>
        </p:txBody>
      </p:sp>
      <p:sp>
        <p:nvSpPr>
          <p:cNvPr id="17" name="Shape 14"/>
          <p:cNvSpPr/>
          <p:nvPr/>
        </p:nvSpPr>
        <p:spPr>
          <a:xfrm>
            <a:off x="4297680" y="1783080"/>
            <a:ext cx="3566160" cy="2971800"/>
          </a:xfrm>
          <a:prstGeom prst="roundRect">
            <a:avLst>
              <a:gd name="adj" fmla="val 3077"/>
            </a:avLst>
          </a:prstGeom>
          <a:solidFill>
            <a:srgbClr val="EAF2F3"/>
          </a:solidFill>
          <a:ln w="12700">
            <a:solidFill>
              <a:srgbClr val="EAF2F3"/>
            </a:solidFill>
            <a:prstDash val="solid"/>
          </a:ln>
        </p:spPr>
        <p:txBody>
          <a:bodyPr/>
          <a:lstStyle/>
          <a:p>
            <a:endParaRPr lang="en-VN"/>
          </a:p>
        </p:txBody>
      </p:sp>
      <p:sp>
        <p:nvSpPr>
          <p:cNvPr id="18" name="Shape 15"/>
          <p:cNvSpPr/>
          <p:nvPr/>
        </p:nvSpPr>
        <p:spPr>
          <a:xfrm>
            <a:off x="4572000" y="2057400"/>
            <a:ext cx="658368" cy="658368"/>
          </a:xfrm>
          <a:prstGeom prst="ellipse">
            <a:avLst/>
          </a:prstGeom>
          <a:solidFill>
            <a:srgbClr val="FFFFFF"/>
          </a:solidFill>
          <a:ln w="12700">
            <a:solidFill>
              <a:srgbClr val="FFFFFF"/>
            </a:solidFill>
            <a:prstDash val="solid"/>
          </a:ln>
        </p:spPr>
        <p:txBody>
          <a:bodyPr/>
          <a:lstStyle/>
          <a:p>
            <a:endParaRPr lang="en-VN"/>
          </a:p>
        </p:txBody>
      </p:sp>
      <p:pic>
        <p:nvPicPr>
          <p:cNvPr id="19" name="Image 1" descr="preencoded.png"/>
          <p:cNvPicPr>
            <a:picLocks noChangeAspect="1"/>
          </p:cNvPicPr>
          <p:nvPr/>
        </p:nvPicPr>
        <p:blipFill>
          <a:blip r:embed="rId4"/>
          <a:stretch>
            <a:fillRect/>
          </a:stretch>
        </p:blipFill>
        <p:spPr>
          <a:xfrm>
            <a:off x="4736592" y="2221992"/>
            <a:ext cx="329184" cy="329184"/>
          </a:xfrm>
          <a:prstGeom prst="rect">
            <a:avLst/>
          </a:prstGeom>
        </p:spPr>
      </p:pic>
      <p:sp>
        <p:nvSpPr>
          <p:cNvPr id="20" name="Shape 16"/>
          <p:cNvSpPr/>
          <p:nvPr/>
        </p:nvSpPr>
        <p:spPr>
          <a:xfrm>
            <a:off x="6537960" y="2221992"/>
            <a:ext cx="1051560" cy="329184"/>
          </a:xfrm>
          <a:prstGeom prst="roundRect">
            <a:avLst>
              <a:gd name="adj" fmla="val 50000"/>
            </a:avLst>
          </a:prstGeom>
          <a:solidFill>
            <a:srgbClr val="C8553A"/>
          </a:solidFill>
          <a:ln w="12700">
            <a:solidFill>
              <a:srgbClr val="C8553A"/>
            </a:solidFill>
            <a:prstDash val="solid"/>
          </a:ln>
        </p:spPr>
        <p:txBody>
          <a:bodyPr/>
          <a:lstStyle/>
          <a:p>
            <a:endParaRPr lang="en-VN"/>
          </a:p>
        </p:txBody>
      </p:sp>
      <p:sp>
        <p:nvSpPr>
          <p:cNvPr id="21" name="Text 17"/>
          <p:cNvSpPr txBox="1"/>
          <p:nvPr/>
        </p:nvSpPr>
        <p:spPr>
          <a:xfrm>
            <a:off x="6537960" y="2221992"/>
            <a:ext cx="1051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Hiện tại</a:t>
            </a:r>
            <a:endParaRPr lang="en-US" sz="1200" dirty="0"/>
          </a:p>
        </p:txBody>
      </p:sp>
      <p:sp>
        <p:nvSpPr>
          <p:cNvPr id="22" name="Text 18"/>
          <p:cNvSpPr txBox="1"/>
          <p:nvPr/>
        </p:nvSpPr>
        <p:spPr>
          <a:xfrm>
            <a:off x="4572000" y="2834640"/>
            <a:ext cx="3017520" cy="411480"/>
          </a:xfrm>
          <a:prstGeom prst="rect">
            <a:avLst/>
          </a:prstGeom>
          <a:noFill/>
          <a:ln/>
        </p:spPr>
        <p:txBody>
          <a:bodyPr wrap="square" lIns="0" tIns="0" rIns="0" bIns="0" rtlCol="0" anchor="t"/>
          <a:lstStyle/>
          <a:p>
            <a:pPr marL="0" indent="0">
              <a:buNone/>
            </a:pPr>
            <a:r>
              <a:rPr lang="en-US" sz="2100" b="1" dirty="0">
                <a:solidFill>
                  <a:srgbClr val="13303A"/>
                </a:solidFill>
                <a:latin typeface="Calibri" pitchFamily="34" charset="0"/>
                <a:ea typeface="Calibri" pitchFamily="34" charset="-122"/>
                <a:cs typeface="Calibri" pitchFamily="34" charset="-120"/>
              </a:rPr>
              <a:t>mogi.vn</a:t>
            </a:r>
            <a:endParaRPr lang="en-US" sz="2100" dirty="0"/>
          </a:p>
        </p:txBody>
      </p:sp>
      <p:sp>
        <p:nvSpPr>
          <p:cNvPr id="23" name="Text 19"/>
          <p:cNvSpPr txBox="1"/>
          <p:nvPr/>
        </p:nvSpPr>
        <p:spPr>
          <a:xfrm>
            <a:off x="4572000" y="3246120"/>
            <a:ext cx="3017520" cy="640080"/>
          </a:xfrm>
          <a:prstGeom prst="rect">
            <a:avLst/>
          </a:prstGeom>
          <a:noFill/>
          <a:ln/>
        </p:spPr>
        <p:txBody>
          <a:bodyPr wrap="square" lIns="0" tIns="0" rIns="0" bIns="0" rtlCol="0" anchor="t"/>
          <a:lstStyle/>
          <a:p>
            <a:pPr marL="0" indent="0">
              <a:buNone/>
            </a:pPr>
            <a:r>
              <a:rPr lang="en-US" sz="1450" dirty="0">
                <a:solidFill>
                  <a:srgbClr val="1B2A30"/>
                </a:solidFill>
                <a:latin typeface="Calibri" pitchFamily="34" charset="0"/>
                <a:ea typeface="Calibri" pitchFamily="34" charset="-122"/>
                <a:cs typeface="Calibri" pitchFamily="34" charset="-120"/>
              </a:rPr>
              <a:t>Parse HTML: trang danh sách → trang chi tiết</a:t>
            </a:r>
            <a:endParaRPr lang="en-US" sz="1450" dirty="0"/>
          </a:p>
        </p:txBody>
      </p:sp>
      <p:sp>
        <p:nvSpPr>
          <p:cNvPr id="24" name="Text 20"/>
          <p:cNvSpPr txBox="1"/>
          <p:nvPr/>
        </p:nvSpPr>
        <p:spPr>
          <a:xfrm>
            <a:off x="4572000" y="3867912"/>
            <a:ext cx="3017520" cy="457200"/>
          </a:xfrm>
          <a:prstGeom prst="rect">
            <a:avLst/>
          </a:prstGeom>
          <a:noFill/>
          <a:ln/>
        </p:spPr>
        <p:txBody>
          <a:bodyPr wrap="square" lIns="0" tIns="0" rIns="0" bIns="0" rtlCol="0" anchor="b"/>
          <a:lstStyle/>
          <a:p>
            <a:pPr marL="0" indent="0">
              <a:buNone/>
            </a:pPr>
            <a:r>
              <a:rPr lang="en-US" sz="2800" b="1" dirty="0">
                <a:solidFill>
                  <a:srgbClr val="C8553A"/>
                </a:solidFill>
                <a:latin typeface="Calibri" pitchFamily="34" charset="0"/>
                <a:ea typeface="Calibri" pitchFamily="34" charset="-122"/>
                <a:cs typeface="Calibri" pitchFamily="34" charset="-120"/>
              </a:rPr>
              <a:t>334</a:t>
            </a:r>
            <a:r>
              <a:rPr lang="en-US" sz="1300" dirty="0">
                <a:solidFill>
                  <a:srgbClr val="1B2A30"/>
                </a:solidFill>
                <a:latin typeface="Calibri" pitchFamily="34" charset="0"/>
                <a:ea typeface="Calibri" pitchFamily="34" charset="-122"/>
                <a:cs typeface="Calibri" pitchFamily="34" charset="-120"/>
              </a:rPr>
              <a:t>  tin sau làm sạch</a:t>
            </a:r>
            <a:endParaRPr lang="en-US" sz="2800" dirty="0"/>
          </a:p>
        </p:txBody>
      </p:sp>
      <p:sp>
        <p:nvSpPr>
          <p:cNvPr id="25" name="Text 21"/>
          <p:cNvSpPr txBox="1"/>
          <p:nvPr/>
        </p:nvSpPr>
        <p:spPr>
          <a:xfrm>
            <a:off x="4572000" y="4343400"/>
            <a:ext cx="3017520" cy="274320"/>
          </a:xfrm>
          <a:prstGeom prst="rect">
            <a:avLst/>
          </a:prstGeom>
          <a:noFill/>
          <a:ln/>
        </p:spPr>
        <p:txBody>
          <a:bodyPr wrap="square" lIns="0" tIns="0" rIns="0" bIns="0" rtlCol="0" anchor="t"/>
          <a:lstStyle/>
          <a:p>
            <a:pPr marL="0" indent="0">
              <a:buNone/>
            </a:pPr>
            <a:r>
              <a:rPr lang="en-US" sz="1200" dirty="0">
                <a:solidFill>
                  <a:srgbClr val="5B6D74"/>
                </a:solidFill>
                <a:latin typeface="Calibri" pitchFamily="34" charset="0"/>
                <a:ea typeface="Calibri" pitchFamily="34" charset="-122"/>
                <a:cs typeface="Calibri" pitchFamily="34" charset="-120"/>
              </a:rPr>
              <a:t>từ 360 tin thô</a:t>
            </a:r>
            <a:endParaRPr lang="en-US" sz="1200" dirty="0"/>
          </a:p>
        </p:txBody>
      </p:sp>
      <p:sp>
        <p:nvSpPr>
          <p:cNvPr id="26" name="Shape 22"/>
          <p:cNvSpPr/>
          <p:nvPr/>
        </p:nvSpPr>
        <p:spPr>
          <a:xfrm>
            <a:off x="8046720" y="1783080"/>
            <a:ext cx="3566160" cy="2971800"/>
          </a:xfrm>
          <a:prstGeom prst="roundRect">
            <a:avLst>
              <a:gd name="adj" fmla="val 3077"/>
            </a:avLst>
          </a:prstGeom>
          <a:solidFill>
            <a:srgbClr val="EAF2F3"/>
          </a:solidFill>
          <a:ln w="12700">
            <a:solidFill>
              <a:srgbClr val="EAF2F3"/>
            </a:solidFill>
            <a:prstDash val="solid"/>
          </a:ln>
        </p:spPr>
        <p:txBody>
          <a:bodyPr/>
          <a:lstStyle/>
          <a:p>
            <a:endParaRPr lang="en-VN"/>
          </a:p>
        </p:txBody>
      </p:sp>
      <p:sp>
        <p:nvSpPr>
          <p:cNvPr id="27" name="Shape 23"/>
          <p:cNvSpPr/>
          <p:nvPr/>
        </p:nvSpPr>
        <p:spPr>
          <a:xfrm>
            <a:off x="8321040" y="2057400"/>
            <a:ext cx="658368" cy="658368"/>
          </a:xfrm>
          <a:prstGeom prst="ellipse">
            <a:avLst/>
          </a:prstGeom>
          <a:solidFill>
            <a:srgbClr val="FFFFFF"/>
          </a:solidFill>
          <a:ln w="12700">
            <a:solidFill>
              <a:srgbClr val="FFFFFF"/>
            </a:solidFill>
            <a:prstDash val="solid"/>
          </a:ln>
        </p:spPr>
        <p:txBody>
          <a:bodyPr/>
          <a:lstStyle/>
          <a:p>
            <a:endParaRPr lang="en-VN"/>
          </a:p>
        </p:txBody>
      </p:sp>
      <p:pic>
        <p:nvPicPr>
          <p:cNvPr id="28" name="Image 2" descr="preencoded.png"/>
          <p:cNvPicPr>
            <a:picLocks noChangeAspect="1"/>
          </p:cNvPicPr>
          <p:nvPr/>
        </p:nvPicPr>
        <p:blipFill>
          <a:blip r:embed="rId5"/>
          <a:stretch>
            <a:fillRect/>
          </a:stretch>
        </p:blipFill>
        <p:spPr>
          <a:xfrm>
            <a:off x="8485632" y="2221992"/>
            <a:ext cx="329184" cy="329184"/>
          </a:xfrm>
          <a:prstGeom prst="rect">
            <a:avLst/>
          </a:prstGeom>
        </p:spPr>
      </p:pic>
      <p:sp>
        <p:nvSpPr>
          <p:cNvPr id="29" name="Shape 24"/>
          <p:cNvSpPr/>
          <p:nvPr/>
        </p:nvSpPr>
        <p:spPr>
          <a:xfrm>
            <a:off x="10287000" y="2221992"/>
            <a:ext cx="1051560" cy="329184"/>
          </a:xfrm>
          <a:prstGeom prst="roundRect">
            <a:avLst>
              <a:gd name="adj" fmla="val 50000"/>
            </a:avLst>
          </a:prstGeom>
          <a:solidFill>
            <a:srgbClr val="1F4A57"/>
          </a:solidFill>
          <a:ln w="12700">
            <a:solidFill>
              <a:srgbClr val="1F4A57"/>
            </a:solidFill>
            <a:prstDash val="solid"/>
          </a:ln>
        </p:spPr>
        <p:txBody>
          <a:bodyPr/>
          <a:lstStyle/>
          <a:p>
            <a:endParaRPr lang="en-VN"/>
          </a:p>
        </p:txBody>
      </p:sp>
      <p:sp>
        <p:nvSpPr>
          <p:cNvPr id="30" name="Text 25"/>
          <p:cNvSpPr txBox="1"/>
          <p:nvPr/>
        </p:nvSpPr>
        <p:spPr>
          <a:xfrm>
            <a:off x="10287000" y="2221992"/>
            <a:ext cx="1051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Lịch sử</a:t>
            </a:r>
            <a:endParaRPr lang="en-US" sz="1200" dirty="0"/>
          </a:p>
        </p:txBody>
      </p:sp>
      <p:sp>
        <p:nvSpPr>
          <p:cNvPr id="31" name="Text 26"/>
          <p:cNvSpPr txBox="1"/>
          <p:nvPr/>
        </p:nvSpPr>
        <p:spPr>
          <a:xfrm>
            <a:off x="8321040" y="2834640"/>
            <a:ext cx="3017520" cy="411480"/>
          </a:xfrm>
          <a:prstGeom prst="rect">
            <a:avLst/>
          </a:prstGeom>
          <a:noFill/>
          <a:ln/>
        </p:spPr>
        <p:txBody>
          <a:bodyPr wrap="square" lIns="0" tIns="0" rIns="0" bIns="0" rtlCol="0" anchor="t"/>
          <a:lstStyle/>
          <a:p>
            <a:pPr marL="0" indent="0">
              <a:buNone/>
            </a:pPr>
            <a:r>
              <a:rPr lang="en-US" sz="2100" b="1" dirty="0">
                <a:solidFill>
                  <a:srgbClr val="13303A"/>
                </a:solidFill>
                <a:latin typeface="Calibri" pitchFamily="34" charset="0"/>
                <a:ea typeface="Calibri" pitchFamily="34" charset="-122"/>
                <a:cs typeface="Calibri" pitchFamily="34" charset="-120"/>
              </a:rPr>
              <a:t>Hugging Face</a:t>
            </a:r>
            <a:endParaRPr lang="en-US" sz="2100" dirty="0"/>
          </a:p>
        </p:txBody>
      </p:sp>
      <p:sp>
        <p:nvSpPr>
          <p:cNvPr id="32" name="Text 27"/>
          <p:cNvSpPr txBox="1"/>
          <p:nvPr/>
        </p:nvSpPr>
        <p:spPr>
          <a:xfrm>
            <a:off x="8321040" y="3246120"/>
            <a:ext cx="3017520" cy="640080"/>
          </a:xfrm>
          <a:prstGeom prst="rect">
            <a:avLst/>
          </a:prstGeom>
          <a:noFill/>
          <a:ln/>
        </p:spPr>
        <p:txBody>
          <a:bodyPr wrap="square" lIns="0" tIns="0" rIns="0" bIns="0" rtlCol="0" anchor="t"/>
          <a:lstStyle/>
          <a:p>
            <a:pPr marL="0" indent="0">
              <a:buNone/>
            </a:pPr>
            <a:r>
              <a:rPr lang="en-US" sz="1450" dirty="0">
                <a:solidFill>
                  <a:srgbClr val="1B2A30"/>
                </a:solidFill>
                <a:latin typeface="Calibri" pitchFamily="34" charset="0"/>
                <a:ea typeface="Calibri" pitchFamily="34" charset="-122"/>
                <a:cs typeface="Calibri" pitchFamily="34" charset="-120"/>
              </a:rPr>
              <a:t>Tải parquet bộ</a:t>
            </a:r>
            <a:endParaRPr lang="en-US" sz="1450" dirty="0"/>
          </a:p>
          <a:p>
            <a:pPr marL="0" indent="0">
              <a:buNone/>
            </a:pPr>
            <a:r>
              <a:rPr lang="en-US" sz="1250" dirty="0">
                <a:solidFill>
                  <a:srgbClr val="1B2A30"/>
                </a:solidFill>
                <a:latin typeface="Courier New" pitchFamily="34" charset="0"/>
                <a:ea typeface="Courier New" pitchFamily="34" charset="-122"/>
                <a:cs typeface="Courier New" pitchFamily="34" charset="-120"/>
              </a:rPr>
              <a:t>tinixai/vietnam-real-estates</a:t>
            </a:r>
            <a:endParaRPr lang="en-US" sz="1450" dirty="0"/>
          </a:p>
        </p:txBody>
      </p:sp>
      <p:sp>
        <p:nvSpPr>
          <p:cNvPr id="33" name="Text 28"/>
          <p:cNvSpPr txBox="1"/>
          <p:nvPr/>
        </p:nvSpPr>
        <p:spPr>
          <a:xfrm>
            <a:off x="8321040" y="3867912"/>
            <a:ext cx="3017520" cy="457200"/>
          </a:xfrm>
          <a:prstGeom prst="rect">
            <a:avLst/>
          </a:prstGeom>
          <a:noFill/>
          <a:ln/>
        </p:spPr>
        <p:txBody>
          <a:bodyPr wrap="square" lIns="0" tIns="0" rIns="0" bIns="0" rtlCol="0" anchor="b"/>
          <a:lstStyle/>
          <a:p>
            <a:pPr marL="0" indent="0">
              <a:buNone/>
            </a:pPr>
            <a:r>
              <a:rPr lang="en-US" sz="2800" b="1" dirty="0">
                <a:solidFill>
                  <a:srgbClr val="C8553A"/>
                </a:solidFill>
                <a:latin typeface="Calibri" pitchFamily="34" charset="0"/>
                <a:ea typeface="Calibri" pitchFamily="34" charset="-122"/>
                <a:cs typeface="Calibri" pitchFamily="34" charset="-120"/>
              </a:rPr>
              <a:t>31.947</a:t>
            </a:r>
            <a:r>
              <a:rPr lang="en-US" sz="1300" dirty="0">
                <a:solidFill>
                  <a:srgbClr val="1B2A30"/>
                </a:solidFill>
                <a:latin typeface="Calibri" pitchFamily="34" charset="0"/>
                <a:ea typeface="Calibri" pitchFamily="34" charset="-122"/>
                <a:cs typeface="Calibri" pitchFamily="34" charset="-120"/>
              </a:rPr>
              <a:t>  tin sau làm sạch</a:t>
            </a:r>
            <a:endParaRPr lang="en-US" sz="2800" dirty="0"/>
          </a:p>
        </p:txBody>
      </p:sp>
      <p:sp>
        <p:nvSpPr>
          <p:cNvPr id="34" name="Text 29"/>
          <p:cNvSpPr txBox="1"/>
          <p:nvPr/>
        </p:nvSpPr>
        <p:spPr>
          <a:xfrm>
            <a:off x="8321040" y="4343400"/>
            <a:ext cx="3017520" cy="274320"/>
          </a:xfrm>
          <a:prstGeom prst="rect">
            <a:avLst/>
          </a:prstGeom>
          <a:noFill/>
          <a:ln/>
        </p:spPr>
        <p:txBody>
          <a:bodyPr wrap="square" lIns="0" tIns="0" rIns="0" bIns="0" rtlCol="0" anchor="t"/>
          <a:lstStyle/>
          <a:p>
            <a:pPr marL="0" indent="0">
              <a:buNone/>
            </a:pPr>
            <a:r>
              <a:rPr lang="en-US" sz="1200" dirty="0">
                <a:solidFill>
                  <a:srgbClr val="5B6D74"/>
                </a:solidFill>
                <a:latin typeface="Calibri" pitchFamily="34" charset="0"/>
                <a:ea typeface="Calibri" pitchFamily="34" charset="-122"/>
                <a:cs typeface="Calibri" pitchFamily="34" charset="-120"/>
              </a:rPr>
              <a:t>từ 40.000 tin thô</a:t>
            </a:r>
            <a:endParaRPr lang="en-US" sz="1200" dirty="0"/>
          </a:p>
        </p:txBody>
      </p:sp>
      <p:sp>
        <p:nvSpPr>
          <p:cNvPr id="35" name="Text 30"/>
          <p:cNvSpPr txBox="1"/>
          <p:nvPr/>
        </p:nvSpPr>
        <p:spPr>
          <a:xfrm>
            <a:off x="548640" y="4983480"/>
            <a:ext cx="5486400" cy="365760"/>
          </a:xfrm>
          <a:prstGeom prst="rect">
            <a:avLst/>
          </a:prstGeom>
          <a:noFill/>
          <a:ln/>
        </p:spPr>
        <p:txBody>
          <a:bodyPr wrap="square" lIns="0" tIns="0" rIns="0" bIns="0" rtlCol="0" anchor="t"/>
          <a:lstStyle/>
          <a:p>
            <a:pPr marL="0" indent="0">
              <a:buNone/>
            </a:pPr>
            <a:r>
              <a:rPr lang="en-US" sz="1600" b="1" dirty="0">
                <a:solidFill>
                  <a:srgbClr val="13303A"/>
                </a:solidFill>
                <a:latin typeface="Calibri" pitchFamily="34" charset="0"/>
                <a:ea typeface="Calibri" pitchFamily="34" charset="-122"/>
                <a:cs typeface="Calibri" pitchFamily="34" charset="-120"/>
              </a:rPr>
              <a:t>Ranh giới tự đặt khi thu thập</a:t>
            </a:r>
            <a:endParaRPr lang="en-US" sz="1600" dirty="0"/>
          </a:p>
        </p:txBody>
      </p:sp>
      <p:sp>
        <p:nvSpPr>
          <p:cNvPr id="36" name="Shape 31"/>
          <p:cNvSpPr/>
          <p:nvPr/>
        </p:nvSpPr>
        <p:spPr>
          <a:xfrm>
            <a:off x="548640" y="5468112"/>
            <a:ext cx="566928" cy="566928"/>
          </a:xfrm>
          <a:prstGeom prst="ellipse">
            <a:avLst/>
          </a:prstGeom>
          <a:solidFill>
            <a:srgbClr val="FBEAE3"/>
          </a:solidFill>
          <a:ln w="12700">
            <a:solidFill>
              <a:srgbClr val="FBEAE3"/>
            </a:solidFill>
            <a:prstDash val="solid"/>
          </a:ln>
        </p:spPr>
        <p:txBody>
          <a:bodyPr/>
          <a:lstStyle/>
          <a:p>
            <a:endParaRPr lang="en-VN"/>
          </a:p>
        </p:txBody>
      </p:sp>
      <p:pic>
        <p:nvPicPr>
          <p:cNvPr id="37" name="Image 3" descr="preencoded.png"/>
          <p:cNvPicPr>
            <a:picLocks noChangeAspect="1"/>
          </p:cNvPicPr>
          <p:nvPr/>
        </p:nvPicPr>
        <p:blipFill>
          <a:blip r:embed="rId6"/>
          <a:stretch>
            <a:fillRect/>
          </a:stretch>
        </p:blipFill>
        <p:spPr>
          <a:xfrm>
            <a:off x="690372" y="5609844"/>
            <a:ext cx="283464" cy="283464"/>
          </a:xfrm>
          <a:prstGeom prst="rect">
            <a:avLst/>
          </a:prstGeom>
        </p:spPr>
      </p:pic>
      <p:sp>
        <p:nvSpPr>
          <p:cNvPr id="38" name="Text 32"/>
          <p:cNvSpPr txBox="1"/>
          <p:nvPr/>
        </p:nvSpPr>
        <p:spPr>
          <a:xfrm>
            <a:off x="1234440" y="5468112"/>
            <a:ext cx="2011680" cy="566928"/>
          </a:xfrm>
          <a:prstGeom prst="rect">
            <a:avLst/>
          </a:prstGeom>
          <a:noFill/>
          <a:ln/>
        </p:spPr>
        <p:txBody>
          <a:bodyPr wrap="square" lIns="0" tIns="0" rIns="0" bIns="0" rtlCol="0" anchor="ctr"/>
          <a:lstStyle/>
          <a:p>
            <a:pPr marL="0" indent="0">
              <a:buNone/>
            </a:pPr>
            <a:r>
              <a:rPr lang="en-US" sz="1400" dirty="0">
                <a:solidFill>
                  <a:srgbClr val="1B2A30"/>
                </a:solidFill>
                <a:latin typeface="Calibri" pitchFamily="34" charset="0"/>
                <a:ea typeface="Calibri" pitchFamily="34" charset="-122"/>
                <a:cs typeface="Calibri" pitchFamily="34" charset="-120"/>
              </a:rPr>
              <a:t>Tôn trọng robots.txt</a:t>
            </a:r>
            <a:endParaRPr lang="en-US" sz="1400" dirty="0"/>
          </a:p>
        </p:txBody>
      </p:sp>
      <p:sp>
        <p:nvSpPr>
          <p:cNvPr id="39" name="Shape 33"/>
          <p:cNvSpPr/>
          <p:nvPr/>
        </p:nvSpPr>
        <p:spPr>
          <a:xfrm>
            <a:off x="3355848" y="5468112"/>
            <a:ext cx="566928" cy="566928"/>
          </a:xfrm>
          <a:prstGeom prst="ellipse">
            <a:avLst/>
          </a:prstGeom>
          <a:solidFill>
            <a:srgbClr val="FBEAE3"/>
          </a:solidFill>
          <a:ln w="12700">
            <a:solidFill>
              <a:srgbClr val="FBEAE3"/>
            </a:solidFill>
            <a:prstDash val="solid"/>
          </a:ln>
        </p:spPr>
        <p:txBody>
          <a:bodyPr/>
          <a:lstStyle/>
          <a:p>
            <a:endParaRPr lang="en-VN"/>
          </a:p>
        </p:txBody>
      </p:sp>
      <p:pic>
        <p:nvPicPr>
          <p:cNvPr id="40" name="Image 4" descr="preencoded.png"/>
          <p:cNvPicPr>
            <a:picLocks noChangeAspect="1"/>
          </p:cNvPicPr>
          <p:nvPr/>
        </p:nvPicPr>
        <p:blipFill>
          <a:blip r:embed="rId7"/>
          <a:stretch>
            <a:fillRect/>
          </a:stretch>
        </p:blipFill>
        <p:spPr>
          <a:xfrm>
            <a:off x="3497580" y="5609844"/>
            <a:ext cx="283464" cy="283464"/>
          </a:xfrm>
          <a:prstGeom prst="rect">
            <a:avLst/>
          </a:prstGeom>
        </p:spPr>
      </p:pic>
      <p:sp>
        <p:nvSpPr>
          <p:cNvPr id="41" name="Text 34"/>
          <p:cNvSpPr txBox="1"/>
          <p:nvPr/>
        </p:nvSpPr>
        <p:spPr>
          <a:xfrm>
            <a:off x="4041648" y="5468112"/>
            <a:ext cx="2011680" cy="566928"/>
          </a:xfrm>
          <a:prstGeom prst="rect">
            <a:avLst/>
          </a:prstGeom>
          <a:noFill/>
          <a:ln/>
        </p:spPr>
        <p:txBody>
          <a:bodyPr wrap="square" lIns="0" tIns="0" rIns="0" bIns="0" rtlCol="0" anchor="ctr"/>
          <a:lstStyle/>
          <a:p>
            <a:pPr marL="0" indent="0">
              <a:buNone/>
            </a:pPr>
            <a:r>
              <a:rPr lang="en-US" sz="1400" dirty="0">
                <a:solidFill>
                  <a:srgbClr val="1B2A30"/>
                </a:solidFill>
                <a:latin typeface="Calibri" pitchFamily="34" charset="0"/>
                <a:ea typeface="Calibri" pitchFamily="34" charset="-122"/>
                <a:cs typeface="Calibri" pitchFamily="34" charset="-120"/>
              </a:rPr>
              <a:t>Không vượt anti-bot chủ động</a:t>
            </a:r>
            <a:endParaRPr lang="en-US" sz="1400" dirty="0"/>
          </a:p>
        </p:txBody>
      </p:sp>
      <p:sp>
        <p:nvSpPr>
          <p:cNvPr id="42" name="Shape 35"/>
          <p:cNvSpPr/>
          <p:nvPr/>
        </p:nvSpPr>
        <p:spPr>
          <a:xfrm>
            <a:off x="6163056" y="5468112"/>
            <a:ext cx="566928" cy="566928"/>
          </a:xfrm>
          <a:prstGeom prst="ellipse">
            <a:avLst/>
          </a:prstGeom>
          <a:solidFill>
            <a:srgbClr val="FBEAE3"/>
          </a:solidFill>
          <a:ln w="12700">
            <a:solidFill>
              <a:srgbClr val="FBEAE3"/>
            </a:solidFill>
            <a:prstDash val="solid"/>
          </a:ln>
        </p:spPr>
        <p:txBody>
          <a:bodyPr/>
          <a:lstStyle/>
          <a:p>
            <a:endParaRPr lang="en-VN"/>
          </a:p>
        </p:txBody>
      </p:sp>
      <p:pic>
        <p:nvPicPr>
          <p:cNvPr id="43" name="Image 5" descr="preencoded.png"/>
          <p:cNvPicPr>
            <a:picLocks noChangeAspect="1"/>
          </p:cNvPicPr>
          <p:nvPr/>
        </p:nvPicPr>
        <p:blipFill>
          <a:blip r:embed="rId8"/>
          <a:stretch>
            <a:fillRect/>
          </a:stretch>
        </p:blipFill>
        <p:spPr>
          <a:xfrm>
            <a:off x="6304788" y="5609844"/>
            <a:ext cx="283464" cy="283464"/>
          </a:xfrm>
          <a:prstGeom prst="rect">
            <a:avLst/>
          </a:prstGeom>
        </p:spPr>
      </p:pic>
      <p:sp>
        <p:nvSpPr>
          <p:cNvPr id="44" name="Text 36"/>
          <p:cNvSpPr txBox="1"/>
          <p:nvPr/>
        </p:nvSpPr>
        <p:spPr>
          <a:xfrm>
            <a:off x="6848856" y="5468112"/>
            <a:ext cx="2011680" cy="566928"/>
          </a:xfrm>
          <a:prstGeom prst="rect">
            <a:avLst/>
          </a:prstGeom>
          <a:noFill/>
          <a:ln/>
        </p:spPr>
        <p:txBody>
          <a:bodyPr wrap="square" lIns="0" tIns="0" rIns="0" bIns="0" rtlCol="0" anchor="ctr"/>
          <a:lstStyle/>
          <a:p>
            <a:pPr marL="0" indent="0">
              <a:buNone/>
            </a:pPr>
            <a:r>
              <a:rPr lang="en-US" sz="1400" dirty="0">
                <a:solidFill>
                  <a:srgbClr val="1B2A30"/>
                </a:solidFill>
                <a:latin typeface="Calibri" pitchFamily="34" charset="0"/>
                <a:ea typeface="Calibri" pitchFamily="34" charset="-122"/>
                <a:cs typeface="Calibri" pitchFamily="34" charset="-120"/>
              </a:rPr>
              <a:t>1 request mỗi 1,5 giây</a:t>
            </a:r>
            <a:endParaRPr lang="en-US" sz="1400" dirty="0"/>
          </a:p>
        </p:txBody>
      </p:sp>
      <p:sp>
        <p:nvSpPr>
          <p:cNvPr id="45" name="Shape 37"/>
          <p:cNvSpPr/>
          <p:nvPr/>
        </p:nvSpPr>
        <p:spPr>
          <a:xfrm>
            <a:off x="8970264" y="5468112"/>
            <a:ext cx="566928" cy="566928"/>
          </a:xfrm>
          <a:prstGeom prst="ellipse">
            <a:avLst/>
          </a:prstGeom>
          <a:solidFill>
            <a:srgbClr val="FBEAE3"/>
          </a:solidFill>
          <a:ln w="12700">
            <a:solidFill>
              <a:srgbClr val="FBEAE3"/>
            </a:solidFill>
            <a:prstDash val="solid"/>
          </a:ln>
        </p:spPr>
        <p:txBody>
          <a:bodyPr/>
          <a:lstStyle/>
          <a:p>
            <a:endParaRPr lang="en-VN"/>
          </a:p>
        </p:txBody>
      </p:sp>
      <p:pic>
        <p:nvPicPr>
          <p:cNvPr id="46" name="Image 6" descr="preencoded.png"/>
          <p:cNvPicPr>
            <a:picLocks noChangeAspect="1"/>
          </p:cNvPicPr>
          <p:nvPr/>
        </p:nvPicPr>
        <p:blipFill>
          <a:blip r:embed="rId9"/>
          <a:stretch>
            <a:fillRect/>
          </a:stretch>
        </p:blipFill>
        <p:spPr>
          <a:xfrm>
            <a:off x="9111996" y="5609844"/>
            <a:ext cx="283464" cy="283464"/>
          </a:xfrm>
          <a:prstGeom prst="rect">
            <a:avLst/>
          </a:prstGeom>
        </p:spPr>
      </p:pic>
      <p:sp>
        <p:nvSpPr>
          <p:cNvPr id="47" name="Text 38"/>
          <p:cNvSpPr txBox="1"/>
          <p:nvPr/>
        </p:nvSpPr>
        <p:spPr>
          <a:xfrm>
            <a:off x="9656064" y="5468112"/>
            <a:ext cx="2011680" cy="566928"/>
          </a:xfrm>
          <a:prstGeom prst="rect">
            <a:avLst/>
          </a:prstGeom>
          <a:noFill/>
          <a:ln/>
        </p:spPr>
        <p:txBody>
          <a:bodyPr wrap="square" lIns="0" tIns="0" rIns="0" bIns="0" rtlCol="0" anchor="ctr"/>
          <a:lstStyle/>
          <a:p>
            <a:pPr marL="0" indent="0">
              <a:buNone/>
            </a:pPr>
            <a:r>
              <a:rPr lang="en-US" sz="1400" dirty="0">
                <a:solidFill>
                  <a:srgbClr val="1B2A30"/>
                </a:solidFill>
                <a:latin typeface="Calibri" pitchFamily="34" charset="0"/>
                <a:ea typeface="Calibri" pitchFamily="34" charset="-122"/>
                <a:cs typeface="Calibri" pitchFamily="34" charset="-120"/>
              </a:rPr>
              <a:t>Không thu thập thông tin người bán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DỮ LIỆU · QUYỀN RIÊNG TƯ</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Xoá số điện thoại ngay lúc ghi file</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Text 6"/>
          <p:cNvSpPr txBox="1"/>
          <p:nvPr/>
        </p:nvSpPr>
        <p:spPr>
          <a:xfrm>
            <a:off x="548640" y="1783080"/>
            <a:ext cx="4754880" cy="411480"/>
          </a:xfrm>
          <a:prstGeom prst="rect">
            <a:avLst/>
          </a:prstGeom>
          <a:noFill/>
          <a:ln/>
        </p:spPr>
        <p:txBody>
          <a:bodyPr wrap="square" lIns="0" tIns="0" rIns="0" bIns="0" rtlCol="0" anchor="t"/>
          <a:lstStyle/>
          <a:p>
            <a:pPr marL="0" indent="0">
              <a:buNone/>
            </a:pPr>
            <a:r>
              <a:rPr lang="en-US" sz="1600" dirty="0">
                <a:solidFill>
                  <a:srgbClr val="1B2A30"/>
                </a:solidFill>
                <a:latin typeface="Calibri" pitchFamily="34" charset="0"/>
                <a:ea typeface="Calibri" pitchFamily="34" charset="-122"/>
                <a:cs typeface="Calibri" pitchFamily="34" charset="-120"/>
              </a:rPr>
              <a:t>Người rao né bộ lọc của sàn bằng đủ kiểu:</a:t>
            </a:r>
            <a:endParaRPr lang="en-US" sz="1600" dirty="0"/>
          </a:p>
        </p:txBody>
      </p:sp>
      <p:sp>
        <p:nvSpPr>
          <p:cNvPr id="9" name="Shape 7"/>
          <p:cNvSpPr/>
          <p:nvPr/>
        </p:nvSpPr>
        <p:spPr>
          <a:xfrm>
            <a:off x="548640" y="2331720"/>
            <a:ext cx="4572000" cy="603504"/>
          </a:xfrm>
          <a:prstGeom prst="roundRect">
            <a:avLst>
              <a:gd name="adj" fmla="val 15152"/>
            </a:avLst>
          </a:prstGeom>
          <a:solidFill>
            <a:srgbClr val="EAF2F3"/>
          </a:solidFill>
          <a:ln w="12700">
            <a:solidFill>
              <a:srgbClr val="EAF2F3"/>
            </a:solidFill>
            <a:prstDash val="solid"/>
          </a:ln>
        </p:spPr>
        <p:txBody>
          <a:bodyPr/>
          <a:lstStyle/>
          <a:p>
            <a:endParaRPr lang="en-VN"/>
          </a:p>
        </p:txBody>
      </p:sp>
      <p:pic>
        <p:nvPicPr>
          <p:cNvPr id="10" name="Image 0" descr="preencoded.png"/>
          <p:cNvPicPr>
            <a:picLocks noChangeAspect="1"/>
          </p:cNvPicPr>
          <p:nvPr/>
        </p:nvPicPr>
        <p:blipFill>
          <a:blip r:embed="rId3"/>
          <a:stretch>
            <a:fillRect/>
          </a:stretch>
        </p:blipFill>
        <p:spPr>
          <a:xfrm>
            <a:off x="777240" y="2478024"/>
            <a:ext cx="310896" cy="310896"/>
          </a:xfrm>
          <a:prstGeom prst="rect">
            <a:avLst/>
          </a:prstGeom>
        </p:spPr>
      </p:pic>
      <p:sp>
        <p:nvSpPr>
          <p:cNvPr id="11" name="Text 8"/>
          <p:cNvSpPr txBox="1"/>
          <p:nvPr/>
        </p:nvSpPr>
        <p:spPr>
          <a:xfrm>
            <a:off x="1280160" y="2331720"/>
            <a:ext cx="3657600" cy="603504"/>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Chữ số Unicode</a:t>
            </a:r>
            <a:endParaRPr lang="en-US" sz="1600" dirty="0"/>
          </a:p>
        </p:txBody>
      </p:sp>
      <p:sp>
        <p:nvSpPr>
          <p:cNvPr id="12" name="Shape 9"/>
          <p:cNvSpPr/>
          <p:nvPr/>
        </p:nvSpPr>
        <p:spPr>
          <a:xfrm>
            <a:off x="548640" y="3081528"/>
            <a:ext cx="4572000" cy="603504"/>
          </a:xfrm>
          <a:prstGeom prst="roundRect">
            <a:avLst>
              <a:gd name="adj" fmla="val 15152"/>
            </a:avLst>
          </a:prstGeom>
          <a:solidFill>
            <a:srgbClr val="EAF2F3"/>
          </a:solidFill>
          <a:ln w="12700">
            <a:solidFill>
              <a:srgbClr val="EAF2F3"/>
            </a:solidFill>
            <a:prstDash val="solid"/>
          </a:ln>
        </p:spPr>
        <p:txBody>
          <a:bodyPr/>
          <a:lstStyle/>
          <a:p>
            <a:endParaRPr lang="en-VN"/>
          </a:p>
        </p:txBody>
      </p:sp>
      <p:pic>
        <p:nvPicPr>
          <p:cNvPr id="13" name="Image 1" descr="preencoded.png"/>
          <p:cNvPicPr>
            <a:picLocks noChangeAspect="1"/>
          </p:cNvPicPr>
          <p:nvPr/>
        </p:nvPicPr>
        <p:blipFill>
          <a:blip r:embed="rId4"/>
          <a:stretch>
            <a:fillRect/>
          </a:stretch>
        </p:blipFill>
        <p:spPr>
          <a:xfrm>
            <a:off x="777240" y="3227832"/>
            <a:ext cx="310896" cy="310896"/>
          </a:xfrm>
          <a:prstGeom prst="rect">
            <a:avLst/>
          </a:prstGeom>
        </p:spPr>
      </p:pic>
      <p:sp>
        <p:nvSpPr>
          <p:cNvPr id="14" name="Text 10"/>
          <p:cNvSpPr txBox="1"/>
          <p:nvPr/>
        </p:nvSpPr>
        <p:spPr>
          <a:xfrm>
            <a:off x="1280160" y="3081528"/>
            <a:ext cx="3657600" cy="603504"/>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Emoji thay chữ số</a:t>
            </a:r>
            <a:endParaRPr lang="en-US" sz="1600" dirty="0"/>
          </a:p>
        </p:txBody>
      </p:sp>
      <p:sp>
        <p:nvSpPr>
          <p:cNvPr id="15" name="Shape 11"/>
          <p:cNvSpPr/>
          <p:nvPr/>
        </p:nvSpPr>
        <p:spPr>
          <a:xfrm>
            <a:off x="548640" y="3831336"/>
            <a:ext cx="4572000" cy="603504"/>
          </a:xfrm>
          <a:prstGeom prst="roundRect">
            <a:avLst>
              <a:gd name="adj" fmla="val 15152"/>
            </a:avLst>
          </a:prstGeom>
          <a:solidFill>
            <a:srgbClr val="EAF2F3"/>
          </a:solidFill>
          <a:ln w="12700">
            <a:solidFill>
              <a:srgbClr val="EAF2F3"/>
            </a:solidFill>
            <a:prstDash val="solid"/>
          </a:ln>
        </p:spPr>
        <p:txBody>
          <a:bodyPr/>
          <a:lstStyle/>
          <a:p>
            <a:endParaRPr lang="en-VN"/>
          </a:p>
        </p:txBody>
      </p:sp>
      <p:pic>
        <p:nvPicPr>
          <p:cNvPr id="16" name="Image 2" descr="preencoded.png"/>
          <p:cNvPicPr>
            <a:picLocks noChangeAspect="1"/>
          </p:cNvPicPr>
          <p:nvPr/>
        </p:nvPicPr>
        <p:blipFill>
          <a:blip r:embed="rId5"/>
          <a:stretch>
            <a:fillRect/>
          </a:stretch>
        </p:blipFill>
        <p:spPr>
          <a:xfrm>
            <a:off x="777240" y="3977640"/>
            <a:ext cx="310896" cy="310896"/>
          </a:xfrm>
          <a:prstGeom prst="rect">
            <a:avLst/>
          </a:prstGeom>
        </p:spPr>
      </p:pic>
      <p:sp>
        <p:nvSpPr>
          <p:cNvPr id="17" name="Text 12"/>
          <p:cNvSpPr txBox="1"/>
          <p:nvPr/>
        </p:nvSpPr>
        <p:spPr>
          <a:xfrm>
            <a:off x="1280160" y="3831336"/>
            <a:ext cx="3657600" cy="603504"/>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Chữ cái thay số</a:t>
            </a:r>
            <a:endParaRPr lang="en-US" sz="1600" dirty="0"/>
          </a:p>
        </p:txBody>
      </p:sp>
      <p:sp>
        <p:nvSpPr>
          <p:cNvPr id="18" name="Shape 13"/>
          <p:cNvSpPr/>
          <p:nvPr/>
        </p:nvSpPr>
        <p:spPr>
          <a:xfrm>
            <a:off x="548640" y="4581144"/>
            <a:ext cx="4572000" cy="603504"/>
          </a:xfrm>
          <a:prstGeom prst="roundRect">
            <a:avLst>
              <a:gd name="adj" fmla="val 15152"/>
            </a:avLst>
          </a:prstGeom>
          <a:solidFill>
            <a:srgbClr val="EAF2F3"/>
          </a:solidFill>
          <a:ln w="12700">
            <a:solidFill>
              <a:srgbClr val="EAF2F3"/>
            </a:solidFill>
            <a:prstDash val="solid"/>
          </a:ln>
        </p:spPr>
        <p:txBody>
          <a:bodyPr/>
          <a:lstStyle/>
          <a:p>
            <a:endParaRPr lang="en-VN"/>
          </a:p>
        </p:txBody>
      </p:sp>
      <p:pic>
        <p:nvPicPr>
          <p:cNvPr id="19" name="Image 3" descr="preencoded.png"/>
          <p:cNvPicPr>
            <a:picLocks noChangeAspect="1"/>
          </p:cNvPicPr>
          <p:nvPr/>
        </p:nvPicPr>
        <p:blipFill>
          <a:blip r:embed="rId6"/>
          <a:stretch>
            <a:fillRect/>
          </a:stretch>
        </p:blipFill>
        <p:spPr>
          <a:xfrm>
            <a:off x="777240" y="4727448"/>
            <a:ext cx="310896" cy="310896"/>
          </a:xfrm>
          <a:prstGeom prst="rect">
            <a:avLst/>
          </a:prstGeom>
        </p:spPr>
      </p:pic>
      <p:sp>
        <p:nvSpPr>
          <p:cNvPr id="20" name="Text 14"/>
          <p:cNvSpPr txBox="1"/>
          <p:nvPr/>
        </p:nvSpPr>
        <p:spPr>
          <a:xfrm>
            <a:off x="1280160" y="4581144"/>
            <a:ext cx="3657600" cy="603504"/>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Số viết bằng chữ</a:t>
            </a:r>
            <a:endParaRPr lang="en-US" sz="1600" dirty="0"/>
          </a:p>
        </p:txBody>
      </p:sp>
      <p:sp>
        <p:nvSpPr>
          <p:cNvPr id="21" name="Shape 15"/>
          <p:cNvSpPr/>
          <p:nvPr/>
        </p:nvSpPr>
        <p:spPr>
          <a:xfrm>
            <a:off x="548640" y="5330952"/>
            <a:ext cx="4572000" cy="603504"/>
          </a:xfrm>
          <a:prstGeom prst="roundRect">
            <a:avLst>
              <a:gd name="adj" fmla="val 15152"/>
            </a:avLst>
          </a:prstGeom>
          <a:solidFill>
            <a:srgbClr val="EAF2F3"/>
          </a:solidFill>
          <a:ln w="12700">
            <a:solidFill>
              <a:srgbClr val="EAF2F3"/>
            </a:solidFill>
            <a:prstDash val="solid"/>
          </a:ln>
        </p:spPr>
        <p:txBody>
          <a:bodyPr/>
          <a:lstStyle/>
          <a:p>
            <a:endParaRPr lang="en-VN"/>
          </a:p>
        </p:txBody>
      </p:sp>
      <p:pic>
        <p:nvPicPr>
          <p:cNvPr id="22" name="Image 4" descr="preencoded.png"/>
          <p:cNvPicPr>
            <a:picLocks noChangeAspect="1"/>
          </p:cNvPicPr>
          <p:nvPr/>
        </p:nvPicPr>
        <p:blipFill>
          <a:blip r:embed="rId7"/>
          <a:stretch>
            <a:fillRect/>
          </a:stretch>
        </p:blipFill>
        <p:spPr>
          <a:xfrm>
            <a:off x="777240" y="5477256"/>
            <a:ext cx="310896" cy="310896"/>
          </a:xfrm>
          <a:prstGeom prst="rect">
            <a:avLst/>
          </a:prstGeom>
        </p:spPr>
      </p:pic>
      <p:sp>
        <p:nvSpPr>
          <p:cNvPr id="23" name="Text 16"/>
          <p:cNvSpPr txBox="1"/>
          <p:nvPr/>
        </p:nvSpPr>
        <p:spPr>
          <a:xfrm>
            <a:off x="1280160" y="5330952"/>
            <a:ext cx="3657600" cy="603504"/>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Ký tự vô hình chèn giữa</a:t>
            </a:r>
            <a:endParaRPr lang="en-US" sz="1600" dirty="0"/>
          </a:p>
        </p:txBody>
      </p:sp>
      <p:sp>
        <p:nvSpPr>
          <p:cNvPr id="24" name="Shape 17"/>
          <p:cNvSpPr/>
          <p:nvPr/>
        </p:nvSpPr>
        <p:spPr>
          <a:xfrm>
            <a:off x="5623560" y="1783080"/>
            <a:ext cx="1783080" cy="1965960"/>
          </a:xfrm>
          <a:prstGeom prst="roundRect">
            <a:avLst>
              <a:gd name="adj" fmla="val 5128"/>
            </a:avLst>
          </a:prstGeom>
          <a:solidFill>
            <a:srgbClr val="FFFFFF"/>
          </a:solidFill>
          <a:ln w="12700">
            <a:solidFill>
              <a:srgbClr val="D3DFE2"/>
            </a:solidFill>
            <a:prstDash val="solid"/>
          </a:ln>
        </p:spPr>
        <p:txBody>
          <a:bodyPr/>
          <a:lstStyle/>
          <a:p>
            <a:endParaRPr lang="en-VN"/>
          </a:p>
        </p:txBody>
      </p:sp>
      <p:sp>
        <p:nvSpPr>
          <p:cNvPr id="25" name="Text 18"/>
          <p:cNvSpPr txBox="1"/>
          <p:nvPr/>
        </p:nvSpPr>
        <p:spPr>
          <a:xfrm>
            <a:off x="5788152" y="1947672"/>
            <a:ext cx="1508760" cy="256032"/>
          </a:xfrm>
          <a:prstGeom prst="rect">
            <a:avLst/>
          </a:prstGeom>
          <a:noFill/>
          <a:ln/>
        </p:spPr>
        <p:txBody>
          <a:bodyPr wrap="square" lIns="0" tIns="0" rIns="0" bIns="0" rtlCol="0" anchor="t"/>
          <a:lstStyle/>
          <a:p>
            <a:pPr marL="0" indent="0">
              <a:buNone/>
            </a:pPr>
            <a:r>
              <a:rPr lang="en-US" sz="1100" b="1" kern="0" spc="100" dirty="0">
                <a:solidFill>
                  <a:srgbClr val="C8553A"/>
                </a:solidFill>
                <a:latin typeface="Calibri" pitchFamily="34" charset="0"/>
                <a:ea typeface="Calibri" pitchFamily="34" charset="-122"/>
                <a:cs typeface="Calibri" pitchFamily="34" charset="-120"/>
              </a:rPr>
              <a:t>BƯỚC 1</a:t>
            </a:r>
            <a:endParaRPr lang="en-US" sz="1100" dirty="0"/>
          </a:p>
        </p:txBody>
      </p:sp>
      <p:sp>
        <p:nvSpPr>
          <p:cNvPr id="26" name="Text 19"/>
          <p:cNvSpPr txBox="1"/>
          <p:nvPr/>
        </p:nvSpPr>
        <p:spPr>
          <a:xfrm>
            <a:off x="5788152" y="2221992"/>
            <a:ext cx="1508760" cy="457200"/>
          </a:xfrm>
          <a:prstGeom prst="rect">
            <a:avLst/>
          </a:prstGeom>
          <a:noFill/>
          <a:ln/>
        </p:spPr>
        <p:txBody>
          <a:bodyPr wrap="square" lIns="0" tIns="0" rIns="0" bIns="0" rtlCol="0" anchor="t"/>
          <a:lstStyle/>
          <a:p>
            <a:pPr marL="0" indent="0">
              <a:buNone/>
            </a:pPr>
            <a:r>
              <a:rPr lang="en-US" sz="1500" b="1" dirty="0">
                <a:solidFill>
                  <a:srgbClr val="13303A"/>
                </a:solidFill>
                <a:latin typeface="Calibri" pitchFamily="34" charset="0"/>
                <a:ea typeface="Calibri" pitchFamily="34" charset="-122"/>
                <a:cs typeface="Calibri" pitchFamily="34" charset="-120"/>
              </a:rPr>
              <a:t>Văn bản gốc</a:t>
            </a:r>
            <a:endParaRPr lang="en-US" sz="1500" dirty="0"/>
          </a:p>
        </p:txBody>
      </p:sp>
      <p:sp>
        <p:nvSpPr>
          <p:cNvPr id="27" name="Text 20"/>
          <p:cNvSpPr txBox="1"/>
          <p:nvPr/>
        </p:nvSpPr>
        <p:spPr>
          <a:xfrm>
            <a:off x="5788152" y="2697480"/>
            <a:ext cx="1490472" cy="960120"/>
          </a:xfrm>
          <a:prstGeom prst="rect">
            <a:avLst/>
          </a:prstGeom>
          <a:noFill/>
          <a:ln/>
        </p:spPr>
        <p:txBody>
          <a:bodyPr wrap="square" lIns="0" tIns="0" rIns="0" bIns="0" rtlCol="0" anchor="t"/>
          <a:lstStyle/>
          <a:p>
            <a:pPr marL="0" indent="0">
              <a:buNone/>
            </a:pPr>
            <a:r>
              <a:rPr lang="en-US" sz="1200" dirty="0">
                <a:solidFill>
                  <a:srgbClr val="1B2A30"/>
                </a:solidFill>
                <a:latin typeface="Calibri" pitchFamily="34" charset="0"/>
                <a:ea typeface="Calibri" pitchFamily="34" charset="-122"/>
                <a:cs typeface="Calibri" pitchFamily="34" charset="-120"/>
              </a:rPr>
              <a:t>tin rao đúng như người bán viết</a:t>
            </a:r>
            <a:endParaRPr lang="en-US" sz="1200" dirty="0"/>
          </a:p>
        </p:txBody>
      </p:sp>
      <p:sp>
        <p:nvSpPr>
          <p:cNvPr id="28" name="Shape 21"/>
          <p:cNvSpPr/>
          <p:nvPr/>
        </p:nvSpPr>
        <p:spPr>
          <a:xfrm>
            <a:off x="7443216" y="2766060"/>
            <a:ext cx="246888" cy="0"/>
          </a:xfrm>
          <a:prstGeom prst="line">
            <a:avLst/>
          </a:prstGeom>
          <a:noFill/>
          <a:ln w="19050">
            <a:solidFill>
              <a:srgbClr val="5B6D74"/>
            </a:solidFill>
            <a:prstDash val="solid"/>
            <a:tailEnd type="triangle"/>
          </a:ln>
        </p:spPr>
        <p:txBody>
          <a:bodyPr/>
          <a:lstStyle/>
          <a:p>
            <a:endParaRPr lang="en-VN"/>
          </a:p>
        </p:txBody>
      </p:sp>
      <p:sp>
        <p:nvSpPr>
          <p:cNvPr id="29" name="Shape 22"/>
          <p:cNvSpPr/>
          <p:nvPr/>
        </p:nvSpPr>
        <p:spPr>
          <a:xfrm>
            <a:off x="7726680" y="1783080"/>
            <a:ext cx="1783080" cy="1965960"/>
          </a:xfrm>
          <a:prstGeom prst="roundRect">
            <a:avLst>
              <a:gd name="adj" fmla="val 5128"/>
            </a:avLst>
          </a:prstGeom>
          <a:solidFill>
            <a:srgbClr val="13303A"/>
          </a:solidFill>
          <a:ln w="12700">
            <a:solidFill>
              <a:srgbClr val="13303A"/>
            </a:solidFill>
            <a:prstDash val="solid"/>
          </a:ln>
        </p:spPr>
        <p:txBody>
          <a:bodyPr/>
          <a:lstStyle/>
          <a:p>
            <a:endParaRPr lang="en-VN"/>
          </a:p>
        </p:txBody>
      </p:sp>
      <p:sp>
        <p:nvSpPr>
          <p:cNvPr id="30" name="Text 23"/>
          <p:cNvSpPr txBox="1"/>
          <p:nvPr/>
        </p:nvSpPr>
        <p:spPr>
          <a:xfrm>
            <a:off x="7891272" y="1947672"/>
            <a:ext cx="1508760" cy="256032"/>
          </a:xfrm>
          <a:prstGeom prst="rect">
            <a:avLst/>
          </a:prstGeom>
          <a:noFill/>
          <a:ln/>
        </p:spPr>
        <p:txBody>
          <a:bodyPr wrap="square" lIns="0" tIns="0" rIns="0" bIns="0" rtlCol="0" anchor="t"/>
          <a:lstStyle/>
          <a:p>
            <a:pPr marL="0" indent="0">
              <a:buNone/>
            </a:pPr>
            <a:r>
              <a:rPr lang="en-US" sz="1100" b="1" kern="0" spc="100" dirty="0">
                <a:solidFill>
                  <a:srgbClr val="F2A283"/>
                </a:solidFill>
                <a:latin typeface="Calibri" pitchFamily="34" charset="0"/>
                <a:ea typeface="Calibri" pitchFamily="34" charset="-122"/>
                <a:cs typeface="Calibri" pitchFamily="34" charset="-120"/>
              </a:rPr>
              <a:t>BƯỚC 2</a:t>
            </a:r>
            <a:endParaRPr lang="en-US" sz="1100" dirty="0"/>
          </a:p>
        </p:txBody>
      </p:sp>
      <p:sp>
        <p:nvSpPr>
          <p:cNvPr id="31" name="Text 24"/>
          <p:cNvSpPr txBox="1"/>
          <p:nvPr/>
        </p:nvSpPr>
        <p:spPr>
          <a:xfrm>
            <a:off x="7891272" y="2221992"/>
            <a:ext cx="1508760" cy="45720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Chuỗi chỉ-để-dò</a:t>
            </a:r>
            <a:endParaRPr lang="en-US" sz="1500" dirty="0"/>
          </a:p>
        </p:txBody>
      </p:sp>
      <p:sp>
        <p:nvSpPr>
          <p:cNvPr id="32" name="Text 25"/>
          <p:cNvSpPr txBox="1"/>
          <p:nvPr/>
        </p:nvSpPr>
        <p:spPr>
          <a:xfrm>
            <a:off x="7891272" y="2697480"/>
            <a:ext cx="1490472" cy="960120"/>
          </a:xfrm>
          <a:prstGeom prst="rect">
            <a:avLst/>
          </a:prstGeom>
          <a:noFill/>
          <a:ln/>
        </p:spPr>
        <p:txBody>
          <a:bodyPr wrap="square" lIns="0" tIns="0" rIns="0" bIns="0" rtlCol="0" anchor="t"/>
          <a:lstStyle/>
          <a:p>
            <a:pPr marL="0" indent="0">
              <a:buNone/>
            </a:pPr>
            <a:r>
              <a:rPr lang="en-US" sz="1200" dirty="0">
                <a:solidFill>
                  <a:srgbClr val="B4CAD0"/>
                </a:solidFill>
                <a:latin typeface="Calibri" pitchFamily="34" charset="0"/>
                <a:ea typeface="Calibri" pitchFamily="34" charset="-122"/>
                <a:cs typeface="Calibri" pitchFamily="34" charset="-120"/>
              </a:rPr>
              <a:t>quy mọi biến thể về chữ số, kèm bản đồ vị trí ngược về văn bản gốc</a:t>
            </a:r>
            <a:endParaRPr lang="en-US" sz="1200" dirty="0"/>
          </a:p>
        </p:txBody>
      </p:sp>
      <p:sp>
        <p:nvSpPr>
          <p:cNvPr id="33" name="Shape 26"/>
          <p:cNvSpPr/>
          <p:nvPr/>
        </p:nvSpPr>
        <p:spPr>
          <a:xfrm>
            <a:off x="9546336" y="2766060"/>
            <a:ext cx="246888" cy="0"/>
          </a:xfrm>
          <a:prstGeom prst="line">
            <a:avLst/>
          </a:prstGeom>
          <a:noFill/>
          <a:ln w="19050">
            <a:solidFill>
              <a:srgbClr val="5B6D74"/>
            </a:solidFill>
            <a:prstDash val="solid"/>
            <a:tailEnd type="triangle"/>
          </a:ln>
        </p:spPr>
        <p:txBody>
          <a:bodyPr/>
          <a:lstStyle/>
          <a:p>
            <a:endParaRPr lang="en-VN"/>
          </a:p>
        </p:txBody>
      </p:sp>
      <p:sp>
        <p:nvSpPr>
          <p:cNvPr id="34" name="Shape 27"/>
          <p:cNvSpPr/>
          <p:nvPr/>
        </p:nvSpPr>
        <p:spPr>
          <a:xfrm>
            <a:off x="9829800" y="1783080"/>
            <a:ext cx="1783080" cy="1965960"/>
          </a:xfrm>
          <a:prstGeom prst="roundRect">
            <a:avLst>
              <a:gd name="adj" fmla="val 5128"/>
            </a:avLst>
          </a:prstGeom>
          <a:solidFill>
            <a:srgbClr val="FFFFFF"/>
          </a:solidFill>
          <a:ln w="12700">
            <a:solidFill>
              <a:srgbClr val="D3DFE2"/>
            </a:solidFill>
            <a:prstDash val="solid"/>
          </a:ln>
        </p:spPr>
        <p:txBody>
          <a:bodyPr/>
          <a:lstStyle/>
          <a:p>
            <a:endParaRPr lang="en-VN"/>
          </a:p>
        </p:txBody>
      </p:sp>
      <p:sp>
        <p:nvSpPr>
          <p:cNvPr id="35" name="Text 28"/>
          <p:cNvSpPr txBox="1"/>
          <p:nvPr/>
        </p:nvSpPr>
        <p:spPr>
          <a:xfrm>
            <a:off x="9994392" y="1947672"/>
            <a:ext cx="1508760" cy="256032"/>
          </a:xfrm>
          <a:prstGeom prst="rect">
            <a:avLst/>
          </a:prstGeom>
          <a:noFill/>
          <a:ln/>
        </p:spPr>
        <p:txBody>
          <a:bodyPr wrap="square" lIns="0" tIns="0" rIns="0" bIns="0" rtlCol="0" anchor="t"/>
          <a:lstStyle/>
          <a:p>
            <a:pPr marL="0" indent="0">
              <a:buNone/>
            </a:pPr>
            <a:r>
              <a:rPr lang="en-US" sz="1100" b="1" kern="0" spc="100" dirty="0">
                <a:solidFill>
                  <a:srgbClr val="C8553A"/>
                </a:solidFill>
                <a:latin typeface="Calibri" pitchFamily="34" charset="0"/>
                <a:ea typeface="Calibri" pitchFamily="34" charset="-122"/>
                <a:cs typeface="Calibri" pitchFamily="34" charset="-120"/>
              </a:rPr>
              <a:t>BƯỚC 3</a:t>
            </a:r>
            <a:endParaRPr lang="en-US" sz="1100" dirty="0"/>
          </a:p>
        </p:txBody>
      </p:sp>
      <p:sp>
        <p:nvSpPr>
          <p:cNvPr id="36" name="Text 29"/>
          <p:cNvSpPr txBox="1"/>
          <p:nvPr/>
        </p:nvSpPr>
        <p:spPr>
          <a:xfrm>
            <a:off x="9994392" y="2221992"/>
            <a:ext cx="1508760" cy="457200"/>
          </a:xfrm>
          <a:prstGeom prst="rect">
            <a:avLst/>
          </a:prstGeom>
          <a:noFill/>
          <a:ln/>
        </p:spPr>
        <p:txBody>
          <a:bodyPr wrap="square" lIns="0" tIns="0" rIns="0" bIns="0" rtlCol="0" anchor="t"/>
          <a:lstStyle/>
          <a:p>
            <a:pPr marL="0" indent="0">
              <a:buNone/>
            </a:pPr>
            <a:r>
              <a:rPr lang="en-US" sz="1500" b="1" dirty="0">
                <a:solidFill>
                  <a:srgbClr val="13303A"/>
                </a:solidFill>
                <a:latin typeface="Calibri" pitchFamily="34" charset="0"/>
                <a:ea typeface="Calibri" pitchFamily="34" charset="-122"/>
                <a:cs typeface="Calibri" pitchFamily="34" charset="-120"/>
              </a:rPr>
              <a:t>Xoá đúng đoạn số</a:t>
            </a:r>
            <a:endParaRPr lang="en-US" sz="1500" dirty="0"/>
          </a:p>
        </p:txBody>
      </p:sp>
      <p:sp>
        <p:nvSpPr>
          <p:cNvPr id="37" name="Text 30"/>
          <p:cNvSpPr txBox="1"/>
          <p:nvPr/>
        </p:nvSpPr>
        <p:spPr>
          <a:xfrm>
            <a:off x="9994392" y="2697480"/>
            <a:ext cx="1490472" cy="960120"/>
          </a:xfrm>
          <a:prstGeom prst="rect">
            <a:avLst/>
          </a:prstGeom>
          <a:noFill/>
          <a:ln/>
        </p:spPr>
        <p:txBody>
          <a:bodyPr wrap="square" lIns="0" tIns="0" rIns="0" bIns="0" rtlCol="0" anchor="t"/>
          <a:lstStyle/>
          <a:p>
            <a:pPr marL="0" indent="0">
              <a:buNone/>
            </a:pPr>
            <a:r>
              <a:rPr lang="en-US" sz="1200" dirty="0">
                <a:solidFill>
                  <a:srgbClr val="1B2A30"/>
                </a:solidFill>
                <a:latin typeface="Calibri" pitchFamily="34" charset="0"/>
                <a:ea typeface="Calibri" pitchFamily="34" charset="-122"/>
                <a:cs typeface="Calibri" pitchFamily="34" charset="-120"/>
              </a:rPr>
              <a:t>chỉ ký tự thuộc số điện thoại bị xoá, phần còn lại giữ nguyên</a:t>
            </a:r>
            <a:endParaRPr lang="en-US" sz="1200" dirty="0"/>
          </a:p>
        </p:txBody>
      </p:sp>
      <p:sp>
        <p:nvSpPr>
          <p:cNvPr id="38" name="Shape 31"/>
          <p:cNvSpPr/>
          <p:nvPr/>
        </p:nvSpPr>
        <p:spPr>
          <a:xfrm>
            <a:off x="5623560" y="4023360"/>
            <a:ext cx="2926080" cy="2103120"/>
          </a:xfrm>
          <a:prstGeom prst="roundRect">
            <a:avLst>
              <a:gd name="adj" fmla="val 4348"/>
            </a:avLst>
          </a:prstGeom>
          <a:solidFill>
            <a:srgbClr val="FBEAE3"/>
          </a:solidFill>
          <a:ln w="12700">
            <a:solidFill>
              <a:srgbClr val="FBEAE3"/>
            </a:solidFill>
            <a:prstDash val="solid"/>
          </a:ln>
        </p:spPr>
        <p:txBody>
          <a:bodyPr/>
          <a:lstStyle/>
          <a:p>
            <a:endParaRPr lang="en-VN"/>
          </a:p>
        </p:txBody>
      </p:sp>
      <p:sp>
        <p:nvSpPr>
          <p:cNvPr id="39" name="Text 32"/>
          <p:cNvSpPr txBox="1"/>
          <p:nvPr/>
        </p:nvSpPr>
        <p:spPr>
          <a:xfrm>
            <a:off x="5897880" y="4114800"/>
            <a:ext cx="2377440" cy="1005840"/>
          </a:xfrm>
          <a:prstGeom prst="rect">
            <a:avLst/>
          </a:prstGeom>
          <a:noFill/>
          <a:ln/>
        </p:spPr>
        <p:txBody>
          <a:bodyPr wrap="square" lIns="0" tIns="0" rIns="0" bIns="0" rtlCol="0" anchor="t"/>
          <a:lstStyle/>
          <a:p>
            <a:pPr marL="0" indent="0">
              <a:buNone/>
            </a:pPr>
            <a:r>
              <a:rPr lang="en-US" sz="6400" b="1" dirty="0">
                <a:solidFill>
                  <a:srgbClr val="C8553A"/>
                </a:solidFill>
                <a:latin typeface="Calibri" pitchFamily="34" charset="0"/>
                <a:ea typeface="Calibri" pitchFamily="34" charset="-122"/>
                <a:cs typeface="Calibri" pitchFamily="34" charset="-120"/>
              </a:rPr>
              <a:t>14</a:t>
            </a:r>
            <a:endParaRPr lang="en-US" sz="6400" dirty="0"/>
          </a:p>
        </p:txBody>
      </p:sp>
      <p:sp>
        <p:nvSpPr>
          <p:cNvPr id="40" name="Text 33"/>
          <p:cNvSpPr txBox="1"/>
          <p:nvPr/>
        </p:nvSpPr>
        <p:spPr>
          <a:xfrm>
            <a:off x="5897880" y="5166360"/>
            <a:ext cx="2468880" cy="73152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kiểu nguỵ trang được phủ bằng test</a:t>
            </a:r>
            <a:endParaRPr lang="en-US" sz="1500" dirty="0"/>
          </a:p>
        </p:txBody>
      </p:sp>
      <p:sp>
        <p:nvSpPr>
          <p:cNvPr id="41" name="Shape 34"/>
          <p:cNvSpPr/>
          <p:nvPr/>
        </p:nvSpPr>
        <p:spPr>
          <a:xfrm>
            <a:off x="8686800" y="4023360"/>
            <a:ext cx="2926080" cy="2103120"/>
          </a:xfrm>
          <a:prstGeom prst="roundRect">
            <a:avLst>
              <a:gd name="adj" fmla="val 4348"/>
            </a:avLst>
          </a:prstGeom>
          <a:solidFill>
            <a:srgbClr val="EAF2F3"/>
          </a:solidFill>
          <a:ln w="12700">
            <a:solidFill>
              <a:srgbClr val="EAF2F3"/>
            </a:solidFill>
            <a:prstDash val="solid"/>
          </a:ln>
        </p:spPr>
        <p:txBody>
          <a:bodyPr/>
          <a:lstStyle/>
          <a:p>
            <a:endParaRPr lang="en-VN"/>
          </a:p>
        </p:txBody>
      </p:sp>
      <p:sp>
        <p:nvSpPr>
          <p:cNvPr id="42" name="Text 35"/>
          <p:cNvSpPr txBox="1"/>
          <p:nvPr/>
        </p:nvSpPr>
        <p:spPr>
          <a:xfrm>
            <a:off x="8961120" y="4114800"/>
            <a:ext cx="2377440" cy="1005840"/>
          </a:xfrm>
          <a:prstGeom prst="rect">
            <a:avLst/>
          </a:prstGeom>
          <a:noFill/>
          <a:ln/>
        </p:spPr>
        <p:txBody>
          <a:bodyPr wrap="square" lIns="0" tIns="0" rIns="0" bIns="0" rtlCol="0" anchor="t"/>
          <a:lstStyle/>
          <a:p>
            <a:pPr marL="0" indent="0">
              <a:buNone/>
            </a:pPr>
            <a:r>
              <a:rPr lang="en-US" sz="6400" b="1" dirty="0">
                <a:solidFill>
                  <a:srgbClr val="13303A"/>
                </a:solidFill>
                <a:latin typeface="Calibri" pitchFamily="34" charset="0"/>
                <a:ea typeface="Calibri" pitchFamily="34" charset="-122"/>
                <a:cs typeface="Calibri" pitchFamily="34" charset="-120"/>
              </a:rPr>
              <a:t>0</a:t>
            </a:r>
            <a:endParaRPr lang="en-US" sz="6400" dirty="0"/>
          </a:p>
        </p:txBody>
      </p:sp>
      <p:sp>
        <p:nvSpPr>
          <p:cNvPr id="43" name="Text 36"/>
          <p:cNvSpPr txBox="1"/>
          <p:nvPr/>
        </p:nvSpPr>
        <p:spPr>
          <a:xfrm>
            <a:off x="8961120" y="5166360"/>
            <a:ext cx="2468880" cy="73152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số điện thoại sót lại trong kho thô</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ĐẶC TRƯNG TỪ VĂN BẢN</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Trích đặc trưng định lượng từ văn bản</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Text 6"/>
          <p:cNvSpPr txBox="1"/>
          <p:nvPr/>
        </p:nvSpPr>
        <p:spPr>
          <a:xfrm>
            <a:off x="548640" y="1737360"/>
            <a:ext cx="10972800" cy="411480"/>
          </a:xfrm>
          <a:prstGeom prst="rect">
            <a:avLst/>
          </a:prstGeom>
          <a:noFill/>
          <a:ln/>
        </p:spPr>
        <p:txBody>
          <a:bodyPr wrap="square" lIns="0" tIns="0" rIns="0" bIns="0" rtlCol="0" anchor="t"/>
          <a:lstStyle/>
          <a:p>
            <a:pPr marL="0" indent="0">
              <a:buNone/>
            </a:pPr>
            <a:r>
              <a:rPr lang="en-US" sz="1800" b="1" dirty="0">
                <a:solidFill>
                  <a:srgbClr val="1B2A30"/>
                </a:solidFill>
                <a:latin typeface="Calibri" pitchFamily="34" charset="0"/>
                <a:ea typeface="Calibri" pitchFamily="34" charset="-122"/>
                <a:cs typeface="Calibri" pitchFamily="34" charset="-120"/>
              </a:rPr>
              <a:t>Bảy trường rút bằng regex. </a:t>
            </a:r>
            <a:r>
              <a:rPr lang="en-US" sz="1800" dirty="0">
                <a:solidFill>
                  <a:srgbClr val="1B2A30"/>
                </a:solidFill>
                <a:latin typeface="Calibri" pitchFamily="34" charset="0"/>
                <a:ea typeface="Calibri" pitchFamily="34" charset="-122"/>
                <a:cs typeface="Calibri" pitchFamily="34" charset="-120"/>
              </a:rPr>
              <a:t>Ba luật khó nhất:</a:t>
            </a:r>
            <a:endParaRPr lang="en-US" sz="1800" dirty="0"/>
          </a:p>
        </p:txBody>
      </p:sp>
      <p:sp>
        <p:nvSpPr>
          <p:cNvPr id="9" name="Text 7"/>
          <p:cNvSpPr txBox="1"/>
          <p:nvPr/>
        </p:nvSpPr>
        <p:spPr>
          <a:xfrm>
            <a:off x="548640" y="2267712"/>
            <a:ext cx="2743200" cy="274320"/>
          </a:xfrm>
          <a:prstGeom prst="rect">
            <a:avLst/>
          </a:prstGeom>
          <a:noFill/>
          <a:ln/>
        </p:spPr>
        <p:txBody>
          <a:bodyPr wrap="square" lIns="0" tIns="0" rIns="0" bIns="0" rtlCol="0" anchor="t"/>
          <a:lstStyle/>
          <a:p>
            <a:pPr marL="0" indent="0">
              <a:buNone/>
            </a:pPr>
            <a:r>
              <a:rPr lang="en-US" sz="1100" b="1" kern="0" spc="100" dirty="0">
                <a:solidFill>
                  <a:srgbClr val="5B6D74"/>
                </a:solidFill>
                <a:latin typeface="Calibri" pitchFamily="34" charset="0"/>
                <a:ea typeface="Calibri" pitchFamily="34" charset="-122"/>
                <a:cs typeface="Calibri" pitchFamily="34" charset="-120"/>
              </a:rPr>
              <a:t>TIN RAO VIẾT</a:t>
            </a:r>
            <a:endParaRPr lang="en-US" sz="1100" dirty="0"/>
          </a:p>
        </p:txBody>
      </p:sp>
      <p:sp>
        <p:nvSpPr>
          <p:cNvPr id="10" name="Text 8"/>
          <p:cNvSpPr txBox="1"/>
          <p:nvPr/>
        </p:nvSpPr>
        <p:spPr>
          <a:xfrm>
            <a:off x="4069080" y="2267712"/>
            <a:ext cx="2743200" cy="274320"/>
          </a:xfrm>
          <a:prstGeom prst="rect">
            <a:avLst/>
          </a:prstGeom>
          <a:noFill/>
          <a:ln/>
        </p:spPr>
        <p:txBody>
          <a:bodyPr wrap="square" lIns="0" tIns="0" rIns="0" bIns="0" rtlCol="0" anchor="t"/>
          <a:lstStyle/>
          <a:p>
            <a:pPr marL="0" indent="0">
              <a:buNone/>
            </a:pPr>
            <a:r>
              <a:rPr lang="en-US" sz="1100" b="1" kern="0" spc="100" dirty="0">
                <a:solidFill>
                  <a:srgbClr val="5B6D74"/>
                </a:solidFill>
                <a:latin typeface="Calibri" pitchFamily="34" charset="0"/>
                <a:ea typeface="Calibri" pitchFamily="34" charset="-122"/>
                <a:cs typeface="Calibri" pitchFamily="34" charset="-120"/>
              </a:rPr>
              <a:t>BỘ LUẬT HIỂU LÀ</a:t>
            </a:r>
            <a:endParaRPr lang="en-US" sz="1100" dirty="0"/>
          </a:p>
        </p:txBody>
      </p:sp>
      <p:sp>
        <p:nvSpPr>
          <p:cNvPr id="11" name="Text 9"/>
          <p:cNvSpPr txBox="1"/>
          <p:nvPr/>
        </p:nvSpPr>
        <p:spPr>
          <a:xfrm>
            <a:off x="6766560" y="2267712"/>
            <a:ext cx="2743200" cy="274320"/>
          </a:xfrm>
          <a:prstGeom prst="rect">
            <a:avLst/>
          </a:prstGeom>
          <a:noFill/>
          <a:ln/>
        </p:spPr>
        <p:txBody>
          <a:bodyPr wrap="square" lIns="0" tIns="0" rIns="0" bIns="0" rtlCol="0" anchor="t"/>
          <a:lstStyle/>
          <a:p>
            <a:pPr marL="0" indent="0">
              <a:buNone/>
            </a:pPr>
            <a:r>
              <a:rPr lang="en-US" sz="1100" b="1" kern="0" spc="100" dirty="0">
                <a:solidFill>
                  <a:srgbClr val="5B6D74"/>
                </a:solidFill>
                <a:latin typeface="Calibri" pitchFamily="34" charset="0"/>
                <a:ea typeface="Calibri" pitchFamily="34" charset="-122"/>
                <a:cs typeface="Calibri" pitchFamily="34" charset="-120"/>
              </a:rPr>
              <a:t>VÌ SAO KHÓ</a:t>
            </a:r>
            <a:endParaRPr lang="en-US" sz="1100" dirty="0"/>
          </a:p>
        </p:txBody>
      </p:sp>
      <p:sp>
        <p:nvSpPr>
          <p:cNvPr id="12" name="Shape 10"/>
          <p:cNvSpPr/>
          <p:nvPr/>
        </p:nvSpPr>
        <p:spPr>
          <a:xfrm>
            <a:off x="548640" y="2606040"/>
            <a:ext cx="3063240" cy="1051560"/>
          </a:xfrm>
          <a:prstGeom prst="roundRect">
            <a:avLst>
              <a:gd name="adj" fmla="val 8696"/>
            </a:avLst>
          </a:prstGeom>
          <a:solidFill>
            <a:srgbClr val="FBEAE3"/>
          </a:solidFill>
          <a:ln w="12700">
            <a:solidFill>
              <a:srgbClr val="FBEAE3"/>
            </a:solidFill>
            <a:prstDash val="solid"/>
          </a:ln>
        </p:spPr>
        <p:txBody>
          <a:bodyPr/>
          <a:lstStyle/>
          <a:p>
            <a:endParaRPr lang="en-VN"/>
          </a:p>
        </p:txBody>
      </p:sp>
      <p:sp>
        <p:nvSpPr>
          <p:cNvPr id="13" name="Text 11"/>
          <p:cNvSpPr txBox="1"/>
          <p:nvPr/>
        </p:nvSpPr>
        <p:spPr>
          <a:xfrm>
            <a:off x="640080" y="2606040"/>
            <a:ext cx="2880360" cy="1051560"/>
          </a:xfrm>
          <a:prstGeom prst="rect">
            <a:avLst/>
          </a:prstGeom>
          <a:noFill/>
          <a:ln/>
        </p:spPr>
        <p:txBody>
          <a:bodyPr wrap="square" lIns="0" tIns="0" rIns="0" bIns="0" rtlCol="0" anchor="ctr"/>
          <a:lstStyle/>
          <a:p>
            <a:pPr marL="0" indent="0" algn="ctr">
              <a:buNone/>
            </a:pPr>
            <a:r>
              <a:rPr lang="en-US" sz="2200" b="1" dirty="0">
                <a:solidFill>
                  <a:srgbClr val="C8553A"/>
                </a:solidFill>
                <a:latin typeface="Calibri" pitchFamily="34" charset="0"/>
                <a:ea typeface="Calibri" pitchFamily="34" charset="-122"/>
                <a:cs typeface="Calibri" pitchFamily="34" charset="-120"/>
              </a:rPr>
              <a:t>“1 trệt 2 lầu”</a:t>
            </a:r>
            <a:endParaRPr lang="en-US" sz="2200" dirty="0"/>
          </a:p>
        </p:txBody>
      </p:sp>
      <p:sp>
        <p:nvSpPr>
          <p:cNvPr id="14" name="Shape 12"/>
          <p:cNvSpPr/>
          <p:nvPr/>
        </p:nvSpPr>
        <p:spPr>
          <a:xfrm>
            <a:off x="3657600" y="3131820"/>
            <a:ext cx="365760" cy="0"/>
          </a:xfrm>
          <a:prstGeom prst="line">
            <a:avLst/>
          </a:prstGeom>
          <a:noFill/>
          <a:ln w="19050">
            <a:solidFill>
              <a:srgbClr val="5B6D74"/>
            </a:solidFill>
            <a:prstDash val="solid"/>
            <a:tailEnd type="triangle"/>
          </a:ln>
        </p:spPr>
        <p:txBody>
          <a:bodyPr/>
          <a:lstStyle/>
          <a:p>
            <a:endParaRPr lang="en-VN"/>
          </a:p>
        </p:txBody>
      </p:sp>
      <p:sp>
        <p:nvSpPr>
          <p:cNvPr id="15" name="Shape 13"/>
          <p:cNvSpPr/>
          <p:nvPr/>
        </p:nvSpPr>
        <p:spPr>
          <a:xfrm>
            <a:off x="4069080" y="2606040"/>
            <a:ext cx="2423160" cy="1051560"/>
          </a:xfrm>
          <a:prstGeom prst="roundRect">
            <a:avLst>
              <a:gd name="adj" fmla="val 8696"/>
            </a:avLst>
          </a:prstGeom>
          <a:solidFill>
            <a:srgbClr val="13303A"/>
          </a:solidFill>
          <a:ln w="12700">
            <a:solidFill>
              <a:srgbClr val="13303A"/>
            </a:solidFill>
            <a:prstDash val="solid"/>
          </a:ln>
        </p:spPr>
        <p:txBody>
          <a:bodyPr/>
          <a:lstStyle/>
          <a:p>
            <a:endParaRPr lang="en-VN"/>
          </a:p>
        </p:txBody>
      </p:sp>
      <p:sp>
        <p:nvSpPr>
          <p:cNvPr id="16" name="Text 14"/>
          <p:cNvSpPr txBox="1"/>
          <p:nvPr/>
        </p:nvSpPr>
        <p:spPr>
          <a:xfrm>
            <a:off x="4160520" y="2606040"/>
            <a:ext cx="2240280" cy="10515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 tầng</a:t>
            </a:r>
            <a:endParaRPr lang="en-US" sz="1800" dirty="0"/>
          </a:p>
        </p:txBody>
      </p:sp>
      <p:sp>
        <p:nvSpPr>
          <p:cNvPr id="17" name="Text 15"/>
          <p:cNvSpPr txBox="1"/>
          <p:nvPr/>
        </p:nvSpPr>
        <p:spPr>
          <a:xfrm>
            <a:off x="6766560" y="2606040"/>
            <a:ext cx="4846320" cy="1051560"/>
          </a:xfrm>
          <a:prstGeom prst="rect">
            <a:avLst/>
          </a:prstGeom>
          <a:noFill/>
          <a:ln/>
        </p:spPr>
        <p:txBody>
          <a:bodyPr wrap="square" lIns="0" tIns="0" rIns="0" bIns="0" rtlCol="0" anchor="ctr"/>
          <a:lstStyle/>
          <a:p>
            <a:pPr marL="0" indent="0">
              <a:buNone/>
            </a:pPr>
            <a:r>
              <a:rPr lang="en-US" sz="1600" b="1" dirty="0">
                <a:solidFill>
                  <a:srgbClr val="1B2A30"/>
                </a:solidFill>
                <a:latin typeface="Calibri" pitchFamily="34" charset="0"/>
                <a:ea typeface="Calibri" pitchFamily="34" charset="-122"/>
                <a:cs typeface="Calibri" pitchFamily="34" charset="-120"/>
              </a:rPr>
              <a:t>Đếm tầng bằng phép cộng. </a:t>
            </a:r>
            <a:r>
              <a:rPr lang="en-US" sz="1600" dirty="0">
                <a:solidFill>
                  <a:srgbClr val="1B2A30"/>
                </a:solidFill>
                <a:latin typeface="Calibri" pitchFamily="34" charset="0"/>
                <a:ea typeface="Calibri" pitchFamily="34" charset="-122"/>
                <a:cs typeface="Calibri" pitchFamily="34" charset="-120"/>
              </a:rPr>
              <a:t>Tiếng Việt gọi tên từng thành phần: trệt + 2 lầu = 3 tầng.</a:t>
            </a:r>
            <a:endParaRPr lang="en-US" sz="1600" dirty="0"/>
          </a:p>
        </p:txBody>
      </p:sp>
      <p:sp>
        <p:nvSpPr>
          <p:cNvPr id="18" name="Shape 16"/>
          <p:cNvSpPr/>
          <p:nvPr/>
        </p:nvSpPr>
        <p:spPr>
          <a:xfrm>
            <a:off x="548640" y="3840480"/>
            <a:ext cx="3063240" cy="1051560"/>
          </a:xfrm>
          <a:prstGeom prst="roundRect">
            <a:avLst>
              <a:gd name="adj" fmla="val 8696"/>
            </a:avLst>
          </a:prstGeom>
          <a:solidFill>
            <a:srgbClr val="FBEAE3"/>
          </a:solidFill>
          <a:ln w="12700">
            <a:solidFill>
              <a:srgbClr val="FBEAE3"/>
            </a:solidFill>
            <a:prstDash val="solid"/>
          </a:ln>
        </p:spPr>
        <p:txBody>
          <a:bodyPr/>
          <a:lstStyle/>
          <a:p>
            <a:endParaRPr lang="en-VN"/>
          </a:p>
        </p:txBody>
      </p:sp>
      <p:sp>
        <p:nvSpPr>
          <p:cNvPr id="19" name="Text 17"/>
          <p:cNvSpPr txBox="1"/>
          <p:nvPr/>
        </p:nvSpPr>
        <p:spPr>
          <a:xfrm>
            <a:off x="640080" y="3840480"/>
            <a:ext cx="2880360" cy="1051560"/>
          </a:xfrm>
          <a:prstGeom prst="rect">
            <a:avLst/>
          </a:prstGeom>
          <a:noFill/>
          <a:ln/>
        </p:spPr>
        <p:txBody>
          <a:bodyPr wrap="square" lIns="0" tIns="0" rIns="0" bIns="0" rtlCol="0" anchor="ctr"/>
          <a:lstStyle/>
          <a:p>
            <a:pPr marL="0" indent="0" algn="ctr">
              <a:buNone/>
            </a:pPr>
            <a:r>
              <a:rPr lang="en-US" sz="2400" b="1" dirty="0">
                <a:solidFill>
                  <a:srgbClr val="C8553A"/>
                </a:solidFill>
                <a:latin typeface="Calibri" pitchFamily="34" charset="0"/>
                <a:ea typeface="Calibri" pitchFamily="34" charset="-122"/>
                <a:cs typeface="Calibri" pitchFamily="34" charset="-120"/>
              </a:rPr>
              <a:t>“4x15”</a:t>
            </a:r>
            <a:endParaRPr lang="en-US" sz="2400" dirty="0"/>
          </a:p>
        </p:txBody>
      </p:sp>
      <p:sp>
        <p:nvSpPr>
          <p:cNvPr id="20" name="Shape 18"/>
          <p:cNvSpPr/>
          <p:nvPr/>
        </p:nvSpPr>
        <p:spPr>
          <a:xfrm>
            <a:off x="3657600" y="4366260"/>
            <a:ext cx="365760" cy="0"/>
          </a:xfrm>
          <a:prstGeom prst="line">
            <a:avLst/>
          </a:prstGeom>
          <a:noFill/>
          <a:ln w="19050">
            <a:solidFill>
              <a:srgbClr val="5B6D74"/>
            </a:solidFill>
            <a:prstDash val="solid"/>
            <a:tailEnd type="triangle"/>
          </a:ln>
        </p:spPr>
        <p:txBody>
          <a:bodyPr/>
          <a:lstStyle/>
          <a:p>
            <a:endParaRPr lang="en-VN"/>
          </a:p>
        </p:txBody>
      </p:sp>
      <p:sp>
        <p:nvSpPr>
          <p:cNvPr id="21" name="Shape 19"/>
          <p:cNvSpPr/>
          <p:nvPr/>
        </p:nvSpPr>
        <p:spPr>
          <a:xfrm>
            <a:off x="4069080" y="3840480"/>
            <a:ext cx="2423160" cy="1051560"/>
          </a:xfrm>
          <a:prstGeom prst="roundRect">
            <a:avLst>
              <a:gd name="adj" fmla="val 8696"/>
            </a:avLst>
          </a:prstGeom>
          <a:solidFill>
            <a:srgbClr val="13303A"/>
          </a:solidFill>
          <a:ln w="12700">
            <a:solidFill>
              <a:srgbClr val="13303A"/>
            </a:solidFill>
            <a:prstDash val="solid"/>
          </a:ln>
        </p:spPr>
        <p:txBody>
          <a:bodyPr/>
          <a:lstStyle/>
          <a:p>
            <a:endParaRPr lang="en-VN"/>
          </a:p>
        </p:txBody>
      </p:sp>
      <p:sp>
        <p:nvSpPr>
          <p:cNvPr id="22" name="Text 20"/>
          <p:cNvSpPr txBox="1"/>
          <p:nvPr/>
        </p:nvSpPr>
        <p:spPr>
          <a:xfrm>
            <a:off x="4160520" y="3840480"/>
            <a:ext cx="2240280" cy="10515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60 m² · mặt tiền 4 m</a:t>
            </a:r>
            <a:endParaRPr lang="en-US" sz="1800" dirty="0"/>
          </a:p>
        </p:txBody>
      </p:sp>
      <p:sp>
        <p:nvSpPr>
          <p:cNvPr id="23" name="Text 21"/>
          <p:cNvSpPr txBox="1"/>
          <p:nvPr/>
        </p:nvSpPr>
        <p:spPr>
          <a:xfrm>
            <a:off x="6766560" y="3840480"/>
            <a:ext cx="4846320" cy="1051560"/>
          </a:xfrm>
          <a:prstGeom prst="rect">
            <a:avLst/>
          </a:prstGeom>
          <a:noFill/>
          <a:ln/>
        </p:spPr>
        <p:txBody>
          <a:bodyPr wrap="square" lIns="0" tIns="0" rIns="0" bIns="0" rtlCol="0" anchor="ctr"/>
          <a:lstStyle/>
          <a:p>
            <a:pPr marL="0" indent="0">
              <a:buNone/>
            </a:pPr>
            <a:r>
              <a:rPr lang="en-US" sz="1600" b="1" dirty="0">
                <a:solidFill>
                  <a:srgbClr val="1B2A30"/>
                </a:solidFill>
                <a:latin typeface="Calibri" pitchFamily="34" charset="0"/>
                <a:ea typeface="Calibri" pitchFamily="34" charset="-122"/>
                <a:cs typeface="Calibri" pitchFamily="34" charset="-120"/>
              </a:rPr>
              <a:t>Kích thước, không phải diện tích. </a:t>
            </a:r>
            <a:r>
              <a:rPr lang="en-US" sz="1600" dirty="0">
                <a:solidFill>
                  <a:srgbClr val="1B2A30"/>
                </a:solidFill>
                <a:latin typeface="Calibri" pitchFamily="34" charset="0"/>
                <a:ea typeface="Calibri" pitchFamily="34" charset="-122"/>
                <a:cs typeface="Calibri" pitchFamily="34" charset="-120"/>
              </a:rPr>
              <a:t>Phải nhân ra, và chiều ngang chính là mặt tiền.</a:t>
            </a:r>
            <a:endParaRPr lang="en-US" sz="1600" dirty="0"/>
          </a:p>
        </p:txBody>
      </p:sp>
      <p:sp>
        <p:nvSpPr>
          <p:cNvPr id="24" name="Shape 22"/>
          <p:cNvSpPr/>
          <p:nvPr/>
        </p:nvSpPr>
        <p:spPr>
          <a:xfrm>
            <a:off x="548640" y="5074920"/>
            <a:ext cx="3063240" cy="1051560"/>
          </a:xfrm>
          <a:prstGeom prst="roundRect">
            <a:avLst>
              <a:gd name="adj" fmla="val 8696"/>
            </a:avLst>
          </a:prstGeom>
          <a:solidFill>
            <a:srgbClr val="FBEAE3"/>
          </a:solidFill>
          <a:ln w="12700">
            <a:solidFill>
              <a:srgbClr val="FBEAE3"/>
            </a:solidFill>
            <a:prstDash val="solid"/>
          </a:ln>
        </p:spPr>
        <p:txBody>
          <a:bodyPr/>
          <a:lstStyle/>
          <a:p>
            <a:endParaRPr lang="en-VN"/>
          </a:p>
        </p:txBody>
      </p:sp>
      <p:sp>
        <p:nvSpPr>
          <p:cNvPr id="25" name="Text 23"/>
          <p:cNvSpPr txBox="1"/>
          <p:nvPr/>
        </p:nvSpPr>
        <p:spPr>
          <a:xfrm>
            <a:off x="640080" y="5074920"/>
            <a:ext cx="2880360" cy="1051560"/>
          </a:xfrm>
          <a:prstGeom prst="rect">
            <a:avLst/>
          </a:prstGeom>
          <a:noFill/>
          <a:ln/>
        </p:spPr>
        <p:txBody>
          <a:bodyPr wrap="square" lIns="0" tIns="0" rIns="0" bIns="0" rtlCol="0" anchor="ctr"/>
          <a:lstStyle/>
          <a:p>
            <a:pPr marL="0" indent="0" algn="ctr">
              <a:buNone/>
            </a:pPr>
            <a:r>
              <a:rPr lang="en-US" sz="1700" b="1" dirty="0">
                <a:solidFill>
                  <a:srgbClr val="C8553A"/>
                </a:solidFill>
                <a:latin typeface="Calibri" pitchFamily="34" charset="0"/>
                <a:ea typeface="Calibri" pitchFamily="34" charset="-122"/>
                <a:cs typeface="Calibri" pitchFamily="34" charset="-120"/>
              </a:rPr>
              <a:t>“nhà mặt tiền”</a:t>
            </a:r>
            <a:endParaRPr lang="en-US" sz="1700" dirty="0"/>
          </a:p>
          <a:p>
            <a:pPr marL="0" indent="0" algn="ctr">
              <a:buNone/>
            </a:pPr>
            <a:r>
              <a:rPr lang="en-US" sz="1700" b="1" dirty="0">
                <a:solidFill>
                  <a:srgbClr val="C8553A"/>
                </a:solidFill>
                <a:latin typeface="Calibri" pitchFamily="34" charset="0"/>
                <a:ea typeface="Calibri" pitchFamily="34" charset="-122"/>
                <a:cs typeface="Calibri" pitchFamily="34" charset="-120"/>
              </a:rPr>
              <a:t>“mặt tiền 4m”</a:t>
            </a:r>
            <a:endParaRPr lang="en-US" sz="1700" dirty="0"/>
          </a:p>
        </p:txBody>
      </p:sp>
      <p:sp>
        <p:nvSpPr>
          <p:cNvPr id="26" name="Shape 24"/>
          <p:cNvSpPr/>
          <p:nvPr/>
        </p:nvSpPr>
        <p:spPr>
          <a:xfrm>
            <a:off x="3657600" y="5600700"/>
            <a:ext cx="365760" cy="0"/>
          </a:xfrm>
          <a:prstGeom prst="line">
            <a:avLst/>
          </a:prstGeom>
          <a:noFill/>
          <a:ln w="19050">
            <a:solidFill>
              <a:srgbClr val="5B6D74"/>
            </a:solidFill>
            <a:prstDash val="solid"/>
            <a:tailEnd type="triangle"/>
          </a:ln>
        </p:spPr>
        <p:txBody>
          <a:bodyPr/>
          <a:lstStyle/>
          <a:p>
            <a:endParaRPr lang="en-VN"/>
          </a:p>
        </p:txBody>
      </p:sp>
      <p:sp>
        <p:nvSpPr>
          <p:cNvPr id="27" name="Shape 25"/>
          <p:cNvSpPr/>
          <p:nvPr/>
        </p:nvSpPr>
        <p:spPr>
          <a:xfrm>
            <a:off x="4069080" y="5074920"/>
            <a:ext cx="2423160" cy="1051560"/>
          </a:xfrm>
          <a:prstGeom prst="roundRect">
            <a:avLst>
              <a:gd name="adj" fmla="val 8696"/>
            </a:avLst>
          </a:prstGeom>
          <a:solidFill>
            <a:srgbClr val="13303A"/>
          </a:solidFill>
          <a:ln w="12700">
            <a:solidFill>
              <a:srgbClr val="13303A"/>
            </a:solidFill>
            <a:prstDash val="solid"/>
          </a:ln>
        </p:spPr>
        <p:txBody>
          <a:bodyPr/>
          <a:lstStyle/>
          <a:p>
            <a:endParaRPr lang="en-VN"/>
          </a:p>
        </p:txBody>
      </p:sp>
      <p:sp>
        <p:nvSpPr>
          <p:cNvPr id="28" name="Text 26"/>
          <p:cNvSpPr txBox="1"/>
          <p:nvPr/>
        </p:nvSpPr>
        <p:spPr>
          <a:xfrm>
            <a:off x="4160520" y="5074920"/>
            <a:ext cx="2240280" cy="10515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vị trí  ≠  số đo</a:t>
            </a:r>
            <a:endParaRPr lang="en-US" sz="1800" dirty="0"/>
          </a:p>
        </p:txBody>
      </p:sp>
      <p:sp>
        <p:nvSpPr>
          <p:cNvPr id="29" name="Text 27"/>
          <p:cNvSpPr txBox="1"/>
          <p:nvPr/>
        </p:nvSpPr>
        <p:spPr>
          <a:xfrm>
            <a:off x="6766560" y="5074920"/>
            <a:ext cx="4846320" cy="1051560"/>
          </a:xfrm>
          <a:prstGeom prst="rect">
            <a:avLst/>
          </a:prstGeom>
          <a:noFill/>
          <a:ln/>
        </p:spPr>
        <p:txBody>
          <a:bodyPr wrap="square" lIns="0" tIns="0" rIns="0" bIns="0" rtlCol="0" anchor="ctr"/>
          <a:lstStyle/>
          <a:p>
            <a:pPr marL="0" indent="0">
              <a:buNone/>
            </a:pPr>
            <a:r>
              <a:rPr lang="en-US" sz="1600" b="1" dirty="0">
                <a:solidFill>
                  <a:srgbClr val="1B2A30"/>
                </a:solidFill>
                <a:latin typeface="Calibri" pitchFamily="34" charset="0"/>
                <a:ea typeface="Calibri" pitchFamily="34" charset="-122"/>
                <a:cs typeface="Calibri" pitchFamily="34" charset="-120"/>
              </a:rPr>
              <a:t>Cùng chữ, khác trường. </a:t>
            </a:r>
            <a:r>
              <a:rPr lang="en-US" sz="1600" dirty="0">
                <a:solidFill>
                  <a:srgbClr val="1B2A30"/>
                </a:solidFill>
                <a:latin typeface="Calibri" pitchFamily="34" charset="0"/>
                <a:ea typeface="Calibri" pitchFamily="34" charset="-122"/>
                <a:cs typeface="Calibri" pitchFamily="34" charset="-120"/>
              </a:rPr>
              <a:t>Một cụm là loại vị trí, cụm kia là số đo mặt tiền.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ĐẶC TRƯNG · KIỂM CHỨNG</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Đo chất lượng bằng nhãn độc lập</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783080"/>
            <a:ext cx="4846320" cy="2011680"/>
          </a:xfrm>
          <a:prstGeom prst="roundRect">
            <a:avLst>
              <a:gd name="adj" fmla="val 4545"/>
            </a:avLst>
          </a:prstGeom>
          <a:solidFill>
            <a:srgbClr val="EAF2F3"/>
          </a:solidFill>
          <a:ln w="12700">
            <a:solidFill>
              <a:srgbClr val="EAF2F3"/>
            </a:solidFill>
            <a:prstDash val="solid"/>
          </a:ln>
        </p:spPr>
        <p:txBody>
          <a:bodyPr/>
          <a:lstStyle/>
          <a:p>
            <a:endParaRPr lang="en-VN"/>
          </a:p>
        </p:txBody>
      </p:sp>
      <p:sp>
        <p:nvSpPr>
          <p:cNvPr id="9" name="Shape 7"/>
          <p:cNvSpPr/>
          <p:nvPr/>
        </p:nvSpPr>
        <p:spPr>
          <a:xfrm>
            <a:off x="822960" y="1993392"/>
            <a:ext cx="548640" cy="548640"/>
          </a:xfrm>
          <a:prstGeom prst="ellipse">
            <a:avLst/>
          </a:prstGeom>
          <a:solidFill>
            <a:srgbClr val="FFFFFF"/>
          </a:solidFill>
          <a:ln w="12700">
            <a:solidFill>
              <a:srgbClr val="FFFFFF"/>
            </a:solidFill>
            <a:prstDash val="solid"/>
          </a:ln>
        </p:spPr>
        <p:txBody>
          <a:bodyPr/>
          <a:lstStyle/>
          <a:p>
            <a:endParaRPr lang="en-VN"/>
          </a:p>
        </p:txBody>
      </p:sp>
      <p:pic>
        <p:nvPicPr>
          <p:cNvPr id="10" name="Image 0" descr="preencoded.png"/>
          <p:cNvPicPr>
            <a:picLocks noChangeAspect="1"/>
          </p:cNvPicPr>
          <p:nvPr/>
        </p:nvPicPr>
        <p:blipFill>
          <a:blip r:embed="rId3"/>
          <a:stretch>
            <a:fillRect/>
          </a:stretch>
        </p:blipFill>
        <p:spPr>
          <a:xfrm>
            <a:off x="960120" y="2130552"/>
            <a:ext cx="274320" cy="274320"/>
          </a:xfrm>
          <a:prstGeom prst="rect">
            <a:avLst/>
          </a:prstGeom>
        </p:spPr>
      </p:pic>
      <p:sp>
        <p:nvSpPr>
          <p:cNvPr id="11" name="Text 8"/>
          <p:cNvSpPr txBox="1"/>
          <p:nvPr/>
        </p:nvSpPr>
        <p:spPr>
          <a:xfrm>
            <a:off x="1554480" y="1993392"/>
            <a:ext cx="3657600" cy="548640"/>
          </a:xfrm>
          <a:prstGeom prst="rect">
            <a:avLst/>
          </a:prstGeom>
          <a:noFill/>
          <a:ln/>
        </p:spPr>
        <p:txBody>
          <a:bodyPr wrap="square" lIns="0" tIns="0" rIns="0" bIns="0" rtlCol="0" anchor="ctr"/>
          <a:lstStyle/>
          <a:p>
            <a:pPr marL="0" indent="0">
              <a:buNone/>
            </a:pPr>
            <a:r>
              <a:rPr lang="en-US" sz="1900" b="1" dirty="0">
                <a:solidFill>
                  <a:srgbClr val="13303A"/>
                </a:solidFill>
                <a:latin typeface="Calibri" pitchFamily="34" charset="0"/>
                <a:ea typeface="Calibri" pitchFamily="34" charset="-122"/>
                <a:cs typeface="Calibri" pitchFamily="34" charset="-120"/>
              </a:rPr>
              <a:t>Nhãn không do LLM gán</a:t>
            </a:r>
            <a:endParaRPr lang="en-US" sz="1900" dirty="0"/>
          </a:p>
        </p:txBody>
      </p:sp>
      <p:sp>
        <p:nvSpPr>
          <p:cNvPr id="12" name="Text 9"/>
          <p:cNvSpPr txBox="1"/>
          <p:nvPr/>
        </p:nvSpPr>
        <p:spPr>
          <a:xfrm>
            <a:off x="822960" y="2651760"/>
            <a:ext cx="4389120" cy="73152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Lấy từ chính trường có cấu trúc người bán điền vào form, thứ bộ luật regex không hề nhìn thấy.</a:t>
            </a:r>
            <a:endParaRPr lang="en-US" sz="1500" dirty="0"/>
          </a:p>
        </p:txBody>
      </p:sp>
      <p:sp>
        <p:nvSpPr>
          <p:cNvPr id="13" name="Text 10"/>
          <p:cNvSpPr txBox="1"/>
          <p:nvPr/>
        </p:nvSpPr>
        <p:spPr>
          <a:xfrm>
            <a:off x="822960" y="3401568"/>
            <a:ext cx="4389120" cy="274320"/>
          </a:xfrm>
          <a:prstGeom prst="rect">
            <a:avLst/>
          </a:prstGeom>
          <a:noFill/>
          <a:ln/>
        </p:spPr>
        <p:txBody>
          <a:bodyPr wrap="square" lIns="0" tIns="0" rIns="0" bIns="0" rtlCol="0" anchor="t"/>
          <a:lstStyle/>
          <a:p>
            <a:pPr marL="0" indent="0">
              <a:buNone/>
            </a:pPr>
            <a:r>
              <a:rPr lang="en-US" sz="1150" dirty="0">
                <a:solidFill>
                  <a:srgbClr val="5B6D74"/>
                </a:solidFill>
                <a:latin typeface="Calibri" pitchFamily="34" charset="0"/>
                <a:ea typeface="Calibri" pitchFamily="34" charset="-122"/>
                <a:cs typeface="Calibri" pitchFamily="34" charset="-120"/>
              </a:rPr>
              <a:t>Bộ nhãn vàng: 200 tin ngẫu nhiên (seed 42) từ kho thô Chợ Tốt</a:t>
            </a:r>
            <a:endParaRPr lang="en-US" sz="1150" dirty="0"/>
          </a:p>
        </p:txBody>
      </p:sp>
      <p:sp>
        <p:nvSpPr>
          <p:cNvPr id="14" name="Shape 11"/>
          <p:cNvSpPr/>
          <p:nvPr/>
        </p:nvSpPr>
        <p:spPr>
          <a:xfrm>
            <a:off x="548640" y="3977640"/>
            <a:ext cx="4846320" cy="2148840"/>
          </a:xfrm>
          <a:prstGeom prst="roundRect">
            <a:avLst>
              <a:gd name="adj" fmla="val 4255"/>
            </a:avLst>
          </a:prstGeom>
          <a:solidFill>
            <a:srgbClr val="FBEAE3"/>
          </a:solidFill>
          <a:ln w="12700">
            <a:solidFill>
              <a:srgbClr val="FBEAE3"/>
            </a:solidFill>
            <a:prstDash val="solid"/>
          </a:ln>
        </p:spPr>
        <p:txBody>
          <a:bodyPr/>
          <a:lstStyle/>
          <a:p>
            <a:endParaRPr lang="en-VN"/>
          </a:p>
        </p:txBody>
      </p:sp>
      <p:sp>
        <p:nvSpPr>
          <p:cNvPr id="15" name="Text 12"/>
          <p:cNvSpPr txBox="1"/>
          <p:nvPr/>
        </p:nvSpPr>
        <p:spPr>
          <a:xfrm>
            <a:off x="822960" y="4114800"/>
            <a:ext cx="2011680" cy="777240"/>
          </a:xfrm>
          <a:prstGeom prst="rect">
            <a:avLst/>
          </a:prstGeom>
          <a:noFill/>
          <a:ln/>
        </p:spPr>
        <p:txBody>
          <a:bodyPr wrap="square" lIns="0" tIns="0" rIns="0" bIns="0" rtlCol="0" anchor="ctr"/>
          <a:lstStyle/>
          <a:p>
            <a:pPr marL="0" indent="0">
              <a:buNone/>
            </a:pPr>
            <a:r>
              <a:rPr lang="en-US" sz="4400" b="1" dirty="0">
                <a:solidFill>
                  <a:srgbClr val="C8553A"/>
                </a:solidFill>
                <a:latin typeface="Calibri" pitchFamily="34" charset="0"/>
                <a:ea typeface="Calibri" pitchFamily="34" charset="-122"/>
                <a:cs typeface="Calibri" pitchFamily="34" charset="-120"/>
              </a:rPr>
              <a:t>13/17</a:t>
            </a:r>
            <a:endParaRPr lang="en-US" sz="4400" dirty="0"/>
          </a:p>
        </p:txBody>
      </p:sp>
      <p:sp>
        <p:nvSpPr>
          <p:cNvPr id="16" name="Text 13"/>
          <p:cNvSpPr txBox="1"/>
          <p:nvPr/>
        </p:nvSpPr>
        <p:spPr>
          <a:xfrm>
            <a:off x="2834640" y="4114800"/>
            <a:ext cx="2423160" cy="777240"/>
          </a:xfrm>
          <a:prstGeom prst="rect">
            <a:avLst/>
          </a:prstGeom>
          <a:noFill/>
          <a:ln/>
        </p:spPr>
        <p:txBody>
          <a:bodyPr wrap="square" lIns="0" tIns="0" rIns="0" bIns="0" rtlCol="0" anchor="ctr"/>
          <a:lstStyle/>
          <a:p>
            <a:pPr marL="0" indent="0">
              <a:buNone/>
            </a:pPr>
            <a:r>
              <a:rPr lang="en-US" sz="1500" b="1" dirty="0">
                <a:solidFill>
                  <a:srgbClr val="1B2A30"/>
                </a:solidFill>
                <a:latin typeface="Calibri" pitchFamily="34" charset="0"/>
                <a:ea typeface="Calibri" pitchFamily="34" charset="-122"/>
                <a:cs typeface="Calibri" pitchFamily="34" charset="-120"/>
              </a:rPr>
              <a:t>lỗi còn lại của trường số tầng lệch đúng 1 đơn vị</a:t>
            </a:r>
            <a:endParaRPr lang="en-US" sz="1500" dirty="0"/>
          </a:p>
        </p:txBody>
      </p:sp>
      <p:sp>
        <p:nvSpPr>
          <p:cNvPr id="17" name="Text 14"/>
          <p:cNvSpPr txBox="1"/>
          <p:nvPr/>
        </p:nvSpPr>
        <p:spPr>
          <a:xfrm>
            <a:off x="822960" y="5029200"/>
            <a:ext cx="4389120" cy="960120"/>
          </a:xfrm>
          <a:prstGeom prst="rect">
            <a:avLst/>
          </a:prstGeom>
          <a:noFill/>
          <a:ln/>
        </p:spPr>
        <p:txBody>
          <a:bodyPr wrap="square" lIns="0" tIns="0" rIns="0" bIns="0" rtlCol="0" anchor="t"/>
          <a:lstStyle/>
          <a:p>
            <a:pPr marL="0" indent="0">
              <a:buNone/>
            </a:pPr>
            <a:r>
              <a:rPr lang="en-US" sz="1400" dirty="0">
                <a:solidFill>
                  <a:srgbClr val="1B2A30"/>
                </a:solidFill>
                <a:latin typeface="Calibri" pitchFamily="34" charset="0"/>
                <a:ea typeface="Calibri" pitchFamily="34" charset="-122"/>
                <a:cs typeface="Calibri" pitchFamily="34" charset="-120"/>
              </a:rPr>
              <a:t>Tin viết “1 trệt 1 lầu” nhưng điền số 1 vào form. </a:t>
            </a:r>
            <a:r>
              <a:rPr lang="en-US" sz="1400" b="1" dirty="0">
                <a:solidFill>
                  <a:srgbClr val="1B2A30"/>
                </a:solidFill>
                <a:latin typeface="Calibri" pitchFamily="34" charset="0"/>
                <a:ea typeface="Calibri" pitchFamily="34" charset="-122"/>
                <a:cs typeface="Calibri" pitchFamily="34" charset="-120"/>
              </a:rPr>
              <a:t>Nhiễu của nhãn, không phải bộ luật đọc sai.</a:t>
            </a:r>
            <a:endParaRPr lang="en-US" sz="1400" dirty="0"/>
          </a:p>
        </p:txBody>
      </p:sp>
      <p:sp>
        <p:nvSpPr>
          <p:cNvPr id="18" name="Text 15"/>
          <p:cNvSpPr txBox="1"/>
          <p:nvPr/>
        </p:nvSpPr>
        <p:spPr>
          <a:xfrm>
            <a:off x="5852160" y="1783080"/>
            <a:ext cx="3657600" cy="365760"/>
          </a:xfrm>
          <a:prstGeom prst="rect">
            <a:avLst/>
          </a:prstGeom>
          <a:noFill/>
          <a:ln/>
        </p:spPr>
        <p:txBody>
          <a:bodyPr wrap="square" lIns="0" tIns="0" rIns="0" bIns="0" rtlCol="0" anchor="t"/>
          <a:lstStyle/>
          <a:p>
            <a:pPr marL="0" indent="0">
              <a:buNone/>
            </a:pPr>
            <a:r>
              <a:rPr lang="en-US" sz="1700" b="1" dirty="0">
                <a:solidFill>
                  <a:srgbClr val="13303A"/>
                </a:solidFill>
                <a:latin typeface="Calibri" pitchFamily="34" charset="0"/>
                <a:ea typeface="Calibri" pitchFamily="34" charset="-122"/>
                <a:cs typeface="Calibri" pitchFamily="34" charset="-120"/>
              </a:rPr>
              <a:t>F1 theo trường</a:t>
            </a:r>
            <a:endParaRPr lang="en-US" sz="1700" dirty="0"/>
          </a:p>
        </p:txBody>
      </p:sp>
      <p:sp>
        <p:nvSpPr>
          <p:cNvPr id="19" name="Text 16"/>
          <p:cNvSpPr txBox="1"/>
          <p:nvPr/>
        </p:nvSpPr>
        <p:spPr>
          <a:xfrm>
            <a:off x="5852160" y="2514600"/>
            <a:ext cx="1737360" cy="457200"/>
          </a:xfrm>
          <a:prstGeom prst="rect">
            <a:avLst/>
          </a:prstGeom>
          <a:noFill/>
          <a:ln/>
        </p:spPr>
        <p:txBody>
          <a:bodyPr wrap="square" lIns="0" tIns="0" rIns="0" bIns="0" rtlCol="0" anchor="ctr"/>
          <a:lstStyle/>
          <a:p>
            <a:pPr marL="0" indent="0">
              <a:buNone/>
            </a:pPr>
            <a:r>
              <a:rPr lang="en-US" sz="1500" dirty="0">
                <a:solidFill>
                  <a:srgbClr val="1B2A30"/>
                </a:solidFill>
                <a:latin typeface="Calibri" pitchFamily="34" charset="0"/>
                <a:ea typeface="Calibri" pitchFamily="34" charset="-122"/>
                <a:cs typeface="Calibri" pitchFamily="34" charset="-120"/>
              </a:rPr>
              <a:t>Diện tích</a:t>
            </a:r>
            <a:endParaRPr lang="en-US" sz="1500" dirty="0"/>
          </a:p>
        </p:txBody>
      </p:sp>
      <p:sp>
        <p:nvSpPr>
          <p:cNvPr id="20" name="Shape 17"/>
          <p:cNvSpPr/>
          <p:nvPr/>
        </p:nvSpPr>
        <p:spPr>
          <a:xfrm>
            <a:off x="7635240" y="2514600"/>
            <a:ext cx="2258263" cy="457200"/>
          </a:xfrm>
          <a:prstGeom prst="roundRect">
            <a:avLst>
              <a:gd name="adj" fmla="val 8000"/>
            </a:avLst>
          </a:prstGeom>
          <a:solidFill>
            <a:srgbClr val="2F8F5B"/>
          </a:solidFill>
          <a:ln w="12700">
            <a:solidFill>
              <a:srgbClr val="2F8F5B"/>
            </a:solidFill>
            <a:prstDash val="solid"/>
          </a:ln>
        </p:spPr>
        <p:txBody>
          <a:bodyPr/>
          <a:lstStyle/>
          <a:p>
            <a:endParaRPr lang="en-VN"/>
          </a:p>
        </p:txBody>
      </p:sp>
      <p:sp>
        <p:nvSpPr>
          <p:cNvPr id="21" name="Text 18"/>
          <p:cNvSpPr txBox="1"/>
          <p:nvPr/>
        </p:nvSpPr>
        <p:spPr>
          <a:xfrm>
            <a:off x="10652760" y="2514600"/>
            <a:ext cx="1005840" cy="457200"/>
          </a:xfrm>
          <a:prstGeom prst="rect">
            <a:avLst/>
          </a:prstGeom>
          <a:noFill/>
          <a:ln/>
        </p:spPr>
        <p:txBody>
          <a:bodyPr wrap="square" lIns="0" tIns="0" rIns="0" bIns="0" rtlCol="0" anchor="ctr"/>
          <a:lstStyle/>
          <a:p>
            <a:pPr marL="0" indent="0">
              <a:buNone/>
            </a:pPr>
            <a:r>
              <a:rPr lang="en-US" sz="1500" b="1" dirty="0">
                <a:solidFill>
                  <a:srgbClr val="2F8F5B"/>
                </a:solidFill>
                <a:latin typeface="Calibri" pitchFamily="34" charset="0"/>
                <a:ea typeface="Calibri" pitchFamily="34" charset="-122"/>
                <a:cs typeface="Calibri" pitchFamily="34" charset="-120"/>
              </a:rPr>
              <a:t>0,939 ✓</a:t>
            </a:r>
            <a:endParaRPr lang="en-US" sz="1500" dirty="0"/>
          </a:p>
        </p:txBody>
      </p:sp>
      <p:sp>
        <p:nvSpPr>
          <p:cNvPr id="22" name="Text 19"/>
          <p:cNvSpPr txBox="1"/>
          <p:nvPr/>
        </p:nvSpPr>
        <p:spPr>
          <a:xfrm>
            <a:off x="5852160" y="3200400"/>
            <a:ext cx="1737360" cy="457200"/>
          </a:xfrm>
          <a:prstGeom prst="rect">
            <a:avLst/>
          </a:prstGeom>
          <a:noFill/>
          <a:ln/>
        </p:spPr>
        <p:txBody>
          <a:bodyPr wrap="square" lIns="0" tIns="0" rIns="0" bIns="0" rtlCol="0" anchor="ctr"/>
          <a:lstStyle/>
          <a:p>
            <a:pPr marL="0" indent="0">
              <a:buNone/>
            </a:pPr>
            <a:r>
              <a:rPr lang="en-US" sz="1500" dirty="0">
                <a:solidFill>
                  <a:srgbClr val="1B2A30"/>
                </a:solidFill>
                <a:latin typeface="Calibri" pitchFamily="34" charset="0"/>
                <a:ea typeface="Calibri" pitchFamily="34" charset="-122"/>
                <a:cs typeface="Calibri" pitchFamily="34" charset="-120"/>
              </a:rPr>
              <a:t>Số phòng ngủ</a:t>
            </a:r>
            <a:endParaRPr lang="en-US" sz="1500" dirty="0"/>
          </a:p>
        </p:txBody>
      </p:sp>
      <p:sp>
        <p:nvSpPr>
          <p:cNvPr id="23" name="Shape 20"/>
          <p:cNvSpPr/>
          <p:nvPr/>
        </p:nvSpPr>
        <p:spPr>
          <a:xfrm>
            <a:off x="7635240" y="3200400"/>
            <a:ext cx="1766926" cy="457200"/>
          </a:xfrm>
          <a:prstGeom prst="roundRect">
            <a:avLst>
              <a:gd name="adj" fmla="val 8000"/>
            </a:avLst>
          </a:prstGeom>
          <a:solidFill>
            <a:srgbClr val="1F4A57"/>
          </a:solidFill>
          <a:ln w="12700">
            <a:solidFill>
              <a:srgbClr val="1F4A57"/>
            </a:solidFill>
            <a:prstDash val="solid"/>
          </a:ln>
        </p:spPr>
        <p:txBody>
          <a:bodyPr/>
          <a:lstStyle/>
          <a:p>
            <a:endParaRPr lang="en-VN"/>
          </a:p>
        </p:txBody>
      </p:sp>
      <p:sp>
        <p:nvSpPr>
          <p:cNvPr id="24" name="Text 21"/>
          <p:cNvSpPr txBox="1"/>
          <p:nvPr/>
        </p:nvSpPr>
        <p:spPr>
          <a:xfrm>
            <a:off x="10652760" y="3200400"/>
            <a:ext cx="1005840" cy="457200"/>
          </a:xfrm>
          <a:prstGeom prst="rect">
            <a:avLst/>
          </a:prstGeom>
          <a:noFill/>
          <a:ln/>
        </p:spPr>
        <p:txBody>
          <a:bodyPr wrap="square" lIns="0" tIns="0" rIns="0" bIns="0" rtlCol="0" anchor="ctr"/>
          <a:lstStyle/>
          <a:p>
            <a:pPr marL="0" indent="0">
              <a:buNone/>
            </a:pPr>
            <a:r>
              <a:rPr lang="en-US" sz="1500" b="1" dirty="0">
                <a:solidFill>
                  <a:srgbClr val="13303A"/>
                </a:solidFill>
                <a:latin typeface="Calibri" pitchFamily="34" charset="0"/>
                <a:ea typeface="Calibri" pitchFamily="34" charset="-122"/>
                <a:cs typeface="Calibri" pitchFamily="34" charset="-120"/>
              </a:rPr>
              <a:t>0,887</a:t>
            </a:r>
            <a:endParaRPr lang="en-US" sz="1500" dirty="0"/>
          </a:p>
        </p:txBody>
      </p:sp>
      <p:sp>
        <p:nvSpPr>
          <p:cNvPr id="25" name="Text 22"/>
          <p:cNvSpPr txBox="1"/>
          <p:nvPr/>
        </p:nvSpPr>
        <p:spPr>
          <a:xfrm>
            <a:off x="5852160" y="3886200"/>
            <a:ext cx="1737360" cy="457200"/>
          </a:xfrm>
          <a:prstGeom prst="rect">
            <a:avLst/>
          </a:prstGeom>
          <a:noFill/>
          <a:ln/>
        </p:spPr>
        <p:txBody>
          <a:bodyPr wrap="square" lIns="0" tIns="0" rIns="0" bIns="0" rtlCol="0" anchor="ctr"/>
          <a:lstStyle/>
          <a:p>
            <a:pPr marL="0" indent="0">
              <a:buNone/>
            </a:pPr>
            <a:r>
              <a:rPr lang="en-US" sz="1500" dirty="0">
                <a:solidFill>
                  <a:srgbClr val="1B2A30"/>
                </a:solidFill>
                <a:latin typeface="Calibri" pitchFamily="34" charset="0"/>
                <a:ea typeface="Calibri" pitchFamily="34" charset="-122"/>
                <a:cs typeface="Calibri" pitchFamily="34" charset="-120"/>
              </a:rPr>
              <a:t>Số nhà tắm</a:t>
            </a:r>
            <a:endParaRPr lang="en-US" sz="1500" dirty="0"/>
          </a:p>
        </p:txBody>
      </p:sp>
      <p:sp>
        <p:nvSpPr>
          <p:cNvPr id="26" name="Shape 23"/>
          <p:cNvSpPr/>
          <p:nvPr/>
        </p:nvSpPr>
        <p:spPr>
          <a:xfrm>
            <a:off x="7635240" y="3886200"/>
            <a:ext cx="1833067" cy="457200"/>
          </a:xfrm>
          <a:prstGeom prst="roundRect">
            <a:avLst>
              <a:gd name="adj" fmla="val 8000"/>
            </a:avLst>
          </a:prstGeom>
          <a:solidFill>
            <a:srgbClr val="1F4A57"/>
          </a:solidFill>
          <a:ln w="12700">
            <a:solidFill>
              <a:srgbClr val="1F4A57"/>
            </a:solidFill>
            <a:prstDash val="solid"/>
          </a:ln>
        </p:spPr>
        <p:txBody>
          <a:bodyPr/>
          <a:lstStyle/>
          <a:p>
            <a:endParaRPr lang="en-VN"/>
          </a:p>
        </p:txBody>
      </p:sp>
      <p:sp>
        <p:nvSpPr>
          <p:cNvPr id="27" name="Text 24"/>
          <p:cNvSpPr txBox="1"/>
          <p:nvPr/>
        </p:nvSpPr>
        <p:spPr>
          <a:xfrm>
            <a:off x="10652760" y="3886200"/>
            <a:ext cx="1005840" cy="457200"/>
          </a:xfrm>
          <a:prstGeom prst="rect">
            <a:avLst/>
          </a:prstGeom>
          <a:noFill/>
          <a:ln/>
        </p:spPr>
        <p:txBody>
          <a:bodyPr wrap="square" lIns="0" tIns="0" rIns="0" bIns="0" rtlCol="0" anchor="ctr"/>
          <a:lstStyle/>
          <a:p>
            <a:pPr marL="0" indent="0">
              <a:buNone/>
            </a:pPr>
            <a:r>
              <a:rPr lang="en-US" sz="1500" b="1" dirty="0">
                <a:solidFill>
                  <a:srgbClr val="13303A"/>
                </a:solidFill>
                <a:latin typeface="Calibri" pitchFamily="34" charset="0"/>
                <a:ea typeface="Calibri" pitchFamily="34" charset="-122"/>
                <a:cs typeface="Calibri" pitchFamily="34" charset="-120"/>
              </a:rPr>
              <a:t>0,894</a:t>
            </a:r>
            <a:endParaRPr lang="en-US" sz="1500" dirty="0"/>
          </a:p>
        </p:txBody>
      </p:sp>
      <p:sp>
        <p:nvSpPr>
          <p:cNvPr id="28" name="Text 25"/>
          <p:cNvSpPr txBox="1"/>
          <p:nvPr/>
        </p:nvSpPr>
        <p:spPr>
          <a:xfrm>
            <a:off x="5852160" y="4572000"/>
            <a:ext cx="1737360" cy="457200"/>
          </a:xfrm>
          <a:prstGeom prst="rect">
            <a:avLst/>
          </a:prstGeom>
          <a:noFill/>
          <a:ln/>
        </p:spPr>
        <p:txBody>
          <a:bodyPr wrap="square" lIns="0" tIns="0" rIns="0" bIns="0" rtlCol="0" anchor="ctr"/>
          <a:lstStyle/>
          <a:p>
            <a:pPr marL="0" indent="0">
              <a:buNone/>
            </a:pPr>
            <a:r>
              <a:rPr lang="en-US" sz="1500" dirty="0">
                <a:solidFill>
                  <a:srgbClr val="1B2A30"/>
                </a:solidFill>
                <a:latin typeface="Calibri" pitchFamily="34" charset="0"/>
                <a:ea typeface="Calibri" pitchFamily="34" charset="-122"/>
                <a:cs typeface="Calibri" pitchFamily="34" charset="-120"/>
              </a:rPr>
              <a:t>Số tầng</a:t>
            </a:r>
            <a:endParaRPr lang="en-US" sz="1500" dirty="0"/>
          </a:p>
        </p:txBody>
      </p:sp>
      <p:sp>
        <p:nvSpPr>
          <p:cNvPr id="29" name="Shape 26"/>
          <p:cNvSpPr/>
          <p:nvPr/>
        </p:nvSpPr>
        <p:spPr>
          <a:xfrm>
            <a:off x="7635240" y="4572000"/>
            <a:ext cx="963778" cy="457200"/>
          </a:xfrm>
          <a:prstGeom prst="roundRect">
            <a:avLst>
              <a:gd name="adj" fmla="val 8000"/>
            </a:avLst>
          </a:prstGeom>
          <a:solidFill>
            <a:srgbClr val="1F4A57"/>
          </a:solidFill>
          <a:ln w="12700">
            <a:solidFill>
              <a:srgbClr val="1F4A57"/>
            </a:solidFill>
            <a:prstDash val="solid"/>
          </a:ln>
        </p:spPr>
        <p:txBody>
          <a:bodyPr/>
          <a:lstStyle/>
          <a:p>
            <a:endParaRPr lang="en-VN"/>
          </a:p>
        </p:txBody>
      </p:sp>
      <p:sp>
        <p:nvSpPr>
          <p:cNvPr id="30" name="Text 27"/>
          <p:cNvSpPr txBox="1"/>
          <p:nvPr/>
        </p:nvSpPr>
        <p:spPr>
          <a:xfrm>
            <a:off x="10652760" y="4572000"/>
            <a:ext cx="1005840" cy="457200"/>
          </a:xfrm>
          <a:prstGeom prst="rect">
            <a:avLst/>
          </a:prstGeom>
          <a:noFill/>
          <a:ln/>
        </p:spPr>
        <p:txBody>
          <a:bodyPr wrap="square" lIns="0" tIns="0" rIns="0" bIns="0" rtlCol="0" anchor="ctr"/>
          <a:lstStyle/>
          <a:p>
            <a:pPr marL="0" indent="0">
              <a:buNone/>
            </a:pPr>
            <a:r>
              <a:rPr lang="en-US" sz="1500" b="1" dirty="0">
                <a:solidFill>
                  <a:srgbClr val="13303A"/>
                </a:solidFill>
                <a:latin typeface="Calibri" pitchFamily="34" charset="0"/>
                <a:ea typeface="Calibri" pitchFamily="34" charset="-122"/>
                <a:cs typeface="Calibri" pitchFamily="34" charset="-120"/>
              </a:rPr>
              <a:t>0,802</a:t>
            </a:r>
            <a:endParaRPr lang="en-US" sz="1500" dirty="0"/>
          </a:p>
        </p:txBody>
      </p:sp>
      <p:sp>
        <p:nvSpPr>
          <p:cNvPr id="31" name="Shape 28"/>
          <p:cNvSpPr/>
          <p:nvPr/>
        </p:nvSpPr>
        <p:spPr>
          <a:xfrm>
            <a:off x="7635240" y="5212080"/>
            <a:ext cx="2834640" cy="0"/>
          </a:xfrm>
          <a:prstGeom prst="line">
            <a:avLst/>
          </a:prstGeom>
          <a:noFill/>
          <a:ln w="12700">
            <a:solidFill>
              <a:srgbClr val="D3DFE2"/>
            </a:solidFill>
            <a:prstDash val="solid"/>
          </a:ln>
        </p:spPr>
        <p:txBody>
          <a:bodyPr/>
          <a:lstStyle/>
          <a:p>
            <a:endParaRPr lang="en-VN"/>
          </a:p>
        </p:txBody>
      </p:sp>
      <p:sp>
        <p:nvSpPr>
          <p:cNvPr id="32" name="Shape 29"/>
          <p:cNvSpPr/>
          <p:nvPr/>
        </p:nvSpPr>
        <p:spPr>
          <a:xfrm>
            <a:off x="7635240" y="5212080"/>
            <a:ext cx="0" cy="73152"/>
          </a:xfrm>
          <a:prstGeom prst="line">
            <a:avLst/>
          </a:prstGeom>
          <a:noFill/>
          <a:ln w="12700">
            <a:solidFill>
              <a:srgbClr val="D3DFE2"/>
            </a:solidFill>
            <a:prstDash val="solid"/>
          </a:ln>
        </p:spPr>
        <p:txBody>
          <a:bodyPr/>
          <a:lstStyle/>
          <a:p>
            <a:endParaRPr lang="en-VN"/>
          </a:p>
        </p:txBody>
      </p:sp>
      <p:sp>
        <p:nvSpPr>
          <p:cNvPr id="33" name="Text 30"/>
          <p:cNvSpPr txBox="1"/>
          <p:nvPr/>
        </p:nvSpPr>
        <p:spPr>
          <a:xfrm>
            <a:off x="7315200" y="5303520"/>
            <a:ext cx="640080" cy="256032"/>
          </a:xfrm>
          <a:prstGeom prst="rect">
            <a:avLst/>
          </a:prstGeom>
          <a:noFill/>
          <a:ln/>
        </p:spPr>
        <p:txBody>
          <a:bodyPr wrap="square" lIns="0" tIns="0" rIns="0" bIns="0" rtlCol="0" anchor="t"/>
          <a:lstStyle/>
          <a:p>
            <a:pPr marL="0" indent="0" algn="ctr">
              <a:buNone/>
            </a:pPr>
            <a:r>
              <a:rPr lang="en-US" sz="1100" dirty="0">
                <a:solidFill>
                  <a:srgbClr val="5B6D74"/>
                </a:solidFill>
                <a:latin typeface="Calibri" pitchFamily="34" charset="0"/>
                <a:ea typeface="Calibri" pitchFamily="34" charset="-122"/>
                <a:cs typeface="Calibri" pitchFamily="34" charset="-120"/>
              </a:rPr>
              <a:t>0,70</a:t>
            </a:r>
            <a:endParaRPr lang="en-US" sz="1100" dirty="0"/>
          </a:p>
        </p:txBody>
      </p:sp>
      <p:sp>
        <p:nvSpPr>
          <p:cNvPr id="34" name="Shape 31"/>
          <p:cNvSpPr/>
          <p:nvPr/>
        </p:nvSpPr>
        <p:spPr>
          <a:xfrm>
            <a:off x="8580120" y="5212080"/>
            <a:ext cx="0" cy="73152"/>
          </a:xfrm>
          <a:prstGeom prst="line">
            <a:avLst/>
          </a:prstGeom>
          <a:noFill/>
          <a:ln w="12700">
            <a:solidFill>
              <a:srgbClr val="D3DFE2"/>
            </a:solidFill>
            <a:prstDash val="solid"/>
          </a:ln>
        </p:spPr>
        <p:txBody>
          <a:bodyPr/>
          <a:lstStyle/>
          <a:p>
            <a:endParaRPr lang="en-VN"/>
          </a:p>
        </p:txBody>
      </p:sp>
      <p:sp>
        <p:nvSpPr>
          <p:cNvPr id="35" name="Text 32"/>
          <p:cNvSpPr txBox="1"/>
          <p:nvPr/>
        </p:nvSpPr>
        <p:spPr>
          <a:xfrm>
            <a:off x="8260080" y="5303520"/>
            <a:ext cx="640080" cy="256032"/>
          </a:xfrm>
          <a:prstGeom prst="rect">
            <a:avLst/>
          </a:prstGeom>
          <a:noFill/>
          <a:ln/>
        </p:spPr>
        <p:txBody>
          <a:bodyPr wrap="square" lIns="0" tIns="0" rIns="0" bIns="0" rtlCol="0" anchor="t"/>
          <a:lstStyle/>
          <a:p>
            <a:pPr marL="0" indent="0" algn="ctr">
              <a:buNone/>
            </a:pPr>
            <a:r>
              <a:rPr lang="en-US" sz="1100" dirty="0">
                <a:solidFill>
                  <a:srgbClr val="5B6D74"/>
                </a:solidFill>
                <a:latin typeface="Calibri" pitchFamily="34" charset="0"/>
                <a:ea typeface="Calibri" pitchFamily="34" charset="-122"/>
                <a:cs typeface="Calibri" pitchFamily="34" charset="-120"/>
              </a:rPr>
              <a:t>0,80</a:t>
            </a:r>
            <a:endParaRPr lang="en-US" sz="1100" dirty="0"/>
          </a:p>
        </p:txBody>
      </p:sp>
      <p:sp>
        <p:nvSpPr>
          <p:cNvPr id="36" name="Shape 33"/>
          <p:cNvSpPr/>
          <p:nvPr/>
        </p:nvSpPr>
        <p:spPr>
          <a:xfrm>
            <a:off x="9525000" y="5212080"/>
            <a:ext cx="0" cy="73152"/>
          </a:xfrm>
          <a:prstGeom prst="line">
            <a:avLst/>
          </a:prstGeom>
          <a:noFill/>
          <a:ln w="12700">
            <a:solidFill>
              <a:srgbClr val="D3DFE2"/>
            </a:solidFill>
            <a:prstDash val="solid"/>
          </a:ln>
        </p:spPr>
        <p:txBody>
          <a:bodyPr/>
          <a:lstStyle/>
          <a:p>
            <a:endParaRPr lang="en-VN"/>
          </a:p>
        </p:txBody>
      </p:sp>
      <p:sp>
        <p:nvSpPr>
          <p:cNvPr id="37" name="Text 34"/>
          <p:cNvSpPr txBox="1"/>
          <p:nvPr/>
        </p:nvSpPr>
        <p:spPr>
          <a:xfrm>
            <a:off x="9204960" y="5303520"/>
            <a:ext cx="640080" cy="256032"/>
          </a:xfrm>
          <a:prstGeom prst="rect">
            <a:avLst/>
          </a:prstGeom>
          <a:noFill/>
          <a:ln/>
        </p:spPr>
        <p:txBody>
          <a:bodyPr wrap="square" lIns="0" tIns="0" rIns="0" bIns="0" rtlCol="0" anchor="t"/>
          <a:lstStyle/>
          <a:p>
            <a:pPr marL="0" indent="0" algn="ctr">
              <a:buNone/>
            </a:pPr>
            <a:r>
              <a:rPr lang="en-US" sz="1100" dirty="0">
                <a:solidFill>
                  <a:srgbClr val="5B6D74"/>
                </a:solidFill>
                <a:latin typeface="Calibri" pitchFamily="34" charset="0"/>
                <a:ea typeface="Calibri" pitchFamily="34" charset="-122"/>
                <a:cs typeface="Calibri" pitchFamily="34" charset="-120"/>
              </a:rPr>
              <a:t>0,90</a:t>
            </a:r>
            <a:endParaRPr lang="en-US" sz="1100" dirty="0"/>
          </a:p>
        </p:txBody>
      </p:sp>
      <p:sp>
        <p:nvSpPr>
          <p:cNvPr id="38" name="Shape 35"/>
          <p:cNvSpPr/>
          <p:nvPr/>
        </p:nvSpPr>
        <p:spPr>
          <a:xfrm>
            <a:off x="10469880" y="5212080"/>
            <a:ext cx="0" cy="73152"/>
          </a:xfrm>
          <a:prstGeom prst="line">
            <a:avLst/>
          </a:prstGeom>
          <a:noFill/>
          <a:ln w="12700">
            <a:solidFill>
              <a:srgbClr val="D3DFE2"/>
            </a:solidFill>
            <a:prstDash val="solid"/>
          </a:ln>
        </p:spPr>
        <p:txBody>
          <a:bodyPr/>
          <a:lstStyle/>
          <a:p>
            <a:endParaRPr lang="en-VN"/>
          </a:p>
        </p:txBody>
      </p:sp>
      <p:sp>
        <p:nvSpPr>
          <p:cNvPr id="39" name="Text 36"/>
          <p:cNvSpPr txBox="1"/>
          <p:nvPr/>
        </p:nvSpPr>
        <p:spPr>
          <a:xfrm>
            <a:off x="10149840" y="5303520"/>
            <a:ext cx="640080" cy="256032"/>
          </a:xfrm>
          <a:prstGeom prst="rect">
            <a:avLst/>
          </a:prstGeom>
          <a:noFill/>
          <a:ln/>
        </p:spPr>
        <p:txBody>
          <a:bodyPr wrap="square" lIns="0" tIns="0" rIns="0" bIns="0" rtlCol="0" anchor="t"/>
          <a:lstStyle/>
          <a:p>
            <a:pPr marL="0" indent="0" algn="ctr">
              <a:buNone/>
            </a:pPr>
            <a:r>
              <a:rPr lang="en-US" sz="1100" dirty="0">
                <a:solidFill>
                  <a:srgbClr val="5B6D74"/>
                </a:solidFill>
                <a:latin typeface="Calibri" pitchFamily="34" charset="0"/>
                <a:ea typeface="Calibri" pitchFamily="34" charset="-122"/>
                <a:cs typeface="Calibri" pitchFamily="34" charset="-120"/>
              </a:rPr>
              <a:t>1,00</a:t>
            </a:r>
            <a:endParaRPr lang="en-US" sz="1100" dirty="0"/>
          </a:p>
        </p:txBody>
      </p:sp>
      <p:sp>
        <p:nvSpPr>
          <p:cNvPr id="40" name="Shape 37"/>
          <p:cNvSpPr/>
          <p:nvPr/>
        </p:nvSpPr>
        <p:spPr>
          <a:xfrm>
            <a:off x="9525000" y="2331720"/>
            <a:ext cx="0" cy="2880360"/>
          </a:xfrm>
          <a:prstGeom prst="line">
            <a:avLst/>
          </a:prstGeom>
          <a:noFill/>
          <a:ln w="19050">
            <a:solidFill>
              <a:srgbClr val="C8553A"/>
            </a:solidFill>
            <a:prstDash val="dash"/>
          </a:ln>
        </p:spPr>
        <p:txBody>
          <a:bodyPr/>
          <a:lstStyle/>
          <a:p>
            <a:endParaRPr lang="en-VN"/>
          </a:p>
        </p:txBody>
      </p:sp>
      <p:sp>
        <p:nvSpPr>
          <p:cNvPr id="41" name="Text 38"/>
          <p:cNvSpPr txBox="1"/>
          <p:nvPr/>
        </p:nvSpPr>
        <p:spPr>
          <a:xfrm>
            <a:off x="8976360" y="2057400"/>
            <a:ext cx="1097280" cy="256032"/>
          </a:xfrm>
          <a:prstGeom prst="rect">
            <a:avLst/>
          </a:prstGeom>
          <a:noFill/>
          <a:ln/>
        </p:spPr>
        <p:txBody>
          <a:bodyPr wrap="square" lIns="0" tIns="0" rIns="0" bIns="0" rtlCol="0" anchor="t"/>
          <a:lstStyle/>
          <a:p>
            <a:pPr marL="0" indent="0" algn="ctr">
              <a:buNone/>
            </a:pPr>
            <a:r>
              <a:rPr lang="en-US" sz="1200" b="1" dirty="0">
                <a:solidFill>
                  <a:srgbClr val="C8553A"/>
                </a:solidFill>
                <a:latin typeface="Calibri" pitchFamily="34" charset="0"/>
                <a:ea typeface="Calibri" pitchFamily="34" charset="-122"/>
                <a:cs typeface="Calibri" pitchFamily="34" charset="-120"/>
              </a:rPr>
              <a:t>chỉ tiêu 0,9</a:t>
            </a:r>
            <a:endParaRPr lang="en-US" sz="1200" dirty="0"/>
          </a:p>
        </p:txBody>
      </p:sp>
      <p:sp>
        <p:nvSpPr>
          <p:cNvPr id="42" name="Text 39"/>
          <p:cNvSpPr txBox="1"/>
          <p:nvPr/>
        </p:nvSpPr>
        <p:spPr>
          <a:xfrm>
            <a:off x="5852160" y="5669280"/>
            <a:ext cx="5760720" cy="274320"/>
          </a:xfrm>
          <a:prstGeom prst="rect">
            <a:avLst/>
          </a:prstGeom>
          <a:noFill/>
          <a:ln/>
        </p:spPr>
        <p:txBody>
          <a:bodyPr wrap="square" lIns="0" tIns="0" rIns="0" bIns="0" rtlCol="0" anchor="t"/>
          <a:lstStyle/>
          <a:p>
            <a:pPr marL="0" indent="0">
              <a:buNone/>
            </a:pPr>
            <a:r>
              <a:rPr lang="en-US" sz="1100" dirty="0">
                <a:solidFill>
                  <a:srgbClr val="5B6D74"/>
                </a:solidFill>
                <a:latin typeface="Calibri" pitchFamily="34" charset="0"/>
                <a:ea typeface="Calibri" pitchFamily="34" charset="-122"/>
                <a:cs typeface="Calibri" pitchFamily="34" charset="-120"/>
              </a:rPr>
              <a:t>Trục ngang bắt đầu từ 0,70 để thấy rõ khoảng cách tới chỉ tiêu.</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ĐỊA CHỈ</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Sáp nhập hành chính 2025</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Text 6"/>
          <p:cNvSpPr txBox="1"/>
          <p:nvPr/>
        </p:nvSpPr>
        <p:spPr>
          <a:xfrm>
            <a:off x="548640" y="1600200"/>
            <a:ext cx="3200400" cy="1280160"/>
          </a:xfrm>
          <a:prstGeom prst="rect">
            <a:avLst/>
          </a:prstGeom>
          <a:noFill/>
          <a:ln/>
        </p:spPr>
        <p:txBody>
          <a:bodyPr wrap="square" lIns="0" tIns="0" rIns="0" bIns="0" rtlCol="0" anchor="ctr"/>
          <a:lstStyle/>
          <a:p>
            <a:pPr marL="0" indent="0">
              <a:buNone/>
            </a:pPr>
            <a:r>
              <a:rPr lang="en-US" sz="9200" b="1" dirty="0">
                <a:solidFill>
                  <a:srgbClr val="13303A"/>
                </a:solidFill>
                <a:latin typeface="Calibri" pitchFamily="34" charset="0"/>
                <a:ea typeface="Calibri" pitchFamily="34" charset="-122"/>
                <a:cs typeface="Calibri" pitchFamily="34" charset="-120"/>
              </a:rPr>
              <a:t>168</a:t>
            </a:r>
            <a:endParaRPr lang="en-US" sz="9200" dirty="0"/>
          </a:p>
        </p:txBody>
      </p:sp>
      <p:sp>
        <p:nvSpPr>
          <p:cNvPr id="9" name="Text 7"/>
          <p:cNvSpPr txBox="1"/>
          <p:nvPr/>
        </p:nvSpPr>
        <p:spPr>
          <a:xfrm>
            <a:off x="548640" y="2880360"/>
            <a:ext cx="4114800" cy="640080"/>
          </a:xfrm>
          <a:prstGeom prst="rect">
            <a:avLst/>
          </a:prstGeom>
          <a:noFill/>
          <a:ln/>
        </p:spPr>
        <p:txBody>
          <a:bodyPr wrap="square" lIns="0" tIns="0" rIns="0" bIns="0" rtlCol="0" anchor="t"/>
          <a:lstStyle/>
          <a:p>
            <a:pPr marL="0" indent="0">
              <a:buNone/>
            </a:pPr>
            <a:r>
              <a:rPr lang="en-US" sz="1700" dirty="0">
                <a:solidFill>
                  <a:srgbClr val="1B2A30"/>
                </a:solidFill>
                <a:latin typeface="Calibri" pitchFamily="34" charset="0"/>
                <a:ea typeface="Calibri" pitchFamily="34" charset="-122"/>
                <a:cs typeface="Calibri" pitchFamily="34" charset="-120"/>
              </a:rPr>
              <a:t>đơn vị cấp xã của TP.HCM từ 01/07/2025</a:t>
            </a:r>
            <a:endParaRPr lang="en-US" sz="1700" dirty="0"/>
          </a:p>
        </p:txBody>
      </p:sp>
      <p:sp>
        <p:nvSpPr>
          <p:cNvPr id="10" name="Shape 8"/>
          <p:cNvSpPr/>
          <p:nvPr/>
        </p:nvSpPr>
        <p:spPr>
          <a:xfrm>
            <a:off x="548640" y="3566160"/>
            <a:ext cx="1325880" cy="402336"/>
          </a:xfrm>
          <a:prstGeom prst="roundRect">
            <a:avLst>
              <a:gd name="adj" fmla="val 50000"/>
            </a:avLst>
          </a:prstGeom>
          <a:solidFill>
            <a:srgbClr val="EAF2F3"/>
          </a:solidFill>
          <a:ln w="12700">
            <a:solidFill>
              <a:srgbClr val="EAF2F3"/>
            </a:solidFill>
            <a:prstDash val="solid"/>
          </a:ln>
        </p:spPr>
        <p:txBody>
          <a:bodyPr/>
          <a:lstStyle/>
          <a:p>
            <a:endParaRPr lang="en-VN"/>
          </a:p>
        </p:txBody>
      </p:sp>
      <p:sp>
        <p:nvSpPr>
          <p:cNvPr id="11" name="Text 9"/>
          <p:cNvSpPr txBox="1"/>
          <p:nvPr/>
        </p:nvSpPr>
        <p:spPr>
          <a:xfrm>
            <a:off x="548640" y="3566160"/>
            <a:ext cx="1325880" cy="402336"/>
          </a:xfrm>
          <a:prstGeom prst="rect">
            <a:avLst/>
          </a:prstGeom>
          <a:noFill/>
          <a:ln/>
        </p:spPr>
        <p:txBody>
          <a:bodyPr wrap="square" lIns="0" tIns="0" rIns="0" bIns="0" rtlCol="0" anchor="ctr"/>
          <a:lstStyle/>
          <a:p>
            <a:pPr marL="0" indent="0" algn="ctr">
              <a:buNone/>
            </a:pPr>
            <a:r>
              <a:rPr lang="en-US" sz="1400" b="1" dirty="0">
                <a:solidFill>
                  <a:srgbClr val="13303A"/>
                </a:solidFill>
                <a:latin typeface="Calibri" pitchFamily="34" charset="0"/>
                <a:ea typeface="Calibri" pitchFamily="34" charset="-122"/>
                <a:cs typeface="Calibri" pitchFamily="34" charset="-120"/>
              </a:rPr>
              <a:t>113 phường</a:t>
            </a:r>
            <a:endParaRPr lang="en-US" sz="1400" dirty="0"/>
          </a:p>
        </p:txBody>
      </p:sp>
      <p:sp>
        <p:nvSpPr>
          <p:cNvPr id="12" name="Shape 10"/>
          <p:cNvSpPr/>
          <p:nvPr/>
        </p:nvSpPr>
        <p:spPr>
          <a:xfrm>
            <a:off x="1984248" y="3566160"/>
            <a:ext cx="914400" cy="402336"/>
          </a:xfrm>
          <a:prstGeom prst="roundRect">
            <a:avLst>
              <a:gd name="adj" fmla="val 50000"/>
            </a:avLst>
          </a:prstGeom>
          <a:solidFill>
            <a:srgbClr val="EAF2F3"/>
          </a:solidFill>
          <a:ln w="12700">
            <a:solidFill>
              <a:srgbClr val="EAF2F3"/>
            </a:solidFill>
            <a:prstDash val="solid"/>
          </a:ln>
        </p:spPr>
        <p:txBody>
          <a:bodyPr/>
          <a:lstStyle/>
          <a:p>
            <a:endParaRPr lang="en-VN"/>
          </a:p>
        </p:txBody>
      </p:sp>
      <p:sp>
        <p:nvSpPr>
          <p:cNvPr id="13" name="Text 11"/>
          <p:cNvSpPr txBox="1"/>
          <p:nvPr/>
        </p:nvSpPr>
        <p:spPr>
          <a:xfrm>
            <a:off x="1984248" y="3566160"/>
            <a:ext cx="914400" cy="402336"/>
          </a:xfrm>
          <a:prstGeom prst="rect">
            <a:avLst/>
          </a:prstGeom>
          <a:noFill/>
          <a:ln/>
        </p:spPr>
        <p:txBody>
          <a:bodyPr wrap="square" lIns="0" tIns="0" rIns="0" bIns="0" rtlCol="0" anchor="ctr"/>
          <a:lstStyle/>
          <a:p>
            <a:pPr marL="0" indent="0" algn="ctr">
              <a:buNone/>
            </a:pPr>
            <a:r>
              <a:rPr lang="en-US" sz="1400" b="1" dirty="0">
                <a:solidFill>
                  <a:srgbClr val="13303A"/>
                </a:solidFill>
                <a:latin typeface="Calibri" pitchFamily="34" charset="0"/>
                <a:ea typeface="Calibri" pitchFamily="34" charset="-122"/>
                <a:cs typeface="Calibri" pitchFamily="34" charset="-120"/>
              </a:rPr>
              <a:t>54 xã</a:t>
            </a:r>
            <a:endParaRPr lang="en-US" sz="1400" dirty="0"/>
          </a:p>
        </p:txBody>
      </p:sp>
      <p:sp>
        <p:nvSpPr>
          <p:cNvPr id="14" name="Shape 12"/>
          <p:cNvSpPr/>
          <p:nvPr/>
        </p:nvSpPr>
        <p:spPr>
          <a:xfrm>
            <a:off x="3008376" y="3566160"/>
            <a:ext cx="1188720" cy="402336"/>
          </a:xfrm>
          <a:prstGeom prst="roundRect">
            <a:avLst>
              <a:gd name="adj" fmla="val 50000"/>
            </a:avLst>
          </a:prstGeom>
          <a:solidFill>
            <a:srgbClr val="EAF2F3"/>
          </a:solidFill>
          <a:ln w="12700">
            <a:solidFill>
              <a:srgbClr val="EAF2F3"/>
            </a:solidFill>
            <a:prstDash val="solid"/>
          </a:ln>
        </p:spPr>
        <p:txBody>
          <a:bodyPr/>
          <a:lstStyle/>
          <a:p>
            <a:endParaRPr lang="en-VN"/>
          </a:p>
        </p:txBody>
      </p:sp>
      <p:sp>
        <p:nvSpPr>
          <p:cNvPr id="15" name="Text 13"/>
          <p:cNvSpPr txBox="1"/>
          <p:nvPr/>
        </p:nvSpPr>
        <p:spPr>
          <a:xfrm>
            <a:off x="3008376" y="3566160"/>
            <a:ext cx="1188720" cy="402336"/>
          </a:xfrm>
          <a:prstGeom prst="rect">
            <a:avLst/>
          </a:prstGeom>
          <a:noFill/>
          <a:ln/>
        </p:spPr>
        <p:txBody>
          <a:bodyPr wrap="square" lIns="0" tIns="0" rIns="0" bIns="0" rtlCol="0" anchor="ctr"/>
          <a:lstStyle/>
          <a:p>
            <a:pPr marL="0" indent="0" algn="ctr">
              <a:buNone/>
            </a:pPr>
            <a:r>
              <a:rPr lang="en-US" sz="1400" b="1" dirty="0">
                <a:solidFill>
                  <a:srgbClr val="13303A"/>
                </a:solidFill>
                <a:latin typeface="Calibri" pitchFamily="34" charset="0"/>
                <a:ea typeface="Calibri" pitchFamily="34" charset="-122"/>
                <a:cs typeface="Calibri" pitchFamily="34" charset="-120"/>
              </a:rPr>
              <a:t>1 đặc khu</a:t>
            </a:r>
            <a:endParaRPr lang="en-US" sz="1400" dirty="0"/>
          </a:p>
        </p:txBody>
      </p:sp>
      <p:sp>
        <p:nvSpPr>
          <p:cNvPr id="16" name="Shape 14"/>
          <p:cNvSpPr/>
          <p:nvPr/>
        </p:nvSpPr>
        <p:spPr>
          <a:xfrm>
            <a:off x="548640" y="4343400"/>
            <a:ext cx="4114800" cy="1783080"/>
          </a:xfrm>
          <a:prstGeom prst="roundRect">
            <a:avLst>
              <a:gd name="adj" fmla="val 5128"/>
            </a:avLst>
          </a:prstGeom>
          <a:solidFill>
            <a:srgbClr val="FBEAE3"/>
          </a:solidFill>
          <a:ln w="12700">
            <a:solidFill>
              <a:srgbClr val="FBEAE3"/>
            </a:solidFill>
            <a:prstDash val="solid"/>
          </a:ln>
        </p:spPr>
        <p:txBody>
          <a:bodyPr/>
          <a:lstStyle/>
          <a:p>
            <a:endParaRPr lang="en-VN"/>
          </a:p>
        </p:txBody>
      </p:sp>
      <p:sp>
        <p:nvSpPr>
          <p:cNvPr id="17" name="Text 15"/>
          <p:cNvSpPr txBox="1"/>
          <p:nvPr/>
        </p:nvSpPr>
        <p:spPr>
          <a:xfrm>
            <a:off x="822960" y="4526280"/>
            <a:ext cx="3657600" cy="365760"/>
          </a:xfrm>
          <a:prstGeom prst="rect">
            <a:avLst/>
          </a:prstGeom>
          <a:noFill/>
          <a:ln/>
        </p:spPr>
        <p:txBody>
          <a:bodyPr wrap="square" lIns="0" tIns="0" rIns="0" bIns="0" rtlCol="0" anchor="t"/>
          <a:lstStyle/>
          <a:p>
            <a:pPr marL="0" indent="0">
              <a:buNone/>
            </a:pPr>
            <a:r>
              <a:rPr lang="en-US" sz="1700" b="1" dirty="0">
                <a:solidFill>
                  <a:srgbClr val="C8553A"/>
                </a:solidFill>
                <a:latin typeface="Calibri" pitchFamily="34" charset="0"/>
                <a:ea typeface="Calibri" pitchFamily="34" charset="-122"/>
                <a:cs typeface="Calibri" pitchFamily="34" charset="-120"/>
              </a:rPr>
              <a:t>Cùng một khu, hai cái tên</a:t>
            </a:r>
            <a:endParaRPr lang="en-US" sz="1700" dirty="0"/>
          </a:p>
        </p:txBody>
      </p:sp>
      <p:sp>
        <p:nvSpPr>
          <p:cNvPr id="18" name="Text 16"/>
          <p:cNvSpPr txBox="1"/>
          <p:nvPr/>
        </p:nvSpPr>
        <p:spPr>
          <a:xfrm>
            <a:off x="822960" y="4983480"/>
            <a:ext cx="3657600" cy="914400"/>
          </a:xfrm>
          <a:prstGeom prst="rect">
            <a:avLst/>
          </a:prstGeom>
          <a:noFill/>
          <a:ln/>
        </p:spPr>
        <p:txBody>
          <a:bodyPr wrap="square" lIns="0" tIns="0" rIns="0" bIns="0" rtlCol="0" anchor="t"/>
          <a:lstStyle/>
          <a:p>
            <a:pPr marL="0" indent="0">
              <a:buNone/>
            </a:pPr>
            <a:r>
              <a:rPr lang="en-US" sz="1600" dirty="0">
                <a:solidFill>
                  <a:srgbClr val="1B2A30"/>
                </a:solidFill>
                <a:latin typeface="Calibri" pitchFamily="34" charset="0"/>
                <a:ea typeface="Calibri" pitchFamily="34" charset="-122"/>
                <a:cs typeface="Calibri" pitchFamily="34" charset="-120"/>
              </a:rPr>
              <a:t>Tin 2026 ghi phường mới, dữ liệu lịch sử ghi phường cũ.</a:t>
            </a:r>
            <a:endParaRPr lang="en-US" sz="1600" dirty="0"/>
          </a:p>
        </p:txBody>
      </p:sp>
      <p:sp>
        <p:nvSpPr>
          <p:cNvPr id="19" name="Text 17"/>
          <p:cNvSpPr txBox="1"/>
          <p:nvPr/>
        </p:nvSpPr>
        <p:spPr>
          <a:xfrm>
            <a:off x="5120640" y="1737360"/>
            <a:ext cx="6400800" cy="411480"/>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Bảng ánh xạ dựng từ chính dữ liệu</a:t>
            </a:r>
            <a:endParaRPr lang="en-US" sz="1800" dirty="0"/>
          </a:p>
        </p:txBody>
      </p:sp>
      <p:sp>
        <p:nvSpPr>
          <p:cNvPr id="20" name="Shape 18"/>
          <p:cNvSpPr/>
          <p:nvPr/>
        </p:nvSpPr>
        <p:spPr>
          <a:xfrm>
            <a:off x="5120640" y="2286000"/>
            <a:ext cx="1828800" cy="1188720"/>
          </a:xfrm>
          <a:prstGeom prst="roundRect">
            <a:avLst>
              <a:gd name="adj" fmla="val 7692"/>
            </a:avLst>
          </a:prstGeom>
          <a:solidFill>
            <a:srgbClr val="FFFFFF"/>
          </a:solidFill>
          <a:ln w="12700">
            <a:solidFill>
              <a:srgbClr val="D3DFE2"/>
            </a:solidFill>
            <a:prstDash val="solid"/>
          </a:ln>
        </p:spPr>
        <p:txBody>
          <a:bodyPr/>
          <a:lstStyle/>
          <a:p>
            <a:endParaRPr lang="en-VN"/>
          </a:p>
        </p:txBody>
      </p:sp>
      <p:pic>
        <p:nvPicPr>
          <p:cNvPr id="21" name="Image 0" descr="preencoded.png"/>
          <p:cNvPicPr>
            <a:picLocks noChangeAspect="1"/>
          </p:cNvPicPr>
          <p:nvPr/>
        </p:nvPicPr>
        <p:blipFill>
          <a:blip r:embed="rId3"/>
          <a:stretch>
            <a:fillRect/>
          </a:stretch>
        </p:blipFill>
        <p:spPr>
          <a:xfrm>
            <a:off x="5321808" y="2450592"/>
            <a:ext cx="310896" cy="310896"/>
          </a:xfrm>
          <a:prstGeom prst="rect">
            <a:avLst/>
          </a:prstGeom>
        </p:spPr>
      </p:pic>
      <p:sp>
        <p:nvSpPr>
          <p:cNvPr id="22" name="Text 19"/>
          <p:cNvSpPr txBox="1"/>
          <p:nvPr/>
        </p:nvSpPr>
        <p:spPr>
          <a:xfrm>
            <a:off x="5321808" y="2834640"/>
            <a:ext cx="1554480" cy="457200"/>
          </a:xfrm>
          <a:prstGeom prst="rect">
            <a:avLst/>
          </a:prstGeom>
          <a:noFill/>
          <a:ln/>
        </p:spPr>
        <p:txBody>
          <a:bodyPr wrap="square" lIns="0" tIns="0" rIns="0" bIns="0" rtlCol="0" anchor="t"/>
          <a:lstStyle/>
          <a:p>
            <a:pPr marL="0" indent="0">
              <a:buNone/>
            </a:pPr>
            <a:r>
              <a:rPr lang="en-US" sz="1500" b="1" dirty="0">
                <a:solidFill>
                  <a:srgbClr val="13303A"/>
                </a:solidFill>
                <a:latin typeface="Calibri" pitchFamily="34" charset="0"/>
                <a:ea typeface="Calibri" pitchFamily="34" charset="-122"/>
                <a:cs typeface="Calibri" pitchFamily="34" charset="-120"/>
              </a:rPr>
              <a:t>1 tin Chợ Tốt</a:t>
            </a:r>
            <a:endParaRPr lang="en-US" sz="1500" dirty="0"/>
          </a:p>
        </p:txBody>
      </p:sp>
      <p:sp>
        <p:nvSpPr>
          <p:cNvPr id="23" name="Shape 20"/>
          <p:cNvSpPr/>
          <p:nvPr/>
        </p:nvSpPr>
        <p:spPr>
          <a:xfrm>
            <a:off x="6986016" y="2880360"/>
            <a:ext cx="329184" cy="0"/>
          </a:xfrm>
          <a:prstGeom prst="line">
            <a:avLst/>
          </a:prstGeom>
          <a:noFill/>
          <a:ln w="19050">
            <a:solidFill>
              <a:srgbClr val="5B6D74"/>
            </a:solidFill>
            <a:prstDash val="solid"/>
            <a:tailEnd type="triangle"/>
          </a:ln>
        </p:spPr>
        <p:txBody>
          <a:bodyPr/>
          <a:lstStyle/>
          <a:p>
            <a:endParaRPr lang="en-VN"/>
          </a:p>
        </p:txBody>
      </p:sp>
      <p:sp>
        <p:nvSpPr>
          <p:cNvPr id="24" name="Shape 21"/>
          <p:cNvSpPr/>
          <p:nvPr/>
        </p:nvSpPr>
        <p:spPr>
          <a:xfrm>
            <a:off x="7360920" y="2286000"/>
            <a:ext cx="2148840" cy="1188720"/>
          </a:xfrm>
          <a:prstGeom prst="roundRect">
            <a:avLst>
              <a:gd name="adj" fmla="val 7692"/>
            </a:avLst>
          </a:prstGeom>
          <a:solidFill>
            <a:srgbClr val="EAF2F3"/>
          </a:solidFill>
          <a:ln w="12700">
            <a:solidFill>
              <a:srgbClr val="EAF2F3"/>
            </a:solidFill>
            <a:prstDash val="solid"/>
          </a:ln>
        </p:spPr>
        <p:txBody>
          <a:bodyPr/>
          <a:lstStyle/>
          <a:p>
            <a:endParaRPr lang="en-VN"/>
          </a:p>
        </p:txBody>
      </p:sp>
      <p:sp>
        <p:nvSpPr>
          <p:cNvPr id="25" name="Text 22"/>
          <p:cNvSpPr txBox="1"/>
          <p:nvPr/>
        </p:nvSpPr>
        <p:spPr>
          <a:xfrm>
            <a:off x="7543800" y="2377440"/>
            <a:ext cx="1828800" cy="256032"/>
          </a:xfrm>
          <a:prstGeom prst="rect">
            <a:avLst/>
          </a:prstGeom>
          <a:noFill/>
          <a:ln/>
        </p:spPr>
        <p:txBody>
          <a:bodyPr wrap="square" lIns="0" tIns="0" rIns="0" bIns="0" rtlCol="0" anchor="t"/>
          <a:lstStyle/>
          <a:p>
            <a:pPr marL="0" indent="0">
              <a:buNone/>
            </a:pPr>
            <a:r>
              <a:rPr lang="en-US" sz="1050" b="1" kern="0" spc="100" dirty="0">
                <a:solidFill>
                  <a:srgbClr val="5B6D74"/>
                </a:solidFill>
                <a:latin typeface="Calibri" pitchFamily="34" charset="0"/>
                <a:ea typeface="Calibri" pitchFamily="34" charset="-122"/>
                <a:cs typeface="Calibri" pitchFamily="34" charset="-120"/>
              </a:rPr>
              <a:t>API TRẢ CẢ HAI</a:t>
            </a:r>
            <a:endParaRPr lang="en-US" sz="1050" dirty="0"/>
          </a:p>
        </p:txBody>
      </p:sp>
      <p:sp>
        <p:nvSpPr>
          <p:cNvPr id="26" name="Text 23"/>
          <p:cNvSpPr txBox="1"/>
          <p:nvPr/>
        </p:nvSpPr>
        <p:spPr>
          <a:xfrm>
            <a:off x="7543800" y="2670048"/>
            <a:ext cx="1874520" cy="685800"/>
          </a:xfrm>
          <a:prstGeom prst="rect">
            <a:avLst/>
          </a:prstGeom>
          <a:noFill/>
          <a:ln/>
        </p:spPr>
        <p:txBody>
          <a:bodyPr wrap="square" lIns="0" tIns="0" rIns="0" bIns="0" rtlCol="0" anchor="t"/>
          <a:lstStyle/>
          <a:p>
            <a:pPr marL="0" indent="0">
              <a:buNone/>
            </a:pPr>
            <a:r>
              <a:rPr lang="en-US" sz="1400" dirty="0">
                <a:solidFill>
                  <a:srgbClr val="1B2A30"/>
                </a:solidFill>
                <a:latin typeface="Calibri" pitchFamily="34" charset="0"/>
                <a:ea typeface="Calibri" pitchFamily="34" charset="-122"/>
                <a:cs typeface="Calibri" pitchFamily="34" charset="-120"/>
              </a:rPr>
              <a:t>tên phường hệ cũ</a:t>
            </a:r>
            <a:endParaRPr lang="en-US" sz="1400" dirty="0"/>
          </a:p>
          <a:p>
            <a:pPr marL="0" indent="0">
              <a:buNone/>
            </a:pPr>
            <a:r>
              <a:rPr lang="en-US" sz="1400" dirty="0">
                <a:solidFill>
                  <a:srgbClr val="1B2A30"/>
                </a:solidFill>
                <a:latin typeface="Calibri" pitchFamily="34" charset="0"/>
                <a:ea typeface="Calibri" pitchFamily="34" charset="-122"/>
                <a:cs typeface="Calibri" pitchFamily="34" charset="-120"/>
              </a:rPr>
              <a:t>tên phường hệ mới</a:t>
            </a:r>
            <a:endParaRPr lang="en-US" sz="1400" dirty="0"/>
          </a:p>
        </p:txBody>
      </p:sp>
      <p:sp>
        <p:nvSpPr>
          <p:cNvPr id="27" name="Shape 24"/>
          <p:cNvSpPr/>
          <p:nvPr/>
        </p:nvSpPr>
        <p:spPr>
          <a:xfrm>
            <a:off x="9546336" y="2880360"/>
            <a:ext cx="329184" cy="0"/>
          </a:xfrm>
          <a:prstGeom prst="line">
            <a:avLst/>
          </a:prstGeom>
          <a:noFill/>
          <a:ln w="19050">
            <a:solidFill>
              <a:srgbClr val="5B6D74"/>
            </a:solidFill>
            <a:prstDash val="solid"/>
            <a:tailEnd type="triangle"/>
          </a:ln>
        </p:spPr>
        <p:txBody>
          <a:bodyPr/>
          <a:lstStyle/>
          <a:p>
            <a:endParaRPr lang="en-VN"/>
          </a:p>
        </p:txBody>
      </p:sp>
      <p:sp>
        <p:nvSpPr>
          <p:cNvPr id="28" name="Shape 25"/>
          <p:cNvSpPr/>
          <p:nvPr/>
        </p:nvSpPr>
        <p:spPr>
          <a:xfrm>
            <a:off x="9921240" y="2286000"/>
            <a:ext cx="1691640" cy="1188720"/>
          </a:xfrm>
          <a:prstGeom prst="roundRect">
            <a:avLst>
              <a:gd name="adj" fmla="val 7692"/>
            </a:avLst>
          </a:prstGeom>
          <a:solidFill>
            <a:srgbClr val="13303A"/>
          </a:solidFill>
          <a:ln w="12700">
            <a:solidFill>
              <a:srgbClr val="13303A"/>
            </a:solidFill>
            <a:prstDash val="solid"/>
          </a:ln>
        </p:spPr>
        <p:txBody>
          <a:bodyPr/>
          <a:lstStyle/>
          <a:p>
            <a:endParaRPr lang="en-VN"/>
          </a:p>
        </p:txBody>
      </p:sp>
      <p:sp>
        <p:nvSpPr>
          <p:cNvPr id="29" name="Text 26"/>
          <p:cNvSpPr txBox="1"/>
          <p:nvPr/>
        </p:nvSpPr>
        <p:spPr>
          <a:xfrm>
            <a:off x="10058400" y="2423160"/>
            <a:ext cx="1463040" cy="411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1 cặp ánh xạ</a:t>
            </a:r>
            <a:endParaRPr lang="en-US" sz="1500" dirty="0"/>
          </a:p>
        </p:txBody>
      </p:sp>
      <p:sp>
        <p:nvSpPr>
          <p:cNvPr id="30" name="Text 27"/>
          <p:cNvSpPr txBox="1"/>
          <p:nvPr/>
        </p:nvSpPr>
        <p:spPr>
          <a:xfrm>
            <a:off x="10058400" y="2834640"/>
            <a:ext cx="1463040" cy="457200"/>
          </a:xfrm>
          <a:prstGeom prst="rect">
            <a:avLst/>
          </a:prstGeom>
          <a:noFill/>
          <a:ln/>
        </p:spPr>
        <p:txBody>
          <a:bodyPr wrap="square" lIns="0" tIns="0" rIns="0" bIns="0" rtlCol="0" anchor="t"/>
          <a:lstStyle/>
          <a:p>
            <a:pPr marL="0" indent="0">
              <a:buNone/>
            </a:pPr>
            <a:r>
              <a:rPr lang="en-US" sz="1200" dirty="0">
                <a:solidFill>
                  <a:srgbClr val="B4CAD0"/>
                </a:solidFill>
                <a:latin typeface="Calibri" pitchFamily="34" charset="0"/>
                <a:ea typeface="Calibri" pitchFamily="34" charset="-122"/>
                <a:cs typeface="Calibri" pitchFamily="34" charset="-120"/>
              </a:rPr>
              <a:t>do sàn khẳng định</a:t>
            </a:r>
            <a:endParaRPr lang="en-US" sz="1200" dirty="0"/>
          </a:p>
        </p:txBody>
      </p:sp>
      <p:sp>
        <p:nvSpPr>
          <p:cNvPr id="31" name="Shape 28"/>
          <p:cNvSpPr/>
          <p:nvPr/>
        </p:nvSpPr>
        <p:spPr>
          <a:xfrm>
            <a:off x="5120640" y="3886200"/>
            <a:ext cx="1463040" cy="457200"/>
          </a:xfrm>
          <a:prstGeom prst="roundRect">
            <a:avLst>
              <a:gd name="adj" fmla="val 20000"/>
            </a:avLst>
          </a:prstGeom>
          <a:solidFill>
            <a:srgbClr val="EAF2F3"/>
          </a:solidFill>
          <a:ln w="12700">
            <a:solidFill>
              <a:srgbClr val="EAF2F3"/>
            </a:solidFill>
            <a:prstDash val="solid"/>
          </a:ln>
        </p:spPr>
        <p:txBody>
          <a:bodyPr/>
          <a:lstStyle/>
          <a:p>
            <a:endParaRPr lang="en-VN"/>
          </a:p>
        </p:txBody>
      </p:sp>
      <p:sp>
        <p:nvSpPr>
          <p:cNvPr id="32" name="Text 29"/>
          <p:cNvSpPr txBox="1"/>
          <p:nvPr/>
        </p:nvSpPr>
        <p:spPr>
          <a:xfrm>
            <a:off x="5120640" y="3886200"/>
            <a:ext cx="1463040" cy="457200"/>
          </a:xfrm>
          <a:prstGeom prst="rect">
            <a:avLst/>
          </a:prstGeom>
          <a:noFill/>
          <a:ln/>
        </p:spPr>
        <p:txBody>
          <a:bodyPr wrap="square" lIns="0" tIns="0" rIns="0" bIns="0" rtlCol="0" anchor="ctr"/>
          <a:lstStyle/>
          <a:p>
            <a:pPr marL="0" indent="0" algn="ctr">
              <a:buNone/>
            </a:pPr>
            <a:r>
              <a:rPr lang="en-US" sz="1300" dirty="0">
                <a:solidFill>
                  <a:srgbClr val="1B2A30"/>
                </a:solidFill>
                <a:latin typeface="Calibri" pitchFamily="34" charset="0"/>
                <a:ea typeface="Calibri" pitchFamily="34" charset="-122"/>
                <a:cs typeface="Calibri" pitchFamily="34" charset="-120"/>
              </a:rPr>
              <a:t>Phường cũ A</a:t>
            </a:r>
            <a:endParaRPr lang="en-US" sz="1300" dirty="0"/>
          </a:p>
        </p:txBody>
      </p:sp>
      <p:sp>
        <p:nvSpPr>
          <p:cNvPr id="33" name="Shape 30"/>
          <p:cNvSpPr/>
          <p:nvPr/>
        </p:nvSpPr>
        <p:spPr>
          <a:xfrm>
            <a:off x="6601968" y="4114800"/>
            <a:ext cx="530352" cy="630936"/>
          </a:xfrm>
          <a:prstGeom prst="line">
            <a:avLst/>
          </a:prstGeom>
          <a:noFill/>
          <a:ln w="15875">
            <a:solidFill>
              <a:srgbClr val="5B6D74"/>
            </a:solidFill>
            <a:prstDash val="solid"/>
          </a:ln>
        </p:spPr>
        <p:txBody>
          <a:bodyPr/>
          <a:lstStyle/>
          <a:p>
            <a:endParaRPr lang="en-VN"/>
          </a:p>
        </p:txBody>
      </p:sp>
      <p:sp>
        <p:nvSpPr>
          <p:cNvPr id="34" name="Shape 31"/>
          <p:cNvSpPr/>
          <p:nvPr/>
        </p:nvSpPr>
        <p:spPr>
          <a:xfrm>
            <a:off x="5120640" y="4507992"/>
            <a:ext cx="1463040" cy="457200"/>
          </a:xfrm>
          <a:prstGeom prst="roundRect">
            <a:avLst>
              <a:gd name="adj" fmla="val 20000"/>
            </a:avLst>
          </a:prstGeom>
          <a:solidFill>
            <a:srgbClr val="EAF2F3"/>
          </a:solidFill>
          <a:ln w="12700">
            <a:solidFill>
              <a:srgbClr val="EAF2F3"/>
            </a:solidFill>
            <a:prstDash val="solid"/>
          </a:ln>
        </p:spPr>
        <p:txBody>
          <a:bodyPr/>
          <a:lstStyle/>
          <a:p>
            <a:endParaRPr lang="en-VN"/>
          </a:p>
        </p:txBody>
      </p:sp>
      <p:sp>
        <p:nvSpPr>
          <p:cNvPr id="35" name="Text 32"/>
          <p:cNvSpPr txBox="1"/>
          <p:nvPr/>
        </p:nvSpPr>
        <p:spPr>
          <a:xfrm>
            <a:off x="5120640" y="4507992"/>
            <a:ext cx="1463040" cy="457200"/>
          </a:xfrm>
          <a:prstGeom prst="rect">
            <a:avLst/>
          </a:prstGeom>
          <a:noFill/>
          <a:ln/>
        </p:spPr>
        <p:txBody>
          <a:bodyPr wrap="square" lIns="0" tIns="0" rIns="0" bIns="0" rtlCol="0" anchor="ctr"/>
          <a:lstStyle/>
          <a:p>
            <a:pPr marL="0" indent="0" algn="ctr">
              <a:buNone/>
            </a:pPr>
            <a:r>
              <a:rPr lang="en-US" sz="1300" dirty="0">
                <a:solidFill>
                  <a:srgbClr val="1B2A30"/>
                </a:solidFill>
                <a:latin typeface="Calibri" pitchFamily="34" charset="0"/>
                <a:ea typeface="Calibri" pitchFamily="34" charset="-122"/>
                <a:cs typeface="Calibri" pitchFamily="34" charset="-120"/>
              </a:rPr>
              <a:t>Phường cũ B</a:t>
            </a:r>
            <a:endParaRPr lang="en-US" sz="1300" dirty="0"/>
          </a:p>
        </p:txBody>
      </p:sp>
      <p:sp>
        <p:nvSpPr>
          <p:cNvPr id="36" name="Shape 33"/>
          <p:cNvSpPr/>
          <p:nvPr/>
        </p:nvSpPr>
        <p:spPr>
          <a:xfrm>
            <a:off x="6601968" y="4736592"/>
            <a:ext cx="530352" cy="9144"/>
          </a:xfrm>
          <a:prstGeom prst="line">
            <a:avLst/>
          </a:prstGeom>
          <a:noFill/>
          <a:ln w="15875">
            <a:solidFill>
              <a:srgbClr val="5B6D74"/>
            </a:solidFill>
            <a:prstDash val="solid"/>
          </a:ln>
        </p:spPr>
        <p:txBody>
          <a:bodyPr/>
          <a:lstStyle/>
          <a:p>
            <a:endParaRPr lang="en-VN"/>
          </a:p>
        </p:txBody>
      </p:sp>
      <p:sp>
        <p:nvSpPr>
          <p:cNvPr id="37" name="Shape 34"/>
          <p:cNvSpPr/>
          <p:nvPr/>
        </p:nvSpPr>
        <p:spPr>
          <a:xfrm>
            <a:off x="5120640" y="5129784"/>
            <a:ext cx="1463040" cy="457200"/>
          </a:xfrm>
          <a:prstGeom prst="roundRect">
            <a:avLst>
              <a:gd name="adj" fmla="val 20000"/>
            </a:avLst>
          </a:prstGeom>
          <a:solidFill>
            <a:srgbClr val="EAF2F3"/>
          </a:solidFill>
          <a:ln w="12700">
            <a:solidFill>
              <a:srgbClr val="EAF2F3"/>
            </a:solidFill>
            <a:prstDash val="solid"/>
          </a:ln>
        </p:spPr>
        <p:txBody>
          <a:bodyPr/>
          <a:lstStyle/>
          <a:p>
            <a:endParaRPr lang="en-VN"/>
          </a:p>
        </p:txBody>
      </p:sp>
      <p:sp>
        <p:nvSpPr>
          <p:cNvPr id="38" name="Text 35"/>
          <p:cNvSpPr txBox="1"/>
          <p:nvPr/>
        </p:nvSpPr>
        <p:spPr>
          <a:xfrm>
            <a:off x="5120640" y="5129784"/>
            <a:ext cx="1463040" cy="457200"/>
          </a:xfrm>
          <a:prstGeom prst="rect">
            <a:avLst/>
          </a:prstGeom>
          <a:noFill/>
          <a:ln/>
        </p:spPr>
        <p:txBody>
          <a:bodyPr wrap="square" lIns="0" tIns="0" rIns="0" bIns="0" rtlCol="0" anchor="ctr"/>
          <a:lstStyle/>
          <a:p>
            <a:pPr marL="0" indent="0" algn="ctr">
              <a:buNone/>
            </a:pPr>
            <a:r>
              <a:rPr lang="en-US" sz="1300" dirty="0">
                <a:solidFill>
                  <a:srgbClr val="1B2A30"/>
                </a:solidFill>
                <a:latin typeface="Calibri" pitchFamily="34" charset="0"/>
                <a:ea typeface="Calibri" pitchFamily="34" charset="-122"/>
                <a:cs typeface="Calibri" pitchFamily="34" charset="-120"/>
              </a:rPr>
              <a:t>Phường cũ C</a:t>
            </a:r>
            <a:endParaRPr lang="en-US" sz="1300" dirty="0"/>
          </a:p>
        </p:txBody>
      </p:sp>
      <p:sp>
        <p:nvSpPr>
          <p:cNvPr id="39" name="Shape 36"/>
          <p:cNvSpPr/>
          <p:nvPr/>
        </p:nvSpPr>
        <p:spPr>
          <a:xfrm flipV="1">
            <a:off x="6601968" y="4745736"/>
            <a:ext cx="530352" cy="612648"/>
          </a:xfrm>
          <a:prstGeom prst="line">
            <a:avLst/>
          </a:prstGeom>
          <a:noFill/>
          <a:ln w="15875">
            <a:solidFill>
              <a:srgbClr val="5B6D74"/>
            </a:solidFill>
            <a:prstDash val="solid"/>
          </a:ln>
        </p:spPr>
        <p:txBody>
          <a:bodyPr/>
          <a:lstStyle/>
          <a:p>
            <a:endParaRPr lang="en-VN"/>
          </a:p>
        </p:txBody>
      </p:sp>
      <p:sp>
        <p:nvSpPr>
          <p:cNvPr id="40" name="Shape 37"/>
          <p:cNvSpPr/>
          <p:nvPr/>
        </p:nvSpPr>
        <p:spPr>
          <a:xfrm>
            <a:off x="7150608" y="4379976"/>
            <a:ext cx="1508760" cy="731520"/>
          </a:xfrm>
          <a:prstGeom prst="roundRect">
            <a:avLst>
              <a:gd name="adj" fmla="val 12500"/>
            </a:avLst>
          </a:prstGeom>
          <a:solidFill>
            <a:srgbClr val="1F4A57"/>
          </a:solidFill>
          <a:ln w="12700">
            <a:solidFill>
              <a:srgbClr val="1F4A57"/>
            </a:solidFill>
            <a:prstDash val="solid"/>
          </a:ln>
        </p:spPr>
        <p:txBody>
          <a:bodyPr/>
          <a:lstStyle/>
          <a:p>
            <a:endParaRPr lang="en-VN"/>
          </a:p>
        </p:txBody>
      </p:sp>
      <p:sp>
        <p:nvSpPr>
          <p:cNvPr id="41" name="Text 38"/>
          <p:cNvSpPr txBox="1"/>
          <p:nvPr/>
        </p:nvSpPr>
        <p:spPr>
          <a:xfrm>
            <a:off x="7150608" y="4379976"/>
            <a:ext cx="150876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Phường mới X</a:t>
            </a:r>
            <a:endParaRPr lang="en-US" sz="1400" dirty="0"/>
          </a:p>
        </p:txBody>
      </p:sp>
      <p:sp>
        <p:nvSpPr>
          <p:cNvPr id="42" name="Text 39"/>
          <p:cNvSpPr txBox="1"/>
          <p:nvPr/>
        </p:nvSpPr>
        <p:spPr>
          <a:xfrm>
            <a:off x="5120640" y="5806440"/>
            <a:ext cx="3657600" cy="274320"/>
          </a:xfrm>
          <a:prstGeom prst="rect">
            <a:avLst/>
          </a:prstGeom>
          <a:noFill/>
          <a:ln/>
        </p:spPr>
        <p:txBody>
          <a:bodyPr wrap="square" lIns="0" tIns="0" rIns="0" bIns="0" rtlCol="0" anchor="t"/>
          <a:lstStyle/>
          <a:p>
            <a:pPr marL="0" indent="0">
              <a:buNone/>
            </a:pPr>
            <a:r>
              <a:rPr lang="en-US" sz="1100" dirty="0">
                <a:solidFill>
                  <a:srgbClr val="5B6D74"/>
                </a:solidFill>
                <a:latin typeface="Calibri" pitchFamily="34" charset="0"/>
                <a:ea typeface="Calibri" pitchFamily="34" charset="-122"/>
                <a:cs typeface="Calibri" pitchFamily="34" charset="-120"/>
              </a:rPr>
              <a:t>Minh hoạ: nhiều phường cũ gộp vào một phường mới</a:t>
            </a:r>
            <a:endParaRPr lang="en-US" sz="1100" dirty="0"/>
          </a:p>
        </p:txBody>
      </p:sp>
      <p:sp>
        <p:nvSpPr>
          <p:cNvPr id="43" name="Shape 40"/>
          <p:cNvSpPr/>
          <p:nvPr/>
        </p:nvSpPr>
        <p:spPr>
          <a:xfrm>
            <a:off x="9006840" y="3886200"/>
            <a:ext cx="2606040" cy="1024128"/>
          </a:xfrm>
          <a:prstGeom prst="roundRect">
            <a:avLst>
              <a:gd name="adj" fmla="val 8929"/>
            </a:avLst>
          </a:prstGeom>
          <a:solidFill>
            <a:srgbClr val="FBEAE3"/>
          </a:solidFill>
          <a:ln w="12700">
            <a:solidFill>
              <a:srgbClr val="FBEAE3"/>
            </a:solidFill>
            <a:prstDash val="solid"/>
          </a:ln>
        </p:spPr>
        <p:txBody>
          <a:bodyPr/>
          <a:lstStyle/>
          <a:p>
            <a:endParaRPr lang="en-VN"/>
          </a:p>
        </p:txBody>
      </p:sp>
      <p:sp>
        <p:nvSpPr>
          <p:cNvPr id="44" name="Text 41"/>
          <p:cNvSpPr txBox="1"/>
          <p:nvPr/>
        </p:nvSpPr>
        <p:spPr>
          <a:xfrm>
            <a:off x="9189720" y="3931920"/>
            <a:ext cx="2286000" cy="502920"/>
          </a:xfrm>
          <a:prstGeom prst="rect">
            <a:avLst/>
          </a:prstGeom>
          <a:noFill/>
          <a:ln/>
        </p:spPr>
        <p:txBody>
          <a:bodyPr wrap="square" lIns="0" tIns="0" rIns="0" bIns="0" rtlCol="0" anchor="t"/>
          <a:lstStyle/>
          <a:p>
            <a:pPr marL="0" indent="0">
              <a:buNone/>
            </a:pPr>
            <a:r>
              <a:rPr lang="en-US" sz="3000" b="1" dirty="0">
                <a:solidFill>
                  <a:srgbClr val="C8553A"/>
                </a:solidFill>
                <a:latin typeface="Calibri" pitchFamily="34" charset="0"/>
                <a:ea typeface="Calibri" pitchFamily="34" charset="-122"/>
                <a:cs typeface="Calibri" pitchFamily="34" charset="-120"/>
              </a:rPr>
              <a:t>14/16</a:t>
            </a:r>
            <a:endParaRPr lang="en-US" sz="3000" dirty="0"/>
          </a:p>
        </p:txBody>
      </p:sp>
      <p:sp>
        <p:nvSpPr>
          <p:cNvPr id="45" name="Text 42"/>
          <p:cNvSpPr txBox="1"/>
          <p:nvPr/>
        </p:nvSpPr>
        <p:spPr>
          <a:xfrm>
            <a:off x="9189720" y="4416552"/>
            <a:ext cx="2331720" cy="457200"/>
          </a:xfrm>
          <a:prstGeom prst="rect">
            <a:avLst/>
          </a:prstGeom>
          <a:noFill/>
          <a:ln/>
        </p:spPr>
        <p:txBody>
          <a:bodyPr wrap="square" lIns="0" tIns="0" rIns="0" bIns="0" rtlCol="0" anchor="t"/>
          <a:lstStyle/>
          <a:p>
            <a:pPr marL="0" indent="0">
              <a:buNone/>
            </a:pPr>
            <a:r>
              <a:rPr lang="en-US" sz="1250" dirty="0">
                <a:solidFill>
                  <a:srgbClr val="1B2A30"/>
                </a:solidFill>
                <a:latin typeface="Calibri" pitchFamily="34" charset="0"/>
                <a:ea typeface="Calibri" pitchFamily="34" charset="-122"/>
                <a:cs typeface="Calibri" pitchFamily="34" charset="-120"/>
              </a:rPr>
              <a:t>phường mới gộp từ nhiều phường cũ</a:t>
            </a:r>
            <a:endParaRPr lang="en-US" sz="1250" dirty="0"/>
          </a:p>
        </p:txBody>
      </p:sp>
      <p:sp>
        <p:nvSpPr>
          <p:cNvPr id="46" name="Shape 43"/>
          <p:cNvSpPr/>
          <p:nvPr/>
        </p:nvSpPr>
        <p:spPr>
          <a:xfrm>
            <a:off x="9006840" y="5029200"/>
            <a:ext cx="2606040" cy="1097280"/>
          </a:xfrm>
          <a:prstGeom prst="roundRect">
            <a:avLst>
              <a:gd name="adj" fmla="val 8333"/>
            </a:avLst>
          </a:prstGeom>
          <a:solidFill>
            <a:srgbClr val="FBEAE3"/>
          </a:solidFill>
          <a:ln w="12700">
            <a:solidFill>
              <a:srgbClr val="FBEAE3"/>
            </a:solidFill>
            <a:prstDash val="solid"/>
          </a:ln>
        </p:spPr>
        <p:txBody>
          <a:bodyPr/>
          <a:lstStyle/>
          <a:p>
            <a:endParaRPr lang="en-VN"/>
          </a:p>
        </p:txBody>
      </p:sp>
      <p:sp>
        <p:nvSpPr>
          <p:cNvPr id="47" name="Text 44"/>
          <p:cNvSpPr txBox="1"/>
          <p:nvPr/>
        </p:nvSpPr>
        <p:spPr>
          <a:xfrm>
            <a:off x="9189720" y="5074920"/>
            <a:ext cx="2286000" cy="502920"/>
          </a:xfrm>
          <a:prstGeom prst="rect">
            <a:avLst/>
          </a:prstGeom>
          <a:noFill/>
          <a:ln/>
        </p:spPr>
        <p:txBody>
          <a:bodyPr wrap="square" lIns="0" tIns="0" rIns="0" bIns="0" rtlCol="0" anchor="t"/>
          <a:lstStyle/>
          <a:p>
            <a:pPr marL="0" indent="0">
              <a:buNone/>
            </a:pPr>
            <a:r>
              <a:rPr lang="en-US" sz="3000" b="1" dirty="0">
                <a:solidFill>
                  <a:srgbClr val="C8553A"/>
                </a:solidFill>
                <a:latin typeface="Calibri" pitchFamily="34" charset="0"/>
                <a:ea typeface="Calibri" pitchFamily="34" charset="-122"/>
                <a:cs typeface="Calibri" pitchFamily="34" charset="-120"/>
              </a:rPr>
              <a:t>0,45</a:t>
            </a:r>
            <a:endParaRPr lang="en-US" sz="3000" dirty="0"/>
          </a:p>
        </p:txBody>
      </p:sp>
      <p:sp>
        <p:nvSpPr>
          <p:cNvPr id="48" name="Text 45"/>
          <p:cNvSpPr txBox="1"/>
          <p:nvPr/>
        </p:nvSpPr>
        <p:spPr>
          <a:xfrm>
            <a:off x="9189720" y="5559552"/>
            <a:ext cx="2331720" cy="548640"/>
          </a:xfrm>
          <a:prstGeom prst="rect">
            <a:avLst/>
          </a:prstGeom>
          <a:noFill/>
          <a:ln/>
        </p:spPr>
        <p:txBody>
          <a:bodyPr wrap="square" lIns="0" tIns="0" rIns="0" bIns="0" rtlCol="0" anchor="t"/>
          <a:lstStyle/>
          <a:p>
            <a:pPr marL="0" indent="0">
              <a:buNone/>
            </a:pPr>
            <a:r>
              <a:rPr lang="en-US" sz="1200" dirty="0">
                <a:solidFill>
                  <a:srgbClr val="1B2A30"/>
                </a:solidFill>
                <a:latin typeface="Calibri" pitchFamily="34" charset="0"/>
                <a:ea typeface="Calibri" pitchFamily="34" charset="-122"/>
                <a:cs typeface="Calibri" pitchFamily="34" charset="-120"/>
              </a:rPr>
              <a:t>tỷ lệ đa số thấp nhất: phường cũ đông tin nhất chỉ chiếm 45%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CHỐNG RÒ RỈ NHÃN</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Chống rò rỉ nhãn: kiểm, không tin</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pic>
        <p:nvPicPr>
          <p:cNvPr id="8" name="Image 0" descr="preencoded.png"/>
          <p:cNvPicPr>
            <a:picLocks noChangeAspect="1"/>
          </p:cNvPicPr>
          <p:nvPr/>
        </p:nvPicPr>
        <p:blipFill>
          <a:blip r:embed="rId3"/>
          <a:stretch>
            <a:fillRect/>
          </a:stretch>
        </p:blipFill>
        <p:spPr>
          <a:xfrm>
            <a:off x="548640" y="1810512"/>
            <a:ext cx="347472" cy="347472"/>
          </a:xfrm>
          <a:prstGeom prst="rect">
            <a:avLst/>
          </a:prstGeom>
        </p:spPr>
      </p:pic>
      <p:sp>
        <p:nvSpPr>
          <p:cNvPr id="9" name="Text 6"/>
          <p:cNvSpPr txBox="1"/>
          <p:nvPr/>
        </p:nvSpPr>
        <p:spPr>
          <a:xfrm>
            <a:off x="1051560" y="1737360"/>
            <a:ext cx="10515600" cy="502920"/>
          </a:xfrm>
          <a:prstGeom prst="rect">
            <a:avLst/>
          </a:prstGeom>
          <a:noFill/>
          <a:ln/>
        </p:spPr>
        <p:txBody>
          <a:bodyPr wrap="square" lIns="0" tIns="0" rIns="0" bIns="0" rtlCol="0" anchor="ctr"/>
          <a:lstStyle/>
          <a:p>
            <a:pPr marL="0" indent="0">
              <a:buNone/>
            </a:pPr>
            <a:r>
              <a:rPr lang="en-US" sz="1800" dirty="0">
                <a:solidFill>
                  <a:srgbClr val="1B2A30"/>
                </a:solidFill>
                <a:latin typeface="Calibri" pitchFamily="34" charset="0"/>
                <a:ea typeface="Calibri" pitchFamily="34" charset="-122"/>
                <a:cs typeface="Calibri" pitchFamily="34" charset="-120"/>
              </a:rPr>
              <a:t>Danh sách kiểm chạy trước </a:t>
            </a:r>
            <a:r>
              <a:rPr lang="en-US" sz="1800" b="1" dirty="0">
                <a:solidFill>
                  <a:srgbClr val="1B2A30"/>
                </a:solidFill>
                <a:latin typeface="Calibri" pitchFamily="34" charset="0"/>
                <a:ea typeface="Calibri" pitchFamily="34" charset="-122"/>
                <a:cs typeface="Calibri" pitchFamily="34" charset="-120"/>
              </a:rPr>
              <a:t>mỗi</a:t>
            </a:r>
            <a:r>
              <a:rPr lang="en-US" sz="1800" dirty="0">
                <a:solidFill>
                  <a:srgbClr val="1B2A30"/>
                </a:solidFill>
                <a:latin typeface="Calibri" pitchFamily="34" charset="0"/>
                <a:ea typeface="Calibri" pitchFamily="34" charset="-122"/>
                <a:cs typeface="Calibri" pitchFamily="34" charset="-120"/>
              </a:rPr>
              <a:t> lần huấn luyện. Nó bắt được hai lỗi thật:</a:t>
            </a:r>
            <a:endParaRPr lang="en-US" sz="1800" dirty="0"/>
          </a:p>
        </p:txBody>
      </p:sp>
      <p:sp>
        <p:nvSpPr>
          <p:cNvPr id="10" name="Shape 7"/>
          <p:cNvSpPr/>
          <p:nvPr/>
        </p:nvSpPr>
        <p:spPr>
          <a:xfrm>
            <a:off x="548640" y="2423160"/>
            <a:ext cx="5440680" cy="2743200"/>
          </a:xfrm>
          <a:prstGeom prst="roundRect">
            <a:avLst>
              <a:gd name="adj" fmla="val 3333"/>
            </a:avLst>
          </a:prstGeom>
          <a:solidFill>
            <a:srgbClr val="FFFFFF"/>
          </a:solidFill>
          <a:ln w="12700">
            <a:solidFill>
              <a:srgbClr val="D3DFE2"/>
            </a:solidFill>
            <a:prstDash val="solid"/>
          </a:ln>
          <a:effectLst>
            <a:outerShdw blurRad="127000" dist="25400" dir="5400000" algn="bl" rotWithShape="0">
              <a:srgbClr val="000000">
                <a:alpha val="10000"/>
              </a:srgbClr>
            </a:outerShdw>
          </a:effectLst>
        </p:spPr>
        <p:txBody>
          <a:bodyPr/>
          <a:lstStyle/>
          <a:p>
            <a:endParaRPr lang="en-VN"/>
          </a:p>
        </p:txBody>
      </p:sp>
      <p:sp>
        <p:nvSpPr>
          <p:cNvPr id="11" name="Shape 8"/>
          <p:cNvSpPr/>
          <p:nvPr/>
        </p:nvSpPr>
        <p:spPr>
          <a:xfrm>
            <a:off x="822960" y="2697480"/>
            <a:ext cx="822960" cy="310896"/>
          </a:xfrm>
          <a:prstGeom prst="roundRect">
            <a:avLst>
              <a:gd name="adj" fmla="val 50000"/>
            </a:avLst>
          </a:prstGeom>
          <a:solidFill>
            <a:srgbClr val="C8553A"/>
          </a:solidFill>
          <a:ln w="12700">
            <a:solidFill>
              <a:srgbClr val="C8553A"/>
            </a:solidFill>
            <a:prstDash val="solid"/>
          </a:ln>
        </p:spPr>
        <p:txBody>
          <a:bodyPr/>
          <a:lstStyle/>
          <a:p>
            <a:endParaRPr lang="en-VN"/>
          </a:p>
        </p:txBody>
      </p:sp>
      <p:sp>
        <p:nvSpPr>
          <p:cNvPr id="12" name="Text 9"/>
          <p:cNvSpPr txBox="1"/>
          <p:nvPr/>
        </p:nvSpPr>
        <p:spPr>
          <a:xfrm>
            <a:off x="822960" y="26974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Lỗi 1</a:t>
            </a:r>
            <a:endParaRPr lang="en-US" sz="1200" dirty="0"/>
          </a:p>
        </p:txBody>
      </p:sp>
      <p:sp>
        <p:nvSpPr>
          <p:cNvPr id="13" name="Text 10"/>
          <p:cNvSpPr txBox="1"/>
          <p:nvPr/>
        </p:nvSpPr>
        <p:spPr>
          <a:xfrm>
            <a:off x="822960" y="3136392"/>
            <a:ext cx="4892040" cy="411480"/>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Bước tách từ tái tạo cụm tiền</a:t>
            </a:r>
            <a:endParaRPr lang="en-US" sz="1800" dirty="0"/>
          </a:p>
        </p:txBody>
      </p:sp>
      <p:sp>
        <p:nvSpPr>
          <p:cNvPr id="14" name="Shape 11"/>
          <p:cNvSpPr/>
          <p:nvPr/>
        </p:nvSpPr>
        <p:spPr>
          <a:xfrm>
            <a:off x="822960" y="3657600"/>
            <a:ext cx="2011680" cy="594360"/>
          </a:xfrm>
          <a:prstGeom prst="roundRect">
            <a:avLst>
              <a:gd name="adj" fmla="val 15385"/>
            </a:avLst>
          </a:prstGeom>
          <a:solidFill>
            <a:srgbClr val="EAF2F3"/>
          </a:solidFill>
          <a:ln w="12700">
            <a:solidFill>
              <a:srgbClr val="EAF2F3"/>
            </a:solidFill>
            <a:prstDash val="solid"/>
          </a:ln>
        </p:spPr>
        <p:txBody>
          <a:bodyPr/>
          <a:lstStyle/>
          <a:p>
            <a:endParaRPr lang="en-VN"/>
          </a:p>
        </p:txBody>
      </p:sp>
      <p:sp>
        <p:nvSpPr>
          <p:cNvPr id="15" name="Text 12"/>
          <p:cNvSpPr txBox="1"/>
          <p:nvPr/>
        </p:nvSpPr>
        <p:spPr>
          <a:xfrm>
            <a:off x="822960" y="3657600"/>
            <a:ext cx="2011680" cy="594360"/>
          </a:xfrm>
          <a:prstGeom prst="rect">
            <a:avLst/>
          </a:prstGeom>
          <a:noFill/>
          <a:ln/>
        </p:spPr>
        <p:txBody>
          <a:bodyPr wrap="square" lIns="0" tIns="0" rIns="0" bIns="0" rtlCol="0" anchor="ctr"/>
          <a:lstStyle/>
          <a:p>
            <a:pPr marL="0" indent="0" algn="ctr">
              <a:buNone/>
            </a:pPr>
            <a:r>
              <a:rPr lang="en-US" sz="1900" b="1" dirty="0">
                <a:solidFill>
                  <a:srgbClr val="13303A"/>
                </a:solidFill>
                <a:latin typeface="Calibri" pitchFamily="34" charset="0"/>
                <a:ea typeface="Calibri" pitchFamily="34" charset="-122"/>
                <a:cs typeface="Calibri" pitchFamily="34" charset="-120"/>
              </a:rPr>
              <a:t>5,85 tỷ</a:t>
            </a:r>
            <a:endParaRPr lang="en-US" sz="1900" dirty="0"/>
          </a:p>
        </p:txBody>
      </p:sp>
      <p:sp>
        <p:nvSpPr>
          <p:cNvPr id="16" name="Text 13"/>
          <p:cNvSpPr txBox="1"/>
          <p:nvPr/>
        </p:nvSpPr>
        <p:spPr>
          <a:xfrm>
            <a:off x="2834640" y="3575304"/>
            <a:ext cx="914400" cy="274320"/>
          </a:xfrm>
          <a:prstGeom prst="rect">
            <a:avLst/>
          </a:prstGeom>
          <a:noFill/>
          <a:ln/>
        </p:spPr>
        <p:txBody>
          <a:bodyPr wrap="square" lIns="0" tIns="0" rIns="0" bIns="0" rtlCol="0" anchor="t"/>
          <a:lstStyle/>
          <a:p>
            <a:pPr marL="0" indent="0" algn="ctr">
              <a:buNone/>
            </a:pPr>
            <a:r>
              <a:rPr lang="en-US" sz="1100" dirty="0">
                <a:solidFill>
                  <a:srgbClr val="5B6D74"/>
                </a:solidFill>
                <a:latin typeface="Calibri" pitchFamily="34" charset="0"/>
                <a:ea typeface="Calibri" pitchFamily="34" charset="-122"/>
                <a:cs typeface="Calibri" pitchFamily="34" charset="-120"/>
              </a:rPr>
              <a:t>bỏ dấu phẩy</a:t>
            </a:r>
            <a:endParaRPr lang="en-US" sz="1100" dirty="0"/>
          </a:p>
        </p:txBody>
      </p:sp>
      <p:sp>
        <p:nvSpPr>
          <p:cNvPr id="17" name="Shape 14"/>
          <p:cNvSpPr/>
          <p:nvPr/>
        </p:nvSpPr>
        <p:spPr>
          <a:xfrm>
            <a:off x="2926080" y="3959352"/>
            <a:ext cx="731520" cy="0"/>
          </a:xfrm>
          <a:prstGeom prst="line">
            <a:avLst/>
          </a:prstGeom>
          <a:noFill/>
          <a:ln w="19050">
            <a:solidFill>
              <a:srgbClr val="5B6D74"/>
            </a:solidFill>
            <a:prstDash val="solid"/>
            <a:tailEnd type="triangle"/>
          </a:ln>
        </p:spPr>
        <p:txBody>
          <a:bodyPr/>
          <a:lstStyle/>
          <a:p>
            <a:endParaRPr lang="en-VN"/>
          </a:p>
        </p:txBody>
      </p:sp>
      <p:sp>
        <p:nvSpPr>
          <p:cNvPr id="18" name="Shape 15"/>
          <p:cNvSpPr/>
          <p:nvPr/>
        </p:nvSpPr>
        <p:spPr>
          <a:xfrm>
            <a:off x="3749040" y="3657600"/>
            <a:ext cx="1965960" cy="594360"/>
          </a:xfrm>
          <a:prstGeom prst="roundRect">
            <a:avLst>
              <a:gd name="adj" fmla="val 15385"/>
            </a:avLst>
          </a:prstGeom>
          <a:solidFill>
            <a:srgbClr val="FBEAE3"/>
          </a:solidFill>
          <a:ln w="12700">
            <a:solidFill>
              <a:srgbClr val="FBEAE3"/>
            </a:solidFill>
            <a:prstDash val="solid"/>
          </a:ln>
        </p:spPr>
        <p:txBody>
          <a:bodyPr/>
          <a:lstStyle/>
          <a:p>
            <a:endParaRPr lang="en-VN"/>
          </a:p>
        </p:txBody>
      </p:sp>
      <p:sp>
        <p:nvSpPr>
          <p:cNvPr id="19" name="Text 16"/>
          <p:cNvSpPr txBox="1"/>
          <p:nvPr/>
        </p:nvSpPr>
        <p:spPr>
          <a:xfrm>
            <a:off x="3749040" y="3657600"/>
            <a:ext cx="1965960" cy="594360"/>
          </a:xfrm>
          <a:prstGeom prst="rect">
            <a:avLst/>
          </a:prstGeom>
          <a:noFill/>
          <a:ln/>
        </p:spPr>
        <p:txBody>
          <a:bodyPr wrap="square" lIns="0" tIns="0" rIns="0" bIns="0" rtlCol="0" anchor="ctr"/>
          <a:lstStyle/>
          <a:p>
            <a:pPr marL="0" indent="0" algn="ctr">
              <a:buNone/>
            </a:pPr>
            <a:r>
              <a:rPr lang="en-US" sz="1900" b="1" dirty="0">
                <a:solidFill>
                  <a:srgbClr val="C8553A"/>
                </a:solidFill>
                <a:latin typeface="Calibri" pitchFamily="34" charset="0"/>
                <a:ea typeface="Calibri" pitchFamily="34" charset="-122"/>
                <a:cs typeface="Calibri" pitchFamily="34" charset="-120"/>
              </a:rPr>
              <a:t>“585” + “tỷ”</a:t>
            </a:r>
            <a:endParaRPr lang="en-US" sz="1900" dirty="0"/>
          </a:p>
        </p:txBody>
      </p:sp>
      <p:sp>
        <p:nvSpPr>
          <p:cNvPr id="20" name="Text 17"/>
          <p:cNvSpPr txBox="1"/>
          <p:nvPr/>
        </p:nvSpPr>
        <p:spPr>
          <a:xfrm>
            <a:off x="822960" y="4453128"/>
            <a:ext cx="4892040" cy="640080"/>
          </a:xfrm>
          <a:prstGeom prst="rect">
            <a:avLst/>
          </a:prstGeom>
          <a:noFill/>
          <a:ln/>
        </p:spPr>
        <p:txBody>
          <a:bodyPr wrap="square" lIns="0" tIns="0" rIns="0" bIns="0" rtlCol="0" anchor="t"/>
          <a:lstStyle/>
          <a:p>
            <a:pPr marL="0" indent="0">
              <a:buNone/>
            </a:pPr>
            <a:r>
              <a:rPr lang="en-US" sz="1400" dirty="0">
                <a:solidFill>
                  <a:srgbClr val="1B2A30"/>
                </a:solidFill>
                <a:latin typeface="Calibri" pitchFamily="34" charset="0"/>
                <a:ea typeface="Calibri" pitchFamily="34" charset="-122"/>
                <a:cs typeface="Calibri" pitchFamily="34" charset="-120"/>
              </a:rPr>
              <a:t>Tiền đã lọc khỏi mô tả, nhưng bỏ dấu phẩy thập phân biến “5,85” thành “585” nằm cạnh chữ “tỷ” còn sót.</a:t>
            </a:r>
            <a:endParaRPr lang="en-US" sz="1400" dirty="0"/>
          </a:p>
        </p:txBody>
      </p:sp>
      <p:sp>
        <p:nvSpPr>
          <p:cNvPr id="21" name="Shape 18"/>
          <p:cNvSpPr/>
          <p:nvPr/>
        </p:nvSpPr>
        <p:spPr>
          <a:xfrm>
            <a:off x="6172200" y="2423160"/>
            <a:ext cx="5440680" cy="2743200"/>
          </a:xfrm>
          <a:prstGeom prst="roundRect">
            <a:avLst>
              <a:gd name="adj" fmla="val 3333"/>
            </a:avLst>
          </a:prstGeom>
          <a:solidFill>
            <a:srgbClr val="FFFFFF"/>
          </a:solidFill>
          <a:ln w="12700">
            <a:solidFill>
              <a:srgbClr val="D3DFE2"/>
            </a:solidFill>
            <a:prstDash val="solid"/>
          </a:ln>
          <a:effectLst>
            <a:outerShdw blurRad="127000" dist="25400" dir="5400000" algn="bl" rotWithShape="0">
              <a:srgbClr val="000000">
                <a:alpha val="10000"/>
              </a:srgbClr>
            </a:outerShdw>
          </a:effectLst>
        </p:spPr>
        <p:txBody>
          <a:bodyPr/>
          <a:lstStyle/>
          <a:p>
            <a:endParaRPr lang="en-VN"/>
          </a:p>
        </p:txBody>
      </p:sp>
      <p:sp>
        <p:nvSpPr>
          <p:cNvPr id="22" name="Shape 19"/>
          <p:cNvSpPr/>
          <p:nvPr/>
        </p:nvSpPr>
        <p:spPr>
          <a:xfrm>
            <a:off x="6446520" y="2697480"/>
            <a:ext cx="822960" cy="310896"/>
          </a:xfrm>
          <a:prstGeom prst="roundRect">
            <a:avLst>
              <a:gd name="adj" fmla="val 50000"/>
            </a:avLst>
          </a:prstGeom>
          <a:solidFill>
            <a:srgbClr val="C8553A"/>
          </a:solidFill>
          <a:ln w="12700">
            <a:solidFill>
              <a:srgbClr val="C8553A"/>
            </a:solidFill>
            <a:prstDash val="solid"/>
          </a:ln>
        </p:spPr>
        <p:txBody>
          <a:bodyPr/>
          <a:lstStyle/>
          <a:p>
            <a:endParaRPr lang="en-VN"/>
          </a:p>
        </p:txBody>
      </p:sp>
      <p:sp>
        <p:nvSpPr>
          <p:cNvPr id="23" name="Text 20"/>
          <p:cNvSpPr txBox="1"/>
          <p:nvPr/>
        </p:nvSpPr>
        <p:spPr>
          <a:xfrm>
            <a:off x="6446520" y="2697480"/>
            <a:ext cx="822960"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Lỗi 2</a:t>
            </a:r>
            <a:endParaRPr lang="en-US" sz="1200" dirty="0"/>
          </a:p>
        </p:txBody>
      </p:sp>
      <p:sp>
        <p:nvSpPr>
          <p:cNvPr id="24" name="Text 21"/>
          <p:cNvSpPr txBox="1"/>
          <p:nvPr/>
        </p:nvSpPr>
        <p:spPr>
          <a:xfrm>
            <a:off x="6446520" y="3136392"/>
            <a:ext cx="4892040" cy="411480"/>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Đơn giá lọt qua bộ lọc tiền</a:t>
            </a:r>
            <a:endParaRPr lang="en-US" sz="1800" dirty="0"/>
          </a:p>
        </p:txBody>
      </p:sp>
      <p:sp>
        <p:nvSpPr>
          <p:cNvPr id="25" name="Shape 22"/>
          <p:cNvSpPr/>
          <p:nvPr/>
        </p:nvSpPr>
        <p:spPr>
          <a:xfrm>
            <a:off x="6446520" y="3657600"/>
            <a:ext cx="2011680" cy="594360"/>
          </a:xfrm>
          <a:prstGeom prst="roundRect">
            <a:avLst>
              <a:gd name="adj" fmla="val 15385"/>
            </a:avLst>
          </a:prstGeom>
          <a:solidFill>
            <a:srgbClr val="EAF2F3"/>
          </a:solidFill>
          <a:ln w="12700">
            <a:solidFill>
              <a:srgbClr val="EAF2F3"/>
            </a:solidFill>
            <a:prstDash val="solid"/>
          </a:ln>
        </p:spPr>
        <p:txBody>
          <a:bodyPr/>
          <a:lstStyle/>
          <a:p>
            <a:endParaRPr lang="en-VN"/>
          </a:p>
        </p:txBody>
      </p:sp>
      <p:sp>
        <p:nvSpPr>
          <p:cNvPr id="26" name="Text 23"/>
          <p:cNvSpPr txBox="1"/>
          <p:nvPr/>
        </p:nvSpPr>
        <p:spPr>
          <a:xfrm>
            <a:off x="6446520" y="3657600"/>
            <a:ext cx="2011680" cy="594360"/>
          </a:xfrm>
          <a:prstGeom prst="rect">
            <a:avLst/>
          </a:prstGeom>
          <a:noFill/>
          <a:ln/>
        </p:spPr>
        <p:txBody>
          <a:bodyPr wrap="square" lIns="0" tIns="0" rIns="0" bIns="0" rtlCol="0" anchor="ctr"/>
          <a:lstStyle/>
          <a:p>
            <a:pPr marL="0" indent="0" algn="ctr">
              <a:buNone/>
            </a:pPr>
            <a:r>
              <a:rPr lang="en-US" sz="1900" b="1" dirty="0">
                <a:solidFill>
                  <a:srgbClr val="13303A"/>
                </a:solidFill>
                <a:latin typeface="Calibri" pitchFamily="34" charset="0"/>
                <a:ea typeface="Calibri" pitchFamily="34" charset="-122"/>
                <a:cs typeface="Calibri" pitchFamily="34" charset="-120"/>
              </a:rPr>
              <a:t>110 triệum2</a:t>
            </a:r>
            <a:endParaRPr lang="en-US" sz="1900" dirty="0"/>
          </a:p>
        </p:txBody>
      </p:sp>
      <p:sp>
        <p:nvSpPr>
          <p:cNvPr id="27" name="Text 24"/>
          <p:cNvSpPr txBox="1"/>
          <p:nvPr/>
        </p:nvSpPr>
        <p:spPr>
          <a:xfrm>
            <a:off x="8458200" y="3575304"/>
            <a:ext cx="914400" cy="274320"/>
          </a:xfrm>
          <a:prstGeom prst="rect">
            <a:avLst/>
          </a:prstGeom>
          <a:noFill/>
          <a:ln/>
        </p:spPr>
        <p:txBody>
          <a:bodyPr wrap="square" lIns="0" tIns="0" rIns="0" bIns="0" rtlCol="0" anchor="t"/>
          <a:lstStyle/>
          <a:p>
            <a:pPr marL="0" indent="0" algn="ctr">
              <a:buNone/>
            </a:pPr>
            <a:r>
              <a:rPr lang="en-US" sz="1100" dirty="0">
                <a:solidFill>
                  <a:srgbClr val="5B6D74"/>
                </a:solidFill>
                <a:latin typeface="Calibri" pitchFamily="34" charset="0"/>
                <a:ea typeface="Calibri" pitchFamily="34" charset="-122"/>
                <a:cs typeface="Calibri" pitchFamily="34" charset="-120"/>
              </a:rPr>
              <a:t>× diện tích</a:t>
            </a:r>
            <a:endParaRPr lang="en-US" sz="1100" dirty="0"/>
          </a:p>
        </p:txBody>
      </p:sp>
      <p:sp>
        <p:nvSpPr>
          <p:cNvPr id="28" name="Shape 25"/>
          <p:cNvSpPr/>
          <p:nvPr/>
        </p:nvSpPr>
        <p:spPr>
          <a:xfrm>
            <a:off x="8549640" y="3959352"/>
            <a:ext cx="731520" cy="0"/>
          </a:xfrm>
          <a:prstGeom prst="line">
            <a:avLst/>
          </a:prstGeom>
          <a:noFill/>
          <a:ln w="19050">
            <a:solidFill>
              <a:srgbClr val="5B6D74"/>
            </a:solidFill>
            <a:prstDash val="solid"/>
            <a:tailEnd type="triangle"/>
          </a:ln>
        </p:spPr>
        <p:txBody>
          <a:bodyPr/>
          <a:lstStyle/>
          <a:p>
            <a:endParaRPr lang="en-VN"/>
          </a:p>
        </p:txBody>
      </p:sp>
      <p:sp>
        <p:nvSpPr>
          <p:cNvPr id="29" name="Shape 26"/>
          <p:cNvSpPr/>
          <p:nvPr/>
        </p:nvSpPr>
        <p:spPr>
          <a:xfrm>
            <a:off x="9372600" y="3657600"/>
            <a:ext cx="1965960" cy="594360"/>
          </a:xfrm>
          <a:prstGeom prst="roundRect">
            <a:avLst>
              <a:gd name="adj" fmla="val 15385"/>
            </a:avLst>
          </a:prstGeom>
          <a:solidFill>
            <a:srgbClr val="FBEAE3"/>
          </a:solidFill>
          <a:ln w="12700">
            <a:solidFill>
              <a:srgbClr val="FBEAE3"/>
            </a:solidFill>
            <a:prstDash val="solid"/>
          </a:ln>
        </p:spPr>
        <p:txBody>
          <a:bodyPr/>
          <a:lstStyle/>
          <a:p>
            <a:endParaRPr lang="en-VN"/>
          </a:p>
        </p:txBody>
      </p:sp>
      <p:sp>
        <p:nvSpPr>
          <p:cNvPr id="30" name="Text 27"/>
          <p:cNvSpPr txBox="1"/>
          <p:nvPr/>
        </p:nvSpPr>
        <p:spPr>
          <a:xfrm>
            <a:off x="9372600" y="3657600"/>
            <a:ext cx="1965960" cy="594360"/>
          </a:xfrm>
          <a:prstGeom prst="rect">
            <a:avLst/>
          </a:prstGeom>
          <a:noFill/>
          <a:ln/>
        </p:spPr>
        <p:txBody>
          <a:bodyPr wrap="square" lIns="0" tIns="0" rIns="0" bIns="0" rtlCol="0" anchor="ctr"/>
          <a:lstStyle/>
          <a:p>
            <a:pPr marL="0" indent="0" algn="ctr">
              <a:buNone/>
            </a:pPr>
            <a:r>
              <a:rPr lang="en-US" sz="1900" b="1" dirty="0">
                <a:solidFill>
                  <a:srgbClr val="C8553A"/>
                </a:solidFill>
                <a:latin typeface="Calibri" pitchFamily="34" charset="0"/>
                <a:ea typeface="Calibri" pitchFamily="34" charset="-122"/>
                <a:cs typeface="Calibri" pitchFamily="34" charset="-120"/>
              </a:rPr>
              <a:t>= nhãn</a:t>
            </a:r>
            <a:endParaRPr lang="en-US" sz="1900" dirty="0"/>
          </a:p>
        </p:txBody>
      </p:sp>
      <p:sp>
        <p:nvSpPr>
          <p:cNvPr id="31" name="Text 28"/>
          <p:cNvSpPr txBox="1"/>
          <p:nvPr/>
        </p:nvSpPr>
        <p:spPr>
          <a:xfrm>
            <a:off x="6446520" y="4453128"/>
            <a:ext cx="4892040" cy="640080"/>
          </a:xfrm>
          <a:prstGeom prst="rect">
            <a:avLst/>
          </a:prstGeom>
          <a:noFill/>
          <a:ln/>
        </p:spPr>
        <p:txBody>
          <a:bodyPr wrap="square" lIns="0" tIns="0" rIns="0" bIns="0" rtlCol="0" anchor="t"/>
          <a:lstStyle/>
          <a:p>
            <a:pPr marL="0" indent="0">
              <a:buNone/>
            </a:pPr>
            <a:r>
              <a:rPr lang="en-US" sz="1400" dirty="0">
                <a:solidFill>
                  <a:srgbClr val="1B2A30"/>
                </a:solidFill>
                <a:latin typeface="Calibri" pitchFamily="34" charset="0"/>
                <a:ea typeface="Calibri" pitchFamily="34" charset="-122"/>
                <a:cs typeface="Calibri" pitchFamily="34" charset="-120"/>
              </a:rPr>
              <a:t>Đơn giá dính chữ nên lọt qua dưới dạng “110 triệum2”; nhân với diện tích ra thẳng giá cần dự báo.</a:t>
            </a:r>
            <a:endParaRPr lang="en-US" sz="1400" dirty="0"/>
          </a:p>
        </p:txBody>
      </p:sp>
      <p:sp>
        <p:nvSpPr>
          <p:cNvPr id="32" name="Shape 29"/>
          <p:cNvSpPr/>
          <p:nvPr/>
        </p:nvSpPr>
        <p:spPr>
          <a:xfrm>
            <a:off x="548640" y="5394960"/>
            <a:ext cx="11064240" cy="822960"/>
          </a:xfrm>
          <a:prstGeom prst="roundRect">
            <a:avLst>
              <a:gd name="adj" fmla="val 11111"/>
            </a:avLst>
          </a:prstGeom>
          <a:solidFill>
            <a:srgbClr val="13303A"/>
          </a:solidFill>
          <a:ln w="12700">
            <a:solidFill>
              <a:srgbClr val="13303A"/>
            </a:solidFill>
            <a:prstDash val="solid"/>
          </a:ln>
        </p:spPr>
        <p:txBody>
          <a:bodyPr/>
          <a:lstStyle/>
          <a:p>
            <a:endParaRPr lang="en-VN"/>
          </a:p>
        </p:txBody>
      </p:sp>
      <p:sp>
        <p:nvSpPr>
          <p:cNvPr id="33" name="Text 30"/>
          <p:cNvSpPr txBox="1"/>
          <p:nvPr/>
        </p:nvSpPr>
        <p:spPr>
          <a:xfrm>
            <a:off x="868680" y="5394960"/>
            <a:ext cx="2926080" cy="82296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0 / 34.607</a:t>
            </a:r>
            <a:endParaRPr lang="en-US" sz="3400" dirty="0"/>
          </a:p>
        </p:txBody>
      </p:sp>
      <p:sp>
        <p:nvSpPr>
          <p:cNvPr id="34" name="Text 31"/>
          <p:cNvSpPr txBox="1"/>
          <p:nvPr/>
        </p:nvSpPr>
        <p:spPr>
          <a:xfrm>
            <a:off x="3429000" y="5394960"/>
            <a:ext cx="7680960" cy="822960"/>
          </a:xfrm>
          <a:prstGeom prst="rect">
            <a:avLst/>
          </a:prstGeom>
          <a:noFill/>
          <a:ln/>
        </p:spPr>
        <p:txBody>
          <a:bodyPr wrap="square" lIns="0" tIns="0" rIns="0" bIns="0" rtlCol="0" anchor="ctr"/>
          <a:lstStyle/>
          <a:p>
            <a:pPr marL="0" indent="0">
              <a:buNone/>
            </a:pPr>
            <a:r>
              <a:rPr lang="en-US" sz="1900" dirty="0">
                <a:solidFill>
                  <a:srgbClr val="B4CAD0"/>
                </a:solidFill>
                <a:latin typeface="Calibri" pitchFamily="34" charset="0"/>
                <a:ea typeface="Calibri" pitchFamily="34" charset="-122"/>
                <a:cs typeface="Calibri" pitchFamily="34" charset="-120"/>
              </a:rPr>
              <a:t>dòng mang token tiền vào TF-IDF</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TỔNG QUAN</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Pipeline tổng thể</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783080"/>
            <a:ext cx="1737360" cy="3017520"/>
          </a:xfrm>
          <a:prstGeom prst="roundRect">
            <a:avLst>
              <a:gd name="adj" fmla="val 5263"/>
            </a:avLst>
          </a:prstGeom>
          <a:solidFill>
            <a:srgbClr val="EAF2F3"/>
          </a:solidFill>
          <a:ln w="12700">
            <a:solidFill>
              <a:srgbClr val="EAF2F3"/>
            </a:solidFill>
            <a:prstDash val="solid"/>
          </a:ln>
        </p:spPr>
        <p:txBody>
          <a:bodyPr/>
          <a:lstStyle/>
          <a:p>
            <a:endParaRPr lang="en-VN"/>
          </a:p>
        </p:txBody>
      </p:sp>
      <p:sp>
        <p:nvSpPr>
          <p:cNvPr id="9" name="Shape 7"/>
          <p:cNvSpPr/>
          <p:nvPr/>
        </p:nvSpPr>
        <p:spPr>
          <a:xfrm>
            <a:off x="731520" y="1984248"/>
            <a:ext cx="420624" cy="420624"/>
          </a:xfrm>
          <a:prstGeom prst="ellipse">
            <a:avLst/>
          </a:prstGeom>
          <a:solidFill>
            <a:srgbClr val="C8553A"/>
          </a:solidFill>
          <a:ln w="12700">
            <a:solidFill>
              <a:srgbClr val="C8553A"/>
            </a:solidFill>
            <a:prstDash val="solid"/>
          </a:ln>
        </p:spPr>
        <p:txBody>
          <a:bodyPr/>
          <a:lstStyle/>
          <a:p>
            <a:endParaRPr lang="en-VN"/>
          </a:p>
        </p:txBody>
      </p:sp>
      <p:sp>
        <p:nvSpPr>
          <p:cNvPr id="10" name="Text 8"/>
          <p:cNvSpPr txBox="1"/>
          <p:nvPr/>
        </p:nvSpPr>
        <p:spPr>
          <a:xfrm>
            <a:off x="731520" y="19842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pic>
        <p:nvPicPr>
          <p:cNvPr id="11" name="Image 0" descr="preencoded.png"/>
          <p:cNvPicPr>
            <a:picLocks noChangeAspect="1"/>
          </p:cNvPicPr>
          <p:nvPr/>
        </p:nvPicPr>
        <p:blipFill>
          <a:blip r:embed="rId3"/>
          <a:stretch>
            <a:fillRect/>
          </a:stretch>
        </p:blipFill>
        <p:spPr>
          <a:xfrm>
            <a:off x="1737360" y="2029968"/>
            <a:ext cx="329184" cy="329184"/>
          </a:xfrm>
          <a:prstGeom prst="rect">
            <a:avLst/>
          </a:prstGeom>
        </p:spPr>
      </p:pic>
      <p:sp>
        <p:nvSpPr>
          <p:cNvPr id="12" name="Text 9"/>
          <p:cNvSpPr txBox="1"/>
          <p:nvPr/>
        </p:nvSpPr>
        <p:spPr>
          <a:xfrm>
            <a:off x="731520" y="2560320"/>
            <a:ext cx="1463040" cy="411480"/>
          </a:xfrm>
          <a:prstGeom prst="rect">
            <a:avLst/>
          </a:prstGeom>
          <a:noFill/>
          <a:ln/>
        </p:spPr>
        <p:txBody>
          <a:bodyPr wrap="square" lIns="0" tIns="0" rIns="0" bIns="0" rtlCol="0" anchor="t"/>
          <a:lstStyle/>
          <a:p>
            <a:pPr marL="0" indent="0">
              <a:buNone/>
            </a:pPr>
            <a:r>
              <a:rPr lang="en-US" sz="1600" b="1" dirty="0">
                <a:solidFill>
                  <a:srgbClr val="13303A"/>
                </a:solidFill>
                <a:latin typeface="Calibri" pitchFamily="34" charset="0"/>
                <a:ea typeface="Calibri" pitchFamily="34" charset="-122"/>
                <a:cs typeface="Calibri" pitchFamily="34" charset="-120"/>
              </a:rPr>
              <a:t>Thu thập</a:t>
            </a:r>
            <a:endParaRPr lang="en-US" sz="1600" dirty="0"/>
          </a:p>
        </p:txBody>
      </p:sp>
      <p:sp>
        <p:nvSpPr>
          <p:cNvPr id="13" name="Text 10"/>
          <p:cNvSpPr txBox="1"/>
          <p:nvPr/>
        </p:nvSpPr>
        <p:spPr>
          <a:xfrm>
            <a:off x="676656" y="3044952"/>
            <a:ext cx="1517904" cy="164592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Chợ Tốt: API JSON</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mogi.vn: HTML</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HF: parquet</a:t>
            </a:r>
            <a:endParaRPr lang="en-US" sz="1250" dirty="0"/>
          </a:p>
        </p:txBody>
      </p:sp>
      <p:sp>
        <p:nvSpPr>
          <p:cNvPr id="14" name="Shape 11"/>
          <p:cNvSpPr/>
          <p:nvPr/>
        </p:nvSpPr>
        <p:spPr>
          <a:xfrm>
            <a:off x="2414016" y="1783080"/>
            <a:ext cx="1737360" cy="3017520"/>
          </a:xfrm>
          <a:prstGeom prst="roundRect">
            <a:avLst>
              <a:gd name="adj" fmla="val 5263"/>
            </a:avLst>
          </a:prstGeom>
          <a:solidFill>
            <a:srgbClr val="EAF2F3"/>
          </a:solidFill>
          <a:ln w="12700">
            <a:solidFill>
              <a:srgbClr val="EAF2F3"/>
            </a:solidFill>
            <a:prstDash val="solid"/>
          </a:ln>
        </p:spPr>
        <p:txBody>
          <a:bodyPr/>
          <a:lstStyle/>
          <a:p>
            <a:endParaRPr lang="en-VN"/>
          </a:p>
        </p:txBody>
      </p:sp>
      <p:sp>
        <p:nvSpPr>
          <p:cNvPr id="15" name="Shape 12"/>
          <p:cNvSpPr/>
          <p:nvPr/>
        </p:nvSpPr>
        <p:spPr>
          <a:xfrm>
            <a:off x="2596896" y="1984248"/>
            <a:ext cx="420624" cy="420624"/>
          </a:xfrm>
          <a:prstGeom prst="ellipse">
            <a:avLst/>
          </a:prstGeom>
          <a:solidFill>
            <a:srgbClr val="C8553A"/>
          </a:solidFill>
          <a:ln w="12700">
            <a:solidFill>
              <a:srgbClr val="C8553A"/>
            </a:solidFill>
            <a:prstDash val="solid"/>
          </a:ln>
        </p:spPr>
        <p:txBody>
          <a:bodyPr/>
          <a:lstStyle/>
          <a:p>
            <a:endParaRPr lang="en-VN"/>
          </a:p>
        </p:txBody>
      </p:sp>
      <p:sp>
        <p:nvSpPr>
          <p:cNvPr id="16" name="Text 13"/>
          <p:cNvSpPr txBox="1"/>
          <p:nvPr/>
        </p:nvSpPr>
        <p:spPr>
          <a:xfrm>
            <a:off x="2596896" y="19842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pic>
        <p:nvPicPr>
          <p:cNvPr id="17" name="Image 1" descr="preencoded.png"/>
          <p:cNvPicPr>
            <a:picLocks noChangeAspect="1"/>
          </p:cNvPicPr>
          <p:nvPr/>
        </p:nvPicPr>
        <p:blipFill>
          <a:blip r:embed="rId4"/>
          <a:stretch>
            <a:fillRect/>
          </a:stretch>
        </p:blipFill>
        <p:spPr>
          <a:xfrm>
            <a:off x="3602736" y="2029968"/>
            <a:ext cx="329184" cy="329184"/>
          </a:xfrm>
          <a:prstGeom prst="rect">
            <a:avLst/>
          </a:prstGeom>
        </p:spPr>
      </p:pic>
      <p:sp>
        <p:nvSpPr>
          <p:cNvPr id="18" name="Text 14"/>
          <p:cNvSpPr txBox="1"/>
          <p:nvPr/>
        </p:nvSpPr>
        <p:spPr>
          <a:xfrm>
            <a:off x="2596896" y="2560320"/>
            <a:ext cx="1463040" cy="411480"/>
          </a:xfrm>
          <a:prstGeom prst="rect">
            <a:avLst/>
          </a:prstGeom>
          <a:noFill/>
          <a:ln/>
        </p:spPr>
        <p:txBody>
          <a:bodyPr wrap="square" lIns="0" tIns="0" rIns="0" bIns="0" rtlCol="0" anchor="t"/>
          <a:lstStyle/>
          <a:p>
            <a:pPr marL="0" indent="0">
              <a:buNone/>
            </a:pPr>
            <a:r>
              <a:rPr lang="en-US" sz="1600" b="1" dirty="0">
                <a:solidFill>
                  <a:srgbClr val="13303A"/>
                </a:solidFill>
                <a:latin typeface="Calibri" pitchFamily="34" charset="0"/>
                <a:ea typeface="Calibri" pitchFamily="34" charset="-122"/>
                <a:cs typeface="Calibri" pitchFamily="34" charset="-120"/>
              </a:rPr>
              <a:t>Kho thô</a:t>
            </a:r>
            <a:endParaRPr lang="en-US" sz="1600" dirty="0"/>
          </a:p>
        </p:txBody>
      </p:sp>
      <p:sp>
        <p:nvSpPr>
          <p:cNvPr id="19" name="Text 15"/>
          <p:cNvSpPr txBox="1"/>
          <p:nvPr/>
        </p:nvSpPr>
        <p:spPr>
          <a:xfrm>
            <a:off x="2542032" y="3044952"/>
            <a:ext cx="1517904" cy="164592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Ghi JSONL</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Xoá SĐT lúc ghi</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Khử trùng mã tin</a:t>
            </a:r>
            <a:endParaRPr lang="en-US" sz="1250" dirty="0"/>
          </a:p>
        </p:txBody>
      </p:sp>
      <p:sp>
        <p:nvSpPr>
          <p:cNvPr id="20" name="Shape 16"/>
          <p:cNvSpPr/>
          <p:nvPr/>
        </p:nvSpPr>
        <p:spPr>
          <a:xfrm>
            <a:off x="4279392" y="1783080"/>
            <a:ext cx="1737360" cy="3017520"/>
          </a:xfrm>
          <a:prstGeom prst="roundRect">
            <a:avLst>
              <a:gd name="adj" fmla="val 5263"/>
            </a:avLst>
          </a:prstGeom>
          <a:solidFill>
            <a:srgbClr val="EAF2F3"/>
          </a:solidFill>
          <a:ln w="12700">
            <a:solidFill>
              <a:srgbClr val="EAF2F3"/>
            </a:solidFill>
            <a:prstDash val="solid"/>
          </a:ln>
        </p:spPr>
        <p:txBody>
          <a:bodyPr/>
          <a:lstStyle/>
          <a:p>
            <a:endParaRPr lang="en-VN"/>
          </a:p>
        </p:txBody>
      </p:sp>
      <p:sp>
        <p:nvSpPr>
          <p:cNvPr id="21" name="Shape 17"/>
          <p:cNvSpPr/>
          <p:nvPr/>
        </p:nvSpPr>
        <p:spPr>
          <a:xfrm>
            <a:off x="4462272" y="1984248"/>
            <a:ext cx="420624" cy="420624"/>
          </a:xfrm>
          <a:prstGeom prst="ellipse">
            <a:avLst/>
          </a:prstGeom>
          <a:solidFill>
            <a:srgbClr val="C8553A"/>
          </a:solidFill>
          <a:ln w="12700">
            <a:solidFill>
              <a:srgbClr val="C8553A"/>
            </a:solidFill>
            <a:prstDash val="solid"/>
          </a:ln>
        </p:spPr>
        <p:txBody>
          <a:bodyPr/>
          <a:lstStyle/>
          <a:p>
            <a:endParaRPr lang="en-VN"/>
          </a:p>
        </p:txBody>
      </p:sp>
      <p:sp>
        <p:nvSpPr>
          <p:cNvPr id="22" name="Text 18"/>
          <p:cNvSpPr txBox="1"/>
          <p:nvPr/>
        </p:nvSpPr>
        <p:spPr>
          <a:xfrm>
            <a:off x="4462272" y="19842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pic>
        <p:nvPicPr>
          <p:cNvPr id="23" name="Image 2" descr="preencoded.png"/>
          <p:cNvPicPr>
            <a:picLocks noChangeAspect="1"/>
          </p:cNvPicPr>
          <p:nvPr/>
        </p:nvPicPr>
        <p:blipFill>
          <a:blip r:embed="rId5"/>
          <a:stretch>
            <a:fillRect/>
          </a:stretch>
        </p:blipFill>
        <p:spPr>
          <a:xfrm>
            <a:off x="5468112" y="2029968"/>
            <a:ext cx="329184" cy="329184"/>
          </a:xfrm>
          <a:prstGeom prst="rect">
            <a:avLst/>
          </a:prstGeom>
        </p:spPr>
      </p:pic>
      <p:sp>
        <p:nvSpPr>
          <p:cNvPr id="24" name="Text 19"/>
          <p:cNvSpPr txBox="1"/>
          <p:nvPr/>
        </p:nvSpPr>
        <p:spPr>
          <a:xfrm>
            <a:off x="4462272" y="2560320"/>
            <a:ext cx="1463040" cy="411480"/>
          </a:xfrm>
          <a:prstGeom prst="rect">
            <a:avLst/>
          </a:prstGeom>
          <a:noFill/>
          <a:ln/>
        </p:spPr>
        <p:txBody>
          <a:bodyPr wrap="square" lIns="0" tIns="0" rIns="0" bIns="0" rtlCol="0" anchor="t"/>
          <a:lstStyle/>
          <a:p>
            <a:pPr marL="0" indent="0">
              <a:buNone/>
            </a:pPr>
            <a:r>
              <a:rPr lang="en-US" sz="1600" b="1" dirty="0">
                <a:solidFill>
                  <a:srgbClr val="13303A"/>
                </a:solidFill>
                <a:latin typeface="Calibri" pitchFamily="34" charset="0"/>
                <a:ea typeface="Calibri" pitchFamily="34" charset="-122"/>
                <a:cs typeface="Calibri" pitchFamily="34" charset="-120"/>
              </a:rPr>
              <a:t>Tiền xử lý</a:t>
            </a:r>
            <a:endParaRPr lang="en-US" sz="1600" dirty="0"/>
          </a:p>
        </p:txBody>
      </p:sp>
      <p:sp>
        <p:nvSpPr>
          <p:cNvPr id="25" name="Text 20"/>
          <p:cNvSpPr txBox="1"/>
          <p:nvPr/>
        </p:nvSpPr>
        <p:spPr>
          <a:xfrm>
            <a:off x="4407408" y="3044952"/>
            <a:ext cx="1517904" cy="164592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Chuẩn hoá giá</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Chuẩn hoá địa chỉ</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Regex: 7 trường</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Khử trùng lặp</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Lọc ngoại lai</a:t>
            </a:r>
            <a:endParaRPr lang="en-US" sz="1250" dirty="0"/>
          </a:p>
        </p:txBody>
      </p:sp>
      <p:sp>
        <p:nvSpPr>
          <p:cNvPr id="26" name="Shape 21"/>
          <p:cNvSpPr/>
          <p:nvPr/>
        </p:nvSpPr>
        <p:spPr>
          <a:xfrm>
            <a:off x="6144768" y="1783080"/>
            <a:ext cx="1737360" cy="3017520"/>
          </a:xfrm>
          <a:prstGeom prst="roundRect">
            <a:avLst>
              <a:gd name="adj" fmla="val 5263"/>
            </a:avLst>
          </a:prstGeom>
          <a:solidFill>
            <a:srgbClr val="EAF2F3"/>
          </a:solidFill>
          <a:ln w="12700">
            <a:solidFill>
              <a:srgbClr val="EAF2F3"/>
            </a:solidFill>
            <a:prstDash val="solid"/>
          </a:ln>
        </p:spPr>
        <p:txBody>
          <a:bodyPr/>
          <a:lstStyle/>
          <a:p>
            <a:endParaRPr lang="en-VN"/>
          </a:p>
        </p:txBody>
      </p:sp>
      <p:sp>
        <p:nvSpPr>
          <p:cNvPr id="27" name="Shape 22"/>
          <p:cNvSpPr/>
          <p:nvPr/>
        </p:nvSpPr>
        <p:spPr>
          <a:xfrm>
            <a:off x="6327648" y="1984248"/>
            <a:ext cx="420624" cy="420624"/>
          </a:xfrm>
          <a:prstGeom prst="ellipse">
            <a:avLst/>
          </a:prstGeom>
          <a:solidFill>
            <a:srgbClr val="C8553A"/>
          </a:solidFill>
          <a:ln w="12700">
            <a:solidFill>
              <a:srgbClr val="C8553A"/>
            </a:solidFill>
            <a:prstDash val="solid"/>
          </a:ln>
        </p:spPr>
        <p:txBody>
          <a:bodyPr/>
          <a:lstStyle/>
          <a:p>
            <a:endParaRPr lang="en-VN"/>
          </a:p>
        </p:txBody>
      </p:sp>
      <p:sp>
        <p:nvSpPr>
          <p:cNvPr id="28" name="Text 23"/>
          <p:cNvSpPr txBox="1"/>
          <p:nvPr/>
        </p:nvSpPr>
        <p:spPr>
          <a:xfrm>
            <a:off x="6327648" y="19842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pic>
        <p:nvPicPr>
          <p:cNvPr id="29" name="Image 3" descr="preencoded.png"/>
          <p:cNvPicPr>
            <a:picLocks noChangeAspect="1"/>
          </p:cNvPicPr>
          <p:nvPr/>
        </p:nvPicPr>
        <p:blipFill>
          <a:blip r:embed="rId6"/>
          <a:stretch>
            <a:fillRect/>
          </a:stretch>
        </p:blipFill>
        <p:spPr>
          <a:xfrm>
            <a:off x="7333488" y="2029968"/>
            <a:ext cx="329184" cy="329184"/>
          </a:xfrm>
          <a:prstGeom prst="rect">
            <a:avLst/>
          </a:prstGeom>
        </p:spPr>
      </p:pic>
      <p:sp>
        <p:nvSpPr>
          <p:cNvPr id="30" name="Text 24"/>
          <p:cNvSpPr txBox="1"/>
          <p:nvPr/>
        </p:nvSpPr>
        <p:spPr>
          <a:xfrm>
            <a:off x="6327648" y="2560320"/>
            <a:ext cx="1463040" cy="411480"/>
          </a:xfrm>
          <a:prstGeom prst="rect">
            <a:avLst/>
          </a:prstGeom>
          <a:noFill/>
          <a:ln/>
        </p:spPr>
        <p:txBody>
          <a:bodyPr wrap="square" lIns="0" tIns="0" rIns="0" bIns="0" rtlCol="0" anchor="t"/>
          <a:lstStyle/>
          <a:p>
            <a:pPr marL="0" indent="0">
              <a:buNone/>
            </a:pPr>
            <a:r>
              <a:rPr lang="en-US" sz="1600" b="1" dirty="0">
                <a:solidFill>
                  <a:srgbClr val="13303A"/>
                </a:solidFill>
                <a:latin typeface="Calibri" pitchFamily="34" charset="0"/>
                <a:ea typeface="Calibri" pitchFamily="34" charset="-122"/>
                <a:cs typeface="Calibri" pitchFamily="34" charset="-120"/>
              </a:rPr>
              <a:t>Đặc trưng</a:t>
            </a:r>
            <a:endParaRPr lang="en-US" sz="1600" dirty="0"/>
          </a:p>
        </p:txBody>
      </p:sp>
      <p:sp>
        <p:nvSpPr>
          <p:cNvPr id="31" name="Text 25"/>
          <p:cNvSpPr txBox="1"/>
          <p:nvPr/>
        </p:nvSpPr>
        <p:spPr>
          <a:xfrm>
            <a:off x="6272784" y="3044952"/>
            <a:ext cx="1517904" cy="164592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Tách từ tiếng Việt</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Cờ văn bản</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TF-IDF/SVD</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ColumnTransformer</a:t>
            </a:r>
            <a:endParaRPr lang="en-US" sz="1250" dirty="0"/>
          </a:p>
        </p:txBody>
      </p:sp>
      <p:sp>
        <p:nvSpPr>
          <p:cNvPr id="32" name="Shape 26"/>
          <p:cNvSpPr/>
          <p:nvPr/>
        </p:nvSpPr>
        <p:spPr>
          <a:xfrm>
            <a:off x="8010144" y="1783080"/>
            <a:ext cx="1737360" cy="3017520"/>
          </a:xfrm>
          <a:prstGeom prst="roundRect">
            <a:avLst>
              <a:gd name="adj" fmla="val 5263"/>
            </a:avLst>
          </a:prstGeom>
          <a:solidFill>
            <a:srgbClr val="EAF2F3"/>
          </a:solidFill>
          <a:ln w="12700">
            <a:solidFill>
              <a:srgbClr val="EAF2F3"/>
            </a:solidFill>
            <a:prstDash val="solid"/>
          </a:ln>
        </p:spPr>
        <p:txBody>
          <a:bodyPr/>
          <a:lstStyle/>
          <a:p>
            <a:endParaRPr lang="en-VN"/>
          </a:p>
        </p:txBody>
      </p:sp>
      <p:sp>
        <p:nvSpPr>
          <p:cNvPr id="33" name="Shape 27"/>
          <p:cNvSpPr/>
          <p:nvPr/>
        </p:nvSpPr>
        <p:spPr>
          <a:xfrm>
            <a:off x="8193024" y="1984248"/>
            <a:ext cx="420624" cy="420624"/>
          </a:xfrm>
          <a:prstGeom prst="ellipse">
            <a:avLst/>
          </a:prstGeom>
          <a:solidFill>
            <a:srgbClr val="C8553A"/>
          </a:solidFill>
          <a:ln w="12700">
            <a:solidFill>
              <a:srgbClr val="C8553A"/>
            </a:solidFill>
            <a:prstDash val="solid"/>
          </a:ln>
        </p:spPr>
        <p:txBody>
          <a:bodyPr/>
          <a:lstStyle/>
          <a:p>
            <a:endParaRPr lang="en-VN"/>
          </a:p>
        </p:txBody>
      </p:sp>
      <p:sp>
        <p:nvSpPr>
          <p:cNvPr id="34" name="Text 28"/>
          <p:cNvSpPr txBox="1"/>
          <p:nvPr/>
        </p:nvSpPr>
        <p:spPr>
          <a:xfrm>
            <a:off x="8193024" y="19842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pic>
        <p:nvPicPr>
          <p:cNvPr id="35" name="Image 4" descr="preencoded.png"/>
          <p:cNvPicPr>
            <a:picLocks noChangeAspect="1"/>
          </p:cNvPicPr>
          <p:nvPr/>
        </p:nvPicPr>
        <p:blipFill>
          <a:blip r:embed="rId7"/>
          <a:stretch>
            <a:fillRect/>
          </a:stretch>
        </p:blipFill>
        <p:spPr>
          <a:xfrm>
            <a:off x="9198864" y="2029968"/>
            <a:ext cx="329184" cy="329184"/>
          </a:xfrm>
          <a:prstGeom prst="rect">
            <a:avLst/>
          </a:prstGeom>
        </p:spPr>
      </p:pic>
      <p:sp>
        <p:nvSpPr>
          <p:cNvPr id="36" name="Text 29"/>
          <p:cNvSpPr txBox="1"/>
          <p:nvPr/>
        </p:nvSpPr>
        <p:spPr>
          <a:xfrm>
            <a:off x="8193024" y="2560320"/>
            <a:ext cx="1463040" cy="411480"/>
          </a:xfrm>
          <a:prstGeom prst="rect">
            <a:avLst/>
          </a:prstGeom>
          <a:noFill/>
          <a:ln/>
        </p:spPr>
        <p:txBody>
          <a:bodyPr wrap="square" lIns="0" tIns="0" rIns="0" bIns="0" rtlCol="0" anchor="t"/>
          <a:lstStyle/>
          <a:p>
            <a:pPr marL="0" indent="0">
              <a:buNone/>
            </a:pPr>
            <a:r>
              <a:rPr lang="en-US" sz="1600" b="1" dirty="0">
                <a:solidFill>
                  <a:srgbClr val="13303A"/>
                </a:solidFill>
                <a:latin typeface="Calibri" pitchFamily="34" charset="0"/>
                <a:ea typeface="Calibri" pitchFamily="34" charset="-122"/>
                <a:cs typeface="Calibri" pitchFamily="34" charset="-120"/>
              </a:rPr>
              <a:t>Mô hình</a:t>
            </a:r>
            <a:endParaRPr lang="en-US" sz="1600" dirty="0"/>
          </a:p>
        </p:txBody>
      </p:sp>
      <p:sp>
        <p:nvSpPr>
          <p:cNvPr id="37" name="Text 30"/>
          <p:cNvSpPr txBox="1"/>
          <p:nvPr/>
        </p:nvSpPr>
        <p:spPr>
          <a:xfrm>
            <a:off x="8138160" y="3044952"/>
            <a:ext cx="1517904" cy="164592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12 mô hình, 4 tầng</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Học trên log(giá)</a:t>
            </a:r>
            <a:endParaRPr lang="en-US" sz="1250" dirty="0"/>
          </a:p>
          <a:p>
            <a:pPr marL="139700" indent="-139700">
              <a:spcAft>
                <a:spcPts val="500"/>
              </a:spcAft>
              <a:buSzPct val="100000"/>
              <a:buChar char="•"/>
            </a:pPr>
            <a:r>
              <a:rPr lang="en-US" sz="1250" dirty="0">
                <a:solidFill>
                  <a:srgbClr val="1B2A30"/>
                </a:solidFill>
                <a:latin typeface="Calibri" pitchFamily="34" charset="0"/>
                <a:ea typeface="Calibri" pitchFamily="34" charset="-122"/>
                <a:cs typeface="Calibri" pitchFamily="34" charset="-120"/>
              </a:rPr>
              <a:t>Kiểm rò rỉ nhãn</a:t>
            </a:r>
            <a:endParaRPr lang="en-US" sz="1250" dirty="0"/>
          </a:p>
        </p:txBody>
      </p:sp>
      <p:sp>
        <p:nvSpPr>
          <p:cNvPr id="38" name="Shape 31"/>
          <p:cNvSpPr/>
          <p:nvPr/>
        </p:nvSpPr>
        <p:spPr>
          <a:xfrm>
            <a:off x="9875520" y="1783080"/>
            <a:ext cx="1737360" cy="3017520"/>
          </a:xfrm>
          <a:prstGeom prst="roundRect">
            <a:avLst>
              <a:gd name="adj" fmla="val 5263"/>
            </a:avLst>
          </a:prstGeom>
          <a:solidFill>
            <a:srgbClr val="13303A"/>
          </a:solidFill>
          <a:ln w="12700">
            <a:solidFill>
              <a:srgbClr val="13303A"/>
            </a:solidFill>
            <a:prstDash val="solid"/>
          </a:ln>
        </p:spPr>
        <p:txBody>
          <a:bodyPr/>
          <a:lstStyle/>
          <a:p>
            <a:endParaRPr lang="en-VN"/>
          </a:p>
        </p:txBody>
      </p:sp>
      <p:sp>
        <p:nvSpPr>
          <p:cNvPr id="39" name="Shape 32"/>
          <p:cNvSpPr/>
          <p:nvPr/>
        </p:nvSpPr>
        <p:spPr>
          <a:xfrm>
            <a:off x="10058400" y="1984248"/>
            <a:ext cx="420624" cy="420624"/>
          </a:xfrm>
          <a:prstGeom prst="ellipse">
            <a:avLst/>
          </a:prstGeom>
          <a:solidFill>
            <a:srgbClr val="C8553A"/>
          </a:solidFill>
          <a:ln w="12700">
            <a:solidFill>
              <a:srgbClr val="C8553A"/>
            </a:solidFill>
            <a:prstDash val="solid"/>
          </a:ln>
        </p:spPr>
        <p:txBody>
          <a:bodyPr/>
          <a:lstStyle/>
          <a:p>
            <a:endParaRPr lang="en-VN"/>
          </a:p>
        </p:txBody>
      </p:sp>
      <p:sp>
        <p:nvSpPr>
          <p:cNvPr id="40" name="Text 33"/>
          <p:cNvSpPr txBox="1"/>
          <p:nvPr/>
        </p:nvSpPr>
        <p:spPr>
          <a:xfrm>
            <a:off x="10058400" y="19842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pic>
        <p:nvPicPr>
          <p:cNvPr id="41" name="Image 5" descr="preencoded.png"/>
          <p:cNvPicPr>
            <a:picLocks noChangeAspect="1"/>
          </p:cNvPicPr>
          <p:nvPr/>
        </p:nvPicPr>
        <p:blipFill>
          <a:blip r:embed="rId8"/>
          <a:stretch>
            <a:fillRect/>
          </a:stretch>
        </p:blipFill>
        <p:spPr>
          <a:xfrm>
            <a:off x="11064240" y="2029968"/>
            <a:ext cx="329184" cy="329184"/>
          </a:xfrm>
          <a:prstGeom prst="rect">
            <a:avLst/>
          </a:prstGeom>
        </p:spPr>
      </p:pic>
      <p:sp>
        <p:nvSpPr>
          <p:cNvPr id="42" name="Text 34"/>
          <p:cNvSpPr txBox="1"/>
          <p:nvPr/>
        </p:nvSpPr>
        <p:spPr>
          <a:xfrm>
            <a:off x="10058400" y="2560320"/>
            <a:ext cx="1463040" cy="41148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Đánh giá, demo</a:t>
            </a:r>
            <a:endParaRPr lang="en-US" sz="1600" dirty="0"/>
          </a:p>
        </p:txBody>
      </p:sp>
      <p:sp>
        <p:nvSpPr>
          <p:cNvPr id="43" name="Text 35"/>
          <p:cNvSpPr txBox="1"/>
          <p:nvPr/>
        </p:nvSpPr>
        <p:spPr>
          <a:xfrm>
            <a:off x="10003536" y="3044952"/>
            <a:ext cx="1517904" cy="1645920"/>
          </a:xfrm>
          <a:prstGeom prst="rect">
            <a:avLst/>
          </a:prstGeom>
          <a:noFill/>
          <a:ln/>
        </p:spPr>
        <p:txBody>
          <a:bodyPr wrap="square" lIns="0" tIns="0" rIns="0" bIns="0" rtlCol="0" anchor="t"/>
          <a:lstStyle/>
          <a:p>
            <a:pPr marL="139700" indent="-139700">
              <a:spcAft>
                <a:spcPts val="500"/>
              </a:spcAft>
              <a:buSzPct val="100000"/>
              <a:buChar char="•"/>
            </a:pPr>
            <a:r>
              <a:rPr lang="en-US" sz="1250" dirty="0">
                <a:solidFill>
                  <a:srgbClr val="B4CAD0"/>
                </a:solidFill>
                <a:latin typeface="Calibri" pitchFamily="34" charset="0"/>
                <a:ea typeface="Calibri" pitchFamily="34" charset="-122"/>
                <a:cs typeface="Calibri" pitchFamily="34" charset="-120"/>
              </a:rPr>
              <a:t>E1, E2, E3, ablation</a:t>
            </a:r>
            <a:endParaRPr lang="en-US" sz="1250" dirty="0"/>
          </a:p>
          <a:p>
            <a:pPr marL="139700" indent="-139700">
              <a:spcAft>
                <a:spcPts val="500"/>
              </a:spcAft>
              <a:buSzPct val="100000"/>
              <a:buChar char="•"/>
            </a:pPr>
            <a:r>
              <a:rPr lang="en-US" sz="1250" dirty="0">
                <a:solidFill>
                  <a:srgbClr val="B4CAD0"/>
                </a:solidFill>
                <a:latin typeface="Calibri" pitchFamily="34" charset="0"/>
                <a:ea typeface="Calibri" pitchFamily="34" charset="-122"/>
                <a:cs typeface="Calibri" pitchFamily="34" charset="-120"/>
              </a:rPr>
              <a:t>Web app Streamlit</a:t>
            </a:r>
            <a:endParaRPr lang="en-US" sz="1250" dirty="0"/>
          </a:p>
        </p:txBody>
      </p:sp>
      <p:sp>
        <p:nvSpPr>
          <p:cNvPr id="44" name="Text 36"/>
          <p:cNvSpPr txBox="1"/>
          <p:nvPr/>
        </p:nvSpPr>
        <p:spPr>
          <a:xfrm>
            <a:off x="548640" y="4983480"/>
            <a:ext cx="5486400" cy="347472"/>
          </a:xfrm>
          <a:prstGeom prst="rect">
            <a:avLst/>
          </a:prstGeom>
          <a:noFill/>
          <a:ln/>
        </p:spPr>
        <p:txBody>
          <a:bodyPr wrap="square" lIns="0" tIns="0" rIns="0" bIns="0" rtlCol="0" anchor="t"/>
          <a:lstStyle/>
          <a:p>
            <a:pPr marL="0" indent="0">
              <a:buNone/>
            </a:pPr>
            <a:r>
              <a:rPr lang="en-US" sz="1500" b="1" dirty="0">
                <a:solidFill>
                  <a:srgbClr val="13303A"/>
                </a:solidFill>
                <a:latin typeface="Calibri" pitchFamily="34" charset="0"/>
                <a:ea typeface="Calibri" pitchFamily="34" charset="-122"/>
                <a:cs typeface="Calibri" pitchFamily="34" charset="-120"/>
              </a:rPr>
              <a:t>Số dòng qua từng bước làm sạch</a:t>
            </a:r>
            <a:endParaRPr lang="en-US" sz="1500" dirty="0"/>
          </a:p>
        </p:txBody>
      </p:sp>
      <p:sp>
        <p:nvSpPr>
          <p:cNvPr id="45" name="Shape 37"/>
          <p:cNvSpPr/>
          <p:nvPr/>
        </p:nvSpPr>
        <p:spPr>
          <a:xfrm>
            <a:off x="548640" y="5413248"/>
            <a:ext cx="2011680" cy="804672"/>
          </a:xfrm>
          <a:prstGeom prst="roundRect">
            <a:avLst>
              <a:gd name="adj" fmla="val 11364"/>
            </a:avLst>
          </a:prstGeom>
          <a:solidFill>
            <a:srgbClr val="EAF2F3"/>
          </a:solidFill>
          <a:ln w="12700">
            <a:solidFill>
              <a:srgbClr val="EAF2F3"/>
            </a:solidFill>
            <a:prstDash val="solid"/>
          </a:ln>
        </p:spPr>
        <p:txBody>
          <a:bodyPr/>
          <a:lstStyle/>
          <a:p>
            <a:endParaRPr lang="en-VN"/>
          </a:p>
        </p:txBody>
      </p:sp>
      <p:sp>
        <p:nvSpPr>
          <p:cNvPr id="46" name="Text 38"/>
          <p:cNvSpPr txBox="1"/>
          <p:nvPr/>
        </p:nvSpPr>
        <p:spPr>
          <a:xfrm>
            <a:off x="548640" y="5468112"/>
            <a:ext cx="2011680" cy="411480"/>
          </a:xfrm>
          <a:prstGeom prst="rect">
            <a:avLst/>
          </a:prstGeom>
          <a:noFill/>
          <a:ln/>
        </p:spPr>
        <p:txBody>
          <a:bodyPr wrap="square" lIns="0" tIns="0" rIns="0" bIns="0" rtlCol="0" anchor="ctr"/>
          <a:lstStyle/>
          <a:p>
            <a:pPr marL="0" indent="0" algn="ctr">
              <a:buNone/>
            </a:pPr>
            <a:r>
              <a:rPr lang="en-US" sz="2100" b="1" dirty="0">
                <a:solidFill>
                  <a:srgbClr val="13303A"/>
                </a:solidFill>
                <a:latin typeface="Calibri" pitchFamily="34" charset="0"/>
                <a:ea typeface="Calibri" pitchFamily="34" charset="-122"/>
                <a:cs typeface="Calibri" pitchFamily="34" charset="-120"/>
              </a:rPr>
              <a:t>42.760</a:t>
            </a:r>
            <a:endParaRPr lang="en-US" sz="2100" dirty="0"/>
          </a:p>
        </p:txBody>
      </p:sp>
      <p:sp>
        <p:nvSpPr>
          <p:cNvPr id="47" name="Text 39"/>
          <p:cNvSpPr txBox="1"/>
          <p:nvPr/>
        </p:nvSpPr>
        <p:spPr>
          <a:xfrm>
            <a:off x="548640" y="5870448"/>
            <a:ext cx="2011680" cy="274320"/>
          </a:xfrm>
          <a:prstGeom prst="rect">
            <a:avLst/>
          </a:prstGeom>
          <a:noFill/>
          <a:ln/>
        </p:spPr>
        <p:txBody>
          <a:bodyPr wrap="square" lIns="0" tIns="0" rIns="0" bIns="0" rtlCol="0" anchor="t"/>
          <a:lstStyle/>
          <a:p>
            <a:pPr marL="0" indent="0" algn="ctr">
              <a:buNone/>
            </a:pPr>
            <a:r>
              <a:rPr lang="en-US" sz="1150" dirty="0">
                <a:solidFill>
                  <a:srgbClr val="5B6D74"/>
                </a:solidFill>
                <a:latin typeface="Calibri" pitchFamily="34" charset="0"/>
                <a:ea typeface="Calibri" pitchFamily="34" charset="-122"/>
                <a:cs typeface="Calibri" pitchFamily="34" charset="-120"/>
              </a:rPr>
              <a:t>Gộp ba nguồn</a:t>
            </a:r>
            <a:endParaRPr lang="en-US" sz="1150" dirty="0"/>
          </a:p>
        </p:txBody>
      </p:sp>
      <p:sp>
        <p:nvSpPr>
          <p:cNvPr id="48" name="Shape 40"/>
          <p:cNvSpPr/>
          <p:nvPr/>
        </p:nvSpPr>
        <p:spPr>
          <a:xfrm>
            <a:off x="2596896" y="5815584"/>
            <a:ext cx="178308" cy="0"/>
          </a:xfrm>
          <a:prstGeom prst="line">
            <a:avLst/>
          </a:prstGeom>
          <a:noFill/>
          <a:ln w="15875">
            <a:solidFill>
              <a:srgbClr val="5B6D74"/>
            </a:solidFill>
            <a:prstDash val="solid"/>
            <a:tailEnd type="triangle"/>
          </a:ln>
        </p:spPr>
        <p:txBody>
          <a:bodyPr/>
          <a:lstStyle/>
          <a:p>
            <a:endParaRPr lang="en-VN"/>
          </a:p>
        </p:txBody>
      </p:sp>
      <p:sp>
        <p:nvSpPr>
          <p:cNvPr id="49" name="Shape 41"/>
          <p:cNvSpPr/>
          <p:nvPr/>
        </p:nvSpPr>
        <p:spPr>
          <a:xfrm>
            <a:off x="2811780" y="5413248"/>
            <a:ext cx="2011680" cy="804672"/>
          </a:xfrm>
          <a:prstGeom prst="roundRect">
            <a:avLst>
              <a:gd name="adj" fmla="val 11364"/>
            </a:avLst>
          </a:prstGeom>
          <a:solidFill>
            <a:srgbClr val="EAF2F3"/>
          </a:solidFill>
          <a:ln w="12700">
            <a:solidFill>
              <a:srgbClr val="EAF2F3"/>
            </a:solidFill>
            <a:prstDash val="solid"/>
          </a:ln>
        </p:spPr>
        <p:txBody>
          <a:bodyPr/>
          <a:lstStyle/>
          <a:p>
            <a:endParaRPr lang="en-VN"/>
          </a:p>
        </p:txBody>
      </p:sp>
      <p:sp>
        <p:nvSpPr>
          <p:cNvPr id="50" name="Text 42"/>
          <p:cNvSpPr txBox="1"/>
          <p:nvPr/>
        </p:nvSpPr>
        <p:spPr>
          <a:xfrm>
            <a:off x="2811780" y="5468112"/>
            <a:ext cx="2011680" cy="411480"/>
          </a:xfrm>
          <a:prstGeom prst="rect">
            <a:avLst/>
          </a:prstGeom>
          <a:noFill/>
          <a:ln/>
        </p:spPr>
        <p:txBody>
          <a:bodyPr wrap="square" lIns="0" tIns="0" rIns="0" bIns="0" rtlCol="0" anchor="ctr"/>
          <a:lstStyle/>
          <a:p>
            <a:pPr marL="0" indent="0" algn="ctr">
              <a:buNone/>
            </a:pPr>
            <a:r>
              <a:rPr lang="en-US" sz="2100" b="1" dirty="0">
                <a:solidFill>
                  <a:srgbClr val="13303A"/>
                </a:solidFill>
                <a:latin typeface="Calibri" pitchFamily="34" charset="0"/>
                <a:ea typeface="Calibri" pitchFamily="34" charset="-122"/>
                <a:cs typeface="Calibri" pitchFamily="34" charset="-120"/>
              </a:rPr>
              <a:t>41.997</a:t>
            </a:r>
            <a:endParaRPr lang="en-US" sz="2100" dirty="0"/>
          </a:p>
        </p:txBody>
      </p:sp>
      <p:sp>
        <p:nvSpPr>
          <p:cNvPr id="51" name="Text 43"/>
          <p:cNvSpPr txBox="1"/>
          <p:nvPr/>
        </p:nvSpPr>
        <p:spPr>
          <a:xfrm>
            <a:off x="2811780" y="5870448"/>
            <a:ext cx="2011680" cy="274320"/>
          </a:xfrm>
          <a:prstGeom prst="rect">
            <a:avLst/>
          </a:prstGeom>
          <a:noFill/>
          <a:ln/>
        </p:spPr>
        <p:txBody>
          <a:bodyPr wrap="square" lIns="0" tIns="0" rIns="0" bIns="0" rtlCol="0" anchor="t"/>
          <a:lstStyle/>
          <a:p>
            <a:pPr marL="0" indent="0" algn="ctr">
              <a:buNone/>
            </a:pPr>
            <a:r>
              <a:rPr lang="en-US" sz="1150" dirty="0">
                <a:solidFill>
                  <a:srgbClr val="5B6D74"/>
                </a:solidFill>
                <a:latin typeface="Calibri" pitchFamily="34" charset="0"/>
                <a:ea typeface="Calibri" pitchFamily="34" charset="-122"/>
                <a:cs typeface="Calibri" pitchFamily="34" charset="-120"/>
              </a:rPr>
              <a:t>Đủ giá, diện tích</a:t>
            </a:r>
            <a:endParaRPr lang="en-US" sz="1150" dirty="0"/>
          </a:p>
        </p:txBody>
      </p:sp>
      <p:sp>
        <p:nvSpPr>
          <p:cNvPr id="52" name="Shape 44"/>
          <p:cNvSpPr/>
          <p:nvPr/>
        </p:nvSpPr>
        <p:spPr>
          <a:xfrm>
            <a:off x="4860036" y="5815584"/>
            <a:ext cx="178308" cy="0"/>
          </a:xfrm>
          <a:prstGeom prst="line">
            <a:avLst/>
          </a:prstGeom>
          <a:noFill/>
          <a:ln w="15875">
            <a:solidFill>
              <a:srgbClr val="5B6D74"/>
            </a:solidFill>
            <a:prstDash val="solid"/>
            <a:tailEnd type="triangle"/>
          </a:ln>
        </p:spPr>
        <p:txBody>
          <a:bodyPr/>
          <a:lstStyle/>
          <a:p>
            <a:endParaRPr lang="en-VN"/>
          </a:p>
        </p:txBody>
      </p:sp>
      <p:sp>
        <p:nvSpPr>
          <p:cNvPr id="53" name="Shape 45"/>
          <p:cNvSpPr/>
          <p:nvPr/>
        </p:nvSpPr>
        <p:spPr>
          <a:xfrm>
            <a:off x="5074920" y="5413248"/>
            <a:ext cx="2011680" cy="804672"/>
          </a:xfrm>
          <a:prstGeom prst="roundRect">
            <a:avLst>
              <a:gd name="adj" fmla="val 11364"/>
            </a:avLst>
          </a:prstGeom>
          <a:solidFill>
            <a:srgbClr val="EAF2F3"/>
          </a:solidFill>
          <a:ln w="12700">
            <a:solidFill>
              <a:srgbClr val="EAF2F3"/>
            </a:solidFill>
            <a:prstDash val="solid"/>
          </a:ln>
        </p:spPr>
        <p:txBody>
          <a:bodyPr/>
          <a:lstStyle/>
          <a:p>
            <a:endParaRPr lang="en-VN"/>
          </a:p>
        </p:txBody>
      </p:sp>
      <p:sp>
        <p:nvSpPr>
          <p:cNvPr id="54" name="Text 46"/>
          <p:cNvSpPr txBox="1"/>
          <p:nvPr/>
        </p:nvSpPr>
        <p:spPr>
          <a:xfrm>
            <a:off x="5074920" y="5468112"/>
            <a:ext cx="2011680" cy="411480"/>
          </a:xfrm>
          <a:prstGeom prst="rect">
            <a:avLst/>
          </a:prstGeom>
          <a:noFill/>
          <a:ln/>
        </p:spPr>
        <p:txBody>
          <a:bodyPr wrap="square" lIns="0" tIns="0" rIns="0" bIns="0" rtlCol="0" anchor="ctr"/>
          <a:lstStyle/>
          <a:p>
            <a:pPr marL="0" indent="0" algn="ctr">
              <a:buNone/>
            </a:pPr>
            <a:r>
              <a:rPr lang="en-US" sz="2100" b="1" dirty="0">
                <a:solidFill>
                  <a:srgbClr val="13303A"/>
                </a:solidFill>
                <a:latin typeface="Calibri" pitchFamily="34" charset="0"/>
                <a:ea typeface="Calibri" pitchFamily="34" charset="-122"/>
                <a:cs typeface="Calibri" pitchFamily="34" charset="-120"/>
              </a:rPr>
              <a:t>38.370</a:t>
            </a:r>
            <a:endParaRPr lang="en-US" sz="2100" dirty="0"/>
          </a:p>
        </p:txBody>
      </p:sp>
      <p:sp>
        <p:nvSpPr>
          <p:cNvPr id="55" name="Text 47"/>
          <p:cNvSpPr txBox="1"/>
          <p:nvPr/>
        </p:nvSpPr>
        <p:spPr>
          <a:xfrm>
            <a:off x="5074920" y="5870448"/>
            <a:ext cx="2011680" cy="274320"/>
          </a:xfrm>
          <a:prstGeom prst="rect">
            <a:avLst/>
          </a:prstGeom>
          <a:noFill/>
          <a:ln/>
        </p:spPr>
        <p:txBody>
          <a:bodyPr wrap="square" lIns="0" tIns="0" rIns="0" bIns="0" rtlCol="0" anchor="t"/>
          <a:lstStyle/>
          <a:p>
            <a:pPr marL="0" indent="0" algn="ctr">
              <a:buNone/>
            </a:pPr>
            <a:r>
              <a:rPr lang="en-US" sz="1150" dirty="0">
                <a:solidFill>
                  <a:srgbClr val="5B6D74"/>
                </a:solidFill>
                <a:latin typeface="Calibri" pitchFamily="34" charset="0"/>
                <a:ea typeface="Calibri" pitchFamily="34" charset="-122"/>
                <a:cs typeface="Calibri" pitchFamily="34" charset="-120"/>
              </a:rPr>
              <a:t>Miền hợp lệ, bỏ tin thuê</a:t>
            </a:r>
            <a:endParaRPr lang="en-US" sz="1150" dirty="0"/>
          </a:p>
        </p:txBody>
      </p:sp>
      <p:sp>
        <p:nvSpPr>
          <p:cNvPr id="56" name="Shape 48"/>
          <p:cNvSpPr/>
          <p:nvPr/>
        </p:nvSpPr>
        <p:spPr>
          <a:xfrm>
            <a:off x="7123176" y="5815584"/>
            <a:ext cx="178308" cy="0"/>
          </a:xfrm>
          <a:prstGeom prst="line">
            <a:avLst/>
          </a:prstGeom>
          <a:noFill/>
          <a:ln w="15875">
            <a:solidFill>
              <a:srgbClr val="5B6D74"/>
            </a:solidFill>
            <a:prstDash val="solid"/>
            <a:tailEnd type="triangle"/>
          </a:ln>
        </p:spPr>
        <p:txBody>
          <a:bodyPr/>
          <a:lstStyle/>
          <a:p>
            <a:endParaRPr lang="en-VN"/>
          </a:p>
        </p:txBody>
      </p:sp>
      <p:sp>
        <p:nvSpPr>
          <p:cNvPr id="57" name="Shape 49"/>
          <p:cNvSpPr/>
          <p:nvPr/>
        </p:nvSpPr>
        <p:spPr>
          <a:xfrm>
            <a:off x="7338060" y="5413248"/>
            <a:ext cx="2011680" cy="804672"/>
          </a:xfrm>
          <a:prstGeom prst="roundRect">
            <a:avLst>
              <a:gd name="adj" fmla="val 11364"/>
            </a:avLst>
          </a:prstGeom>
          <a:solidFill>
            <a:srgbClr val="EAF2F3"/>
          </a:solidFill>
          <a:ln w="12700">
            <a:solidFill>
              <a:srgbClr val="EAF2F3"/>
            </a:solidFill>
            <a:prstDash val="solid"/>
          </a:ln>
        </p:spPr>
        <p:txBody>
          <a:bodyPr/>
          <a:lstStyle/>
          <a:p>
            <a:endParaRPr lang="en-VN"/>
          </a:p>
        </p:txBody>
      </p:sp>
      <p:sp>
        <p:nvSpPr>
          <p:cNvPr id="58" name="Text 50"/>
          <p:cNvSpPr txBox="1"/>
          <p:nvPr/>
        </p:nvSpPr>
        <p:spPr>
          <a:xfrm>
            <a:off x="7338060" y="5468112"/>
            <a:ext cx="2011680" cy="411480"/>
          </a:xfrm>
          <a:prstGeom prst="rect">
            <a:avLst/>
          </a:prstGeom>
          <a:noFill/>
          <a:ln/>
        </p:spPr>
        <p:txBody>
          <a:bodyPr wrap="square" lIns="0" tIns="0" rIns="0" bIns="0" rtlCol="0" anchor="ctr"/>
          <a:lstStyle/>
          <a:p>
            <a:pPr marL="0" indent="0" algn="ctr">
              <a:buNone/>
            </a:pPr>
            <a:r>
              <a:rPr lang="en-US" sz="2100" b="1" dirty="0">
                <a:solidFill>
                  <a:srgbClr val="13303A"/>
                </a:solidFill>
                <a:latin typeface="Calibri" pitchFamily="34" charset="0"/>
                <a:ea typeface="Calibri" pitchFamily="34" charset="-122"/>
                <a:cs typeface="Calibri" pitchFamily="34" charset="-120"/>
              </a:rPr>
              <a:t>35.617</a:t>
            </a:r>
            <a:endParaRPr lang="en-US" sz="2100" dirty="0"/>
          </a:p>
        </p:txBody>
      </p:sp>
      <p:sp>
        <p:nvSpPr>
          <p:cNvPr id="59" name="Text 51"/>
          <p:cNvSpPr txBox="1"/>
          <p:nvPr/>
        </p:nvSpPr>
        <p:spPr>
          <a:xfrm>
            <a:off x="7338060" y="5870448"/>
            <a:ext cx="2011680" cy="274320"/>
          </a:xfrm>
          <a:prstGeom prst="rect">
            <a:avLst/>
          </a:prstGeom>
          <a:noFill/>
          <a:ln/>
        </p:spPr>
        <p:txBody>
          <a:bodyPr wrap="square" lIns="0" tIns="0" rIns="0" bIns="0" rtlCol="0" anchor="t"/>
          <a:lstStyle/>
          <a:p>
            <a:pPr marL="0" indent="0" algn="ctr">
              <a:buNone/>
            </a:pPr>
            <a:r>
              <a:rPr lang="en-US" sz="1150" dirty="0">
                <a:solidFill>
                  <a:srgbClr val="5B6D74"/>
                </a:solidFill>
                <a:latin typeface="Calibri" pitchFamily="34" charset="0"/>
                <a:ea typeface="Calibri" pitchFamily="34" charset="-122"/>
                <a:cs typeface="Calibri" pitchFamily="34" charset="-120"/>
              </a:rPr>
              <a:t>Khử trùng lặp</a:t>
            </a:r>
            <a:endParaRPr lang="en-US" sz="1150" dirty="0"/>
          </a:p>
        </p:txBody>
      </p:sp>
      <p:sp>
        <p:nvSpPr>
          <p:cNvPr id="60" name="Shape 52"/>
          <p:cNvSpPr/>
          <p:nvPr/>
        </p:nvSpPr>
        <p:spPr>
          <a:xfrm>
            <a:off x="9386316" y="5815584"/>
            <a:ext cx="178308" cy="0"/>
          </a:xfrm>
          <a:prstGeom prst="line">
            <a:avLst/>
          </a:prstGeom>
          <a:noFill/>
          <a:ln w="15875">
            <a:solidFill>
              <a:srgbClr val="5B6D74"/>
            </a:solidFill>
            <a:prstDash val="solid"/>
            <a:tailEnd type="triangle"/>
          </a:ln>
        </p:spPr>
        <p:txBody>
          <a:bodyPr/>
          <a:lstStyle/>
          <a:p>
            <a:endParaRPr lang="en-VN"/>
          </a:p>
        </p:txBody>
      </p:sp>
      <p:sp>
        <p:nvSpPr>
          <p:cNvPr id="61" name="Shape 53"/>
          <p:cNvSpPr/>
          <p:nvPr/>
        </p:nvSpPr>
        <p:spPr>
          <a:xfrm>
            <a:off x="9601200" y="5413248"/>
            <a:ext cx="2011680" cy="804672"/>
          </a:xfrm>
          <a:prstGeom prst="roundRect">
            <a:avLst>
              <a:gd name="adj" fmla="val 11364"/>
            </a:avLst>
          </a:prstGeom>
          <a:solidFill>
            <a:srgbClr val="C8553A"/>
          </a:solidFill>
          <a:ln w="12700">
            <a:solidFill>
              <a:srgbClr val="C8553A"/>
            </a:solidFill>
            <a:prstDash val="solid"/>
          </a:ln>
        </p:spPr>
        <p:txBody>
          <a:bodyPr/>
          <a:lstStyle/>
          <a:p>
            <a:endParaRPr lang="en-VN"/>
          </a:p>
        </p:txBody>
      </p:sp>
      <p:sp>
        <p:nvSpPr>
          <p:cNvPr id="62" name="Text 54"/>
          <p:cNvSpPr txBox="1"/>
          <p:nvPr/>
        </p:nvSpPr>
        <p:spPr>
          <a:xfrm>
            <a:off x="9601200" y="5468112"/>
            <a:ext cx="2011680" cy="411480"/>
          </a:xfrm>
          <a:prstGeom prst="rect">
            <a:avLst/>
          </a:prstGeom>
          <a:noFill/>
          <a:ln/>
        </p:spPr>
        <p:txBody>
          <a:bodyPr wrap="square" lIns="0" tIns="0" rIns="0" bIns="0"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34.607</a:t>
            </a:r>
            <a:endParaRPr lang="en-US" sz="2100" dirty="0"/>
          </a:p>
        </p:txBody>
      </p:sp>
      <p:sp>
        <p:nvSpPr>
          <p:cNvPr id="63" name="Text 55"/>
          <p:cNvSpPr txBox="1"/>
          <p:nvPr/>
        </p:nvSpPr>
        <p:spPr>
          <a:xfrm>
            <a:off x="9601200" y="5870448"/>
            <a:ext cx="2011680" cy="274320"/>
          </a:xfrm>
          <a:prstGeom prst="rect">
            <a:avLst/>
          </a:prstGeom>
          <a:noFill/>
          <a:ln/>
        </p:spPr>
        <p:txBody>
          <a:bodyPr wrap="square" lIns="0" tIns="0" rIns="0" bIns="0" rtlCol="0" anchor="t"/>
          <a:lstStyle/>
          <a:p>
            <a:pPr marL="0" indent="0" algn="ctr">
              <a:buNone/>
            </a:pPr>
            <a:r>
              <a:rPr lang="en-US" sz="1150" dirty="0">
                <a:solidFill>
                  <a:srgbClr val="FFFFFF"/>
                </a:solidFill>
                <a:latin typeface="Calibri" pitchFamily="34" charset="0"/>
                <a:ea typeface="Calibri" pitchFamily="34" charset="-122"/>
                <a:cs typeface="Calibri" pitchFamily="34" charset="-120"/>
              </a:rPr>
              <a:t>Lọc IQR giá/m²</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MÔ HÌNH</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Danh mục 12 mô hình, 4 tầng</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691640"/>
            <a:ext cx="6675120" cy="502920"/>
          </a:xfrm>
          <a:prstGeom prst="triangle">
            <a:avLst/>
          </a:prstGeom>
          <a:solidFill>
            <a:srgbClr val="C8553A"/>
          </a:solidFill>
          <a:ln w="12700">
            <a:solidFill>
              <a:srgbClr val="C8553A"/>
            </a:solidFill>
            <a:prstDash val="solid"/>
          </a:ln>
        </p:spPr>
        <p:txBody>
          <a:bodyPr/>
          <a:lstStyle/>
          <a:p>
            <a:endParaRPr lang="en-VN"/>
          </a:p>
        </p:txBody>
      </p:sp>
      <p:sp>
        <p:nvSpPr>
          <p:cNvPr id="9" name="Shape 7"/>
          <p:cNvSpPr/>
          <p:nvPr/>
        </p:nvSpPr>
        <p:spPr>
          <a:xfrm>
            <a:off x="548640" y="2267712"/>
            <a:ext cx="6675120" cy="896112"/>
          </a:xfrm>
          <a:prstGeom prst="rect">
            <a:avLst/>
          </a:prstGeom>
          <a:solidFill>
            <a:srgbClr val="EAF2F3"/>
          </a:solidFill>
          <a:ln w="12700">
            <a:solidFill>
              <a:srgbClr val="EAF2F3"/>
            </a:solidFill>
            <a:prstDash val="solid"/>
          </a:ln>
        </p:spPr>
        <p:txBody>
          <a:bodyPr/>
          <a:lstStyle/>
          <a:p>
            <a:endParaRPr lang="en-VN"/>
          </a:p>
        </p:txBody>
      </p:sp>
      <p:sp>
        <p:nvSpPr>
          <p:cNvPr id="10" name="Text 8"/>
          <p:cNvSpPr txBox="1"/>
          <p:nvPr/>
        </p:nvSpPr>
        <p:spPr>
          <a:xfrm>
            <a:off x="777240" y="2395728"/>
            <a:ext cx="1645920" cy="365760"/>
          </a:xfrm>
          <a:prstGeom prst="rect">
            <a:avLst/>
          </a:prstGeom>
          <a:noFill/>
          <a:ln/>
        </p:spPr>
        <p:txBody>
          <a:bodyPr wrap="square" lIns="0" tIns="0" rIns="0" bIns="0" rtlCol="0" anchor="t"/>
          <a:lstStyle/>
          <a:p>
            <a:pPr marL="0" indent="0">
              <a:buNone/>
            </a:pPr>
            <a:r>
              <a:rPr lang="en-US" sz="1700" b="1" dirty="0">
                <a:solidFill>
                  <a:srgbClr val="13303A"/>
                </a:solidFill>
                <a:latin typeface="Calibri" pitchFamily="34" charset="0"/>
                <a:ea typeface="Calibri" pitchFamily="34" charset="-122"/>
                <a:cs typeface="Calibri" pitchFamily="34" charset="-120"/>
              </a:rPr>
              <a:t>Tầng 3</a:t>
            </a:r>
            <a:endParaRPr lang="en-US" sz="1700" dirty="0"/>
          </a:p>
        </p:txBody>
      </p:sp>
      <p:sp>
        <p:nvSpPr>
          <p:cNvPr id="11" name="Text 9"/>
          <p:cNvSpPr txBox="1"/>
          <p:nvPr/>
        </p:nvSpPr>
        <p:spPr>
          <a:xfrm>
            <a:off x="777240" y="2743200"/>
            <a:ext cx="1645920" cy="292608"/>
          </a:xfrm>
          <a:prstGeom prst="rect">
            <a:avLst/>
          </a:prstGeom>
          <a:noFill/>
          <a:ln/>
        </p:spPr>
        <p:txBody>
          <a:bodyPr wrap="square" lIns="0" tIns="0" rIns="0" bIns="0" rtlCol="0" anchor="t"/>
          <a:lstStyle/>
          <a:p>
            <a:pPr marL="0" indent="0">
              <a:buNone/>
            </a:pPr>
            <a:r>
              <a:rPr lang="en-US" sz="1300" dirty="0">
                <a:solidFill>
                  <a:srgbClr val="5B6D74"/>
                </a:solidFill>
                <a:latin typeface="Calibri" pitchFamily="34" charset="0"/>
                <a:ea typeface="Calibri" pitchFamily="34" charset="-122"/>
                <a:cs typeface="Calibri" pitchFamily="34" charset="-120"/>
              </a:rPr>
              <a:t>mở rộng</a:t>
            </a:r>
            <a:endParaRPr lang="en-US" sz="1300" dirty="0"/>
          </a:p>
        </p:txBody>
      </p:sp>
      <p:sp>
        <p:nvSpPr>
          <p:cNvPr id="12" name="Shape 10"/>
          <p:cNvSpPr/>
          <p:nvPr/>
        </p:nvSpPr>
        <p:spPr>
          <a:xfrm>
            <a:off x="2468880" y="2505456"/>
            <a:ext cx="571500" cy="420624"/>
          </a:xfrm>
          <a:prstGeom prst="roundRect">
            <a:avLst>
              <a:gd name="adj" fmla="val 50000"/>
            </a:avLst>
          </a:prstGeom>
          <a:solidFill>
            <a:srgbClr val="FFFFFF"/>
          </a:solidFill>
          <a:ln w="12700">
            <a:solidFill>
              <a:srgbClr val="FFFFFF"/>
            </a:solidFill>
            <a:prstDash val="solid"/>
          </a:ln>
        </p:spPr>
        <p:txBody>
          <a:bodyPr/>
          <a:lstStyle/>
          <a:p>
            <a:endParaRPr lang="en-VN"/>
          </a:p>
        </p:txBody>
      </p:sp>
      <p:sp>
        <p:nvSpPr>
          <p:cNvPr id="13" name="Text 11"/>
          <p:cNvSpPr txBox="1"/>
          <p:nvPr/>
        </p:nvSpPr>
        <p:spPr>
          <a:xfrm>
            <a:off x="2468880" y="2505456"/>
            <a:ext cx="571500" cy="420624"/>
          </a:xfrm>
          <a:prstGeom prst="rect">
            <a:avLst/>
          </a:prstGeom>
          <a:noFill/>
          <a:ln/>
        </p:spPr>
        <p:txBody>
          <a:bodyPr wrap="square" lIns="0" tIns="0" rIns="0" bIns="0" rtlCol="0" anchor="ctr"/>
          <a:lstStyle/>
          <a:p>
            <a:pPr marL="0" indent="0" algn="ctr">
              <a:buNone/>
            </a:pPr>
            <a:r>
              <a:rPr lang="en-US" sz="1400" dirty="0">
                <a:solidFill>
                  <a:srgbClr val="1B2A30"/>
                </a:solidFill>
                <a:latin typeface="Calibri" pitchFamily="34" charset="0"/>
                <a:ea typeface="Calibri" pitchFamily="34" charset="-122"/>
                <a:cs typeface="Calibri" pitchFamily="34" charset="-120"/>
              </a:rPr>
              <a:t>KNN</a:t>
            </a:r>
            <a:endParaRPr lang="en-US" sz="1400" dirty="0"/>
          </a:p>
        </p:txBody>
      </p:sp>
      <p:sp>
        <p:nvSpPr>
          <p:cNvPr id="14" name="Shape 12"/>
          <p:cNvSpPr/>
          <p:nvPr/>
        </p:nvSpPr>
        <p:spPr>
          <a:xfrm>
            <a:off x="3131820" y="2505456"/>
            <a:ext cx="1527048" cy="420624"/>
          </a:xfrm>
          <a:prstGeom prst="roundRect">
            <a:avLst>
              <a:gd name="adj" fmla="val 50000"/>
            </a:avLst>
          </a:prstGeom>
          <a:solidFill>
            <a:srgbClr val="FFFFFF"/>
          </a:solidFill>
          <a:ln w="12700">
            <a:solidFill>
              <a:srgbClr val="FFFFFF"/>
            </a:solidFill>
            <a:prstDash val="solid"/>
          </a:ln>
        </p:spPr>
        <p:txBody>
          <a:bodyPr/>
          <a:lstStyle/>
          <a:p>
            <a:endParaRPr lang="en-VN"/>
          </a:p>
        </p:txBody>
      </p:sp>
      <p:sp>
        <p:nvSpPr>
          <p:cNvPr id="15" name="Text 13"/>
          <p:cNvSpPr txBox="1"/>
          <p:nvPr/>
        </p:nvSpPr>
        <p:spPr>
          <a:xfrm>
            <a:off x="3131820" y="2505456"/>
            <a:ext cx="1527048" cy="420624"/>
          </a:xfrm>
          <a:prstGeom prst="rect">
            <a:avLst/>
          </a:prstGeom>
          <a:noFill/>
          <a:ln/>
        </p:spPr>
        <p:txBody>
          <a:bodyPr wrap="square" lIns="0" tIns="0" rIns="0" bIns="0" rtlCol="0" anchor="ctr"/>
          <a:lstStyle/>
          <a:p>
            <a:pPr marL="0" indent="0" algn="ctr">
              <a:buNone/>
            </a:pPr>
            <a:r>
              <a:rPr lang="en-US" sz="1400" dirty="0">
                <a:solidFill>
                  <a:srgbClr val="1B2A30"/>
                </a:solidFill>
                <a:latin typeface="Calibri" pitchFamily="34" charset="0"/>
                <a:ea typeface="Calibri" pitchFamily="34" charset="-122"/>
                <a:cs typeface="Calibri" pitchFamily="34" charset="-120"/>
              </a:rPr>
              <a:t>Cây quyết định</a:t>
            </a:r>
            <a:endParaRPr lang="en-US" sz="1400" dirty="0"/>
          </a:p>
        </p:txBody>
      </p:sp>
      <p:sp>
        <p:nvSpPr>
          <p:cNvPr id="16" name="Shape 14"/>
          <p:cNvSpPr/>
          <p:nvPr/>
        </p:nvSpPr>
        <p:spPr>
          <a:xfrm>
            <a:off x="4750308" y="2505456"/>
            <a:ext cx="571500" cy="420624"/>
          </a:xfrm>
          <a:prstGeom prst="roundRect">
            <a:avLst>
              <a:gd name="adj" fmla="val 50000"/>
            </a:avLst>
          </a:prstGeom>
          <a:solidFill>
            <a:srgbClr val="FFFFFF"/>
          </a:solidFill>
          <a:ln w="12700">
            <a:solidFill>
              <a:srgbClr val="FFFFFF"/>
            </a:solidFill>
            <a:prstDash val="solid"/>
          </a:ln>
        </p:spPr>
        <p:txBody>
          <a:bodyPr/>
          <a:lstStyle/>
          <a:p>
            <a:endParaRPr lang="en-VN"/>
          </a:p>
        </p:txBody>
      </p:sp>
      <p:sp>
        <p:nvSpPr>
          <p:cNvPr id="17" name="Text 15"/>
          <p:cNvSpPr txBox="1"/>
          <p:nvPr/>
        </p:nvSpPr>
        <p:spPr>
          <a:xfrm>
            <a:off x="4750308" y="2505456"/>
            <a:ext cx="571500" cy="420624"/>
          </a:xfrm>
          <a:prstGeom prst="rect">
            <a:avLst/>
          </a:prstGeom>
          <a:noFill/>
          <a:ln/>
        </p:spPr>
        <p:txBody>
          <a:bodyPr wrap="square" lIns="0" tIns="0" rIns="0" bIns="0" rtlCol="0" anchor="ctr"/>
          <a:lstStyle/>
          <a:p>
            <a:pPr marL="0" indent="0" algn="ctr">
              <a:buNone/>
            </a:pPr>
            <a:r>
              <a:rPr lang="en-US" sz="1400" dirty="0">
                <a:solidFill>
                  <a:srgbClr val="1B2A30"/>
                </a:solidFill>
                <a:latin typeface="Calibri" pitchFamily="34" charset="0"/>
                <a:ea typeface="Calibri" pitchFamily="34" charset="-122"/>
                <a:cs typeface="Calibri" pitchFamily="34" charset="-120"/>
              </a:rPr>
              <a:t>MLP</a:t>
            </a:r>
            <a:endParaRPr lang="en-US" sz="1400" dirty="0"/>
          </a:p>
        </p:txBody>
      </p:sp>
      <p:sp>
        <p:nvSpPr>
          <p:cNvPr id="18" name="Shape 16"/>
          <p:cNvSpPr/>
          <p:nvPr/>
        </p:nvSpPr>
        <p:spPr>
          <a:xfrm>
            <a:off x="548640" y="3255264"/>
            <a:ext cx="6675120" cy="896112"/>
          </a:xfrm>
          <a:prstGeom prst="rect">
            <a:avLst/>
          </a:prstGeom>
          <a:solidFill>
            <a:srgbClr val="13303A"/>
          </a:solidFill>
          <a:ln w="12700">
            <a:solidFill>
              <a:srgbClr val="13303A"/>
            </a:solidFill>
            <a:prstDash val="solid"/>
          </a:ln>
        </p:spPr>
        <p:txBody>
          <a:bodyPr/>
          <a:lstStyle/>
          <a:p>
            <a:endParaRPr lang="en-VN"/>
          </a:p>
        </p:txBody>
      </p:sp>
      <p:sp>
        <p:nvSpPr>
          <p:cNvPr id="19" name="Text 17"/>
          <p:cNvSpPr txBox="1"/>
          <p:nvPr/>
        </p:nvSpPr>
        <p:spPr>
          <a:xfrm>
            <a:off x="777240" y="3383280"/>
            <a:ext cx="164592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Tầng 2</a:t>
            </a:r>
            <a:endParaRPr lang="en-US" sz="1700" dirty="0"/>
          </a:p>
        </p:txBody>
      </p:sp>
      <p:sp>
        <p:nvSpPr>
          <p:cNvPr id="20" name="Text 18"/>
          <p:cNvSpPr txBox="1"/>
          <p:nvPr/>
        </p:nvSpPr>
        <p:spPr>
          <a:xfrm>
            <a:off x="777240" y="3730752"/>
            <a:ext cx="1645920" cy="292608"/>
          </a:xfrm>
          <a:prstGeom prst="rect">
            <a:avLst/>
          </a:prstGeom>
          <a:noFill/>
          <a:ln/>
        </p:spPr>
        <p:txBody>
          <a:bodyPr wrap="square" lIns="0" tIns="0" rIns="0" bIns="0" rtlCol="0" anchor="t"/>
          <a:lstStyle/>
          <a:p>
            <a:pPr marL="0" indent="0">
              <a:buNone/>
            </a:pPr>
            <a:r>
              <a:rPr lang="en-US" sz="1300" dirty="0">
                <a:solidFill>
                  <a:srgbClr val="B4CAD0"/>
                </a:solidFill>
                <a:latin typeface="Calibri" pitchFamily="34" charset="0"/>
                <a:ea typeface="Calibri" pitchFamily="34" charset="-122"/>
                <a:cs typeface="Calibri" pitchFamily="34" charset="-120"/>
              </a:rPr>
              <a:t>chủ lực</a:t>
            </a:r>
            <a:endParaRPr lang="en-US" sz="1300" dirty="0"/>
          </a:p>
        </p:txBody>
      </p:sp>
      <p:sp>
        <p:nvSpPr>
          <p:cNvPr id="21" name="Shape 19"/>
          <p:cNvSpPr/>
          <p:nvPr/>
        </p:nvSpPr>
        <p:spPr>
          <a:xfrm>
            <a:off x="2468880" y="3493008"/>
            <a:ext cx="1440180" cy="420624"/>
          </a:xfrm>
          <a:prstGeom prst="roundRect">
            <a:avLst>
              <a:gd name="adj" fmla="val 50000"/>
            </a:avLst>
          </a:prstGeom>
          <a:solidFill>
            <a:srgbClr val="1F4A57"/>
          </a:solidFill>
          <a:ln w="12700">
            <a:solidFill>
              <a:srgbClr val="1F4A57"/>
            </a:solidFill>
            <a:prstDash val="solid"/>
          </a:ln>
        </p:spPr>
        <p:txBody>
          <a:bodyPr/>
          <a:lstStyle/>
          <a:p>
            <a:endParaRPr lang="en-VN"/>
          </a:p>
        </p:txBody>
      </p:sp>
      <p:sp>
        <p:nvSpPr>
          <p:cNvPr id="22" name="Text 20"/>
          <p:cNvSpPr txBox="1"/>
          <p:nvPr/>
        </p:nvSpPr>
        <p:spPr>
          <a:xfrm>
            <a:off x="2468880" y="3493008"/>
            <a:ext cx="144018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p>
        </p:txBody>
      </p:sp>
      <p:sp>
        <p:nvSpPr>
          <p:cNvPr id="23" name="Shape 21"/>
          <p:cNvSpPr/>
          <p:nvPr/>
        </p:nvSpPr>
        <p:spPr>
          <a:xfrm>
            <a:off x="4000500" y="3493008"/>
            <a:ext cx="1005840" cy="420624"/>
          </a:xfrm>
          <a:prstGeom prst="roundRect">
            <a:avLst>
              <a:gd name="adj" fmla="val 50000"/>
            </a:avLst>
          </a:prstGeom>
          <a:solidFill>
            <a:srgbClr val="1F4A57"/>
          </a:solidFill>
          <a:ln w="12700">
            <a:solidFill>
              <a:srgbClr val="1F4A57"/>
            </a:solidFill>
            <a:prstDash val="solid"/>
          </a:ln>
        </p:spPr>
        <p:txBody>
          <a:bodyPr/>
          <a:lstStyle/>
          <a:p>
            <a:endParaRPr lang="en-VN"/>
          </a:p>
        </p:txBody>
      </p:sp>
      <p:sp>
        <p:nvSpPr>
          <p:cNvPr id="24" name="Text 22"/>
          <p:cNvSpPr txBox="1"/>
          <p:nvPr/>
        </p:nvSpPr>
        <p:spPr>
          <a:xfrm>
            <a:off x="4000500" y="3493008"/>
            <a:ext cx="100584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LightGBM</a:t>
            </a:r>
            <a:endParaRPr lang="en-US" sz="1400" dirty="0"/>
          </a:p>
        </p:txBody>
      </p:sp>
      <p:sp>
        <p:nvSpPr>
          <p:cNvPr id="25" name="Shape 23"/>
          <p:cNvSpPr/>
          <p:nvPr/>
        </p:nvSpPr>
        <p:spPr>
          <a:xfrm>
            <a:off x="5097780" y="3493008"/>
            <a:ext cx="1005840" cy="420624"/>
          </a:xfrm>
          <a:prstGeom prst="roundRect">
            <a:avLst>
              <a:gd name="adj" fmla="val 50000"/>
            </a:avLst>
          </a:prstGeom>
          <a:solidFill>
            <a:srgbClr val="1F4A57"/>
          </a:solidFill>
          <a:ln w="12700">
            <a:solidFill>
              <a:srgbClr val="1F4A57"/>
            </a:solidFill>
            <a:prstDash val="solid"/>
          </a:ln>
        </p:spPr>
        <p:txBody>
          <a:bodyPr/>
          <a:lstStyle/>
          <a:p>
            <a:endParaRPr lang="en-VN"/>
          </a:p>
        </p:txBody>
      </p:sp>
      <p:sp>
        <p:nvSpPr>
          <p:cNvPr id="26" name="Text 24"/>
          <p:cNvSpPr txBox="1"/>
          <p:nvPr/>
        </p:nvSpPr>
        <p:spPr>
          <a:xfrm>
            <a:off x="5097780" y="3493008"/>
            <a:ext cx="100584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CatBoost</a:t>
            </a:r>
            <a:endParaRPr lang="en-US" sz="1400" dirty="0"/>
          </a:p>
        </p:txBody>
      </p:sp>
      <p:sp>
        <p:nvSpPr>
          <p:cNvPr id="27" name="Shape 25"/>
          <p:cNvSpPr/>
          <p:nvPr/>
        </p:nvSpPr>
        <p:spPr>
          <a:xfrm>
            <a:off x="6195060" y="3493008"/>
            <a:ext cx="918972" cy="420624"/>
          </a:xfrm>
          <a:prstGeom prst="roundRect">
            <a:avLst>
              <a:gd name="adj" fmla="val 50000"/>
            </a:avLst>
          </a:prstGeom>
          <a:solidFill>
            <a:srgbClr val="1F4A57"/>
          </a:solidFill>
          <a:ln w="12700">
            <a:solidFill>
              <a:srgbClr val="1F4A57"/>
            </a:solidFill>
            <a:prstDash val="solid"/>
          </a:ln>
        </p:spPr>
        <p:txBody>
          <a:bodyPr/>
          <a:lstStyle/>
          <a:p>
            <a:endParaRPr lang="en-VN"/>
          </a:p>
        </p:txBody>
      </p:sp>
      <p:sp>
        <p:nvSpPr>
          <p:cNvPr id="28" name="Text 26"/>
          <p:cNvSpPr txBox="1"/>
          <p:nvPr/>
        </p:nvSpPr>
        <p:spPr>
          <a:xfrm>
            <a:off x="6195060" y="3493008"/>
            <a:ext cx="91897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XGBoost</a:t>
            </a:r>
            <a:endParaRPr lang="en-US" sz="1400" dirty="0"/>
          </a:p>
        </p:txBody>
      </p:sp>
      <p:sp>
        <p:nvSpPr>
          <p:cNvPr id="29" name="Shape 27"/>
          <p:cNvSpPr/>
          <p:nvPr/>
        </p:nvSpPr>
        <p:spPr>
          <a:xfrm>
            <a:off x="548640" y="4242816"/>
            <a:ext cx="6675120" cy="896112"/>
          </a:xfrm>
          <a:prstGeom prst="rect">
            <a:avLst/>
          </a:prstGeom>
          <a:solidFill>
            <a:srgbClr val="EAF2F3"/>
          </a:solidFill>
          <a:ln w="12700">
            <a:solidFill>
              <a:srgbClr val="EAF2F3"/>
            </a:solidFill>
            <a:prstDash val="solid"/>
          </a:ln>
        </p:spPr>
        <p:txBody>
          <a:bodyPr/>
          <a:lstStyle/>
          <a:p>
            <a:endParaRPr lang="en-VN"/>
          </a:p>
        </p:txBody>
      </p:sp>
      <p:sp>
        <p:nvSpPr>
          <p:cNvPr id="30" name="Text 28"/>
          <p:cNvSpPr txBox="1"/>
          <p:nvPr/>
        </p:nvSpPr>
        <p:spPr>
          <a:xfrm>
            <a:off x="777240" y="4370832"/>
            <a:ext cx="1645920" cy="365760"/>
          </a:xfrm>
          <a:prstGeom prst="rect">
            <a:avLst/>
          </a:prstGeom>
          <a:noFill/>
          <a:ln/>
        </p:spPr>
        <p:txBody>
          <a:bodyPr wrap="square" lIns="0" tIns="0" rIns="0" bIns="0" rtlCol="0" anchor="t"/>
          <a:lstStyle/>
          <a:p>
            <a:pPr marL="0" indent="0">
              <a:buNone/>
            </a:pPr>
            <a:r>
              <a:rPr lang="en-US" sz="1700" b="1" dirty="0">
                <a:solidFill>
                  <a:srgbClr val="13303A"/>
                </a:solidFill>
                <a:latin typeface="Calibri" pitchFamily="34" charset="0"/>
                <a:ea typeface="Calibri" pitchFamily="34" charset="-122"/>
                <a:cs typeface="Calibri" pitchFamily="34" charset="-120"/>
              </a:rPr>
              <a:t>Tầng 1</a:t>
            </a:r>
            <a:endParaRPr lang="en-US" sz="1700" dirty="0"/>
          </a:p>
        </p:txBody>
      </p:sp>
      <p:sp>
        <p:nvSpPr>
          <p:cNvPr id="31" name="Text 29"/>
          <p:cNvSpPr txBox="1"/>
          <p:nvPr/>
        </p:nvSpPr>
        <p:spPr>
          <a:xfrm>
            <a:off x="777240" y="4718304"/>
            <a:ext cx="1645920" cy="292608"/>
          </a:xfrm>
          <a:prstGeom prst="rect">
            <a:avLst/>
          </a:prstGeom>
          <a:noFill/>
          <a:ln/>
        </p:spPr>
        <p:txBody>
          <a:bodyPr wrap="square" lIns="0" tIns="0" rIns="0" bIns="0" rtlCol="0" anchor="t"/>
          <a:lstStyle/>
          <a:p>
            <a:pPr marL="0" indent="0">
              <a:buNone/>
            </a:pPr>
            <a:r>
              <a:rPr lang="en-US" sz="1300" dirty="0">
                <a:solidFill>
                  <a:srgbClr val="5B6D74"/>
                </a:solidFill>
                <a:latin typeface="Calibri" pitchFamily="34" charset="0"/>
                <a:ea typeface="Calibri" pitchFamily="34" charset="-122"/>
                <a:cs typeface="Calibri" pitchFamily="34" charset="-120"/>
              </a:rPr>
              <a:t>tuyến tính</a:t>
            </a:r>
            <a:endParaRPr lang="en-US" sz="1300" dirty="0"/>
          </a:p>
        </p:txBody>
      </p:sp>
      <p:sp>
        <p:nvSpPr>
          <p:cNvPr id="32" name="Shape 30"/>
          <p:cNvSpPr/>
          <p:nvPr/>
        </p:nvSpPr>
        <p:spPr>
          <a:xfrm>
            <a:off x="2468880" y="4480560"/>
            <a:ext cx="832104" cy="420624"/>
          </a:xfrm>
          <a:prstGeom prst="roundRect">
            <a:avLst>
              <a:gd name="adj" fmla="val 50000"/>
            </a:avLst>
          </a:prstGeom>
          <a:solidFill>
            <a:srgbClr val="FFFFFF"/>
          </a:solidFill>
          <a:ln w="12700">
            <a:solidFill>
              <a:srgbClr val="FFFFFF"/>
            </a:solidFill>
            <a:prstDash val="solid"/>
          </a:ln>
        </p:spPr>
        <p:txBody>
          <a:bodyPr/>
          <a:lstStyle/>
          <a:p>
            <a:endParaRPr lang="en-VN"/>
          </a:p>
        </p:txBody>
      </p:sp>
      <p:sp>
        <p:nvSpPr>
          <p:cNvPr id="33" name="Text 31"/>
          <p:cNvSpPr txBox="1"/>
          <p:nvPr/>
        </p:nvSpPr>
        <p:spPr>
          <a:xfrm>
            <a:off x="2468880" y="4480560"/>
            <a:ext cx="832104" cy="420624"/>
          </a:xfrm>
          <a:prstGeom prst="rect">
            <a:avLst/>
          </a:prstGeom>
          <a:noFill/>
          <a:ln/>
        </p:spPr>
        <p:txBody>
          <a:bodyPr wrap="square" lIns="0" tIns="0" rIns="0" bIns="0" rtlCol="0" anchor="ctr"/>
          <a:lstStyle/>
          <a:p>
            <a:pPr marL="0" indent="0" algn="ctr">
              <a:buNone/>
            </a:pPr>
            <a:r>
              <a:rPr lang="en-US" sz="1400" dirty="0">
                <a:solidFill>
                  <a:srgbClr val="1B2A30"/>
                </a:solidFill>
                <a:latin typeface="Calibri" pitchFamily="34" charset="0"/>
                <a:ea typeface="Calibri" pitchFamily="34" charset="-122"/>
                <a:cs typeface="Calibri" pitchFamily="34" charset="-120"/>
              </a:rPr>
              <a:t>Linear</a:t>
            </a:r>
            <a:endParaRPr lang="en-US" sz="1400" dirty="0"/>
          </a:p>
        </p:txBody>
      </p:sp>
      <p:sp>
        <p:nvSpPr>
          <p:cNvPr id="34" name="Shape 32"/>
          <p:cNvSpPr/>
          <p:nvPr/>
        </p:nvSpPr>
        <p:spPr>
          <a:xfrm>
            <a:off x="3392424" y="4480560"/>
            <a:ext cx="745236" cy="420624"/>
          </a:xfrm>
          <a:prstGeom prst="roundRect">
            <a:avLst>
              <a:gd name="adj" fmla="val 50000"/>
            </a:avLst>
          </a:prstGeom>
          <a:solidFill>
            <a:srgbClr val="FFFFFF"/>
          </a:solidFill>
          <a:ln w="12700">
            <a:solidFill>
              <a:srgbClr val="FFFFFF"/>
            </a:solidFill>
            <a:prstDash val="solid"/>
          </a:ln>
        </p:spPr>
        <p:txBody>
          <a:bodyPr/>
          <a:lstStyle/>
          <a:p>
            <a:endParaRPr lang="en-VN"/>
          </a:p>
        </p:txBody>
      </p:sp>
      <p:sp>
        <p:nvSpPr>
          <p:cNvPr id="35" name="Text 33"/>
          <p:cNvSpPr txBox="1"/>
          <p:nvPr/>
        </p:nvSpPr>
        <p:spPr>
          <a:xfrm>
            <a:off x="3392424" y="4480560"/>
            <a:ext cx="745236" cy="420624"/>
          </a:xfrm>
          <a:prstGeom prst="rect">
            <a:avLst/>
          </a:prstGeom>
          <a:noFill/>
          <a:ln/>
        </p:spPr>
        <p:txBody>
          <a:bodyPr wrap="square" lIns="0" tIns="0" rIns="0" bIns="0" rtlCol="0" anchor="ctr"/>
          <a:lstStyle/>
          <a:p>
            <a:pPr marL="0" indent="0" algn="ctr">
              <a:buNone/>
            </a:pPr>
            <a:r>
              <a:rPr lang="en-US" sz="1400" dirty="0">
                <a:solidFill>
                  <a:srgbClr val="1B2A30"/>
                </a:solidFill>
                <a:latin typeface="Calibri" pitchFamily="34" charset="0"/>
                <a:ea typeface="Calibri" pitchFamily="34" charset="-122"/>
                <a:cs typeface="Calibri" pitchFamily="34" charset="-120"/>
              </a:rPr>
              <a:t>Ridge</a:t>
            </a:r>
            <a:endParaRPr lang="en-US" sz="1400" dirty="0"/>
          </a:p>
        </p:txBody>
      </p:sp>
      <p:sp>
        <p:nvSpPr>
          <p:cNvPr id="36" name="Shape 34"/>
          <p:cNvSpPr/>
          <p:nvPr/>
        </p:nvSpPr>
        <p:spPr>
          <a:xfrm>
            <a:off x="4229100" y="4480560"/>
            <a:ext cx="745236" cy="420624"/>
          </a:xfrm>
          <a:prstGeom prst="roundRect">
            <a:avLst>
              <a:gd name="adj" fmla="val 50000"/>
            </a:avLst>
          </a:prstGeom>
          <a:solidFill>
            <a:srgbClr val="FFFFFF"/>
          </a:solidFill>
          <a:ln w="12700">
            <a:solidFill>
              <a:srgbClr val="FFFFFF"/>
            </a:solidFill>
            <a:prstDash val="solid"/>
          </a:ln>
        </p:spPr>
        <p:txBody>
          <a:bodyPr/>
          <a:lstStyle/>
          <a:p>
            <a:endParaRPr lang="en-VN"/>
          </a:p>
        </p:txBody>
      </p:sp>
      <p:sp>
        <p:nvSpPr>
          <p:cNvPr id="37" name="Text 35"/>
          <p:cNvSpPr txBox="1"/>
          <p:nvPr/>
        </p:nvSpPr>
        <p:spPr>
          <a:xfrm>
            <a:off x="4229100" y="4480560"/>
            <a:ext cx="745236" cy="420624"/>
          </a:xfrm>
          <a:prstGeom prst="rect">
            <a:avLst/>
          </a:prstGeom>
          <a:noFill/>
          <a:ln/>
        </p:spPr>
        <p:txBody>
          <a:bodyPr wrap="square" lIns="0" tIns="0" rIns="0" bIns="0" rtlCol="0" anchor="ctr"/>
          <a:lstStyle/>
          <a:p>
            <a:pPr marL="0" indent="0" algn="ctr">
              <a:buNone/>
            </a:pPr>
            <a:r>
              <a:rPr lang="en-US" sz="1400" dirty="0">
                <a:solidFill>
                  <a:srgbClr val="1B2A30"/>
                </a:solidFill>
                <a:latin typeface="Calibri" pitchFamily="34" charset="0"/>
                <a:ea typeface="Calibri" pitchFamily="34" charset="-122"/>
                <a:cs typeface="Calibri" pitchFamily="34" charset="-120"/>
              </a:rPr>
              <a:t>Lasso</a:t>
            </a:r>
            <a:endParaRPr lang="en-US" sz="1400" dirty="0"/>
          </a:p>
        </p:txBody>
      </p:sp>
      <p:sp>
        <p:nvSpPr>
          <p:cNvPr id="38" name="Shape 36"/>
          <p:cNvSpPr/>
          <p:nvPr/>
        </p:nvSpPr>
        <p:spPr>
          <a:xfrm>
            <a:off x="548640" y="5230368"/>
            <a:ext cx="6675120" cy="896112"/>
          </a:xfrm>
          <a:prstGeom prst="rect">
            <a:avLst/>
          </a:prstGeom>
          <a:solidFill>
            <a:srgbClr val="EAF2F3"/>
          </a:solidFill>
          <a:ln w="12700">
            <a:solidFill>
              <a:srgbClr val="EAF2F3"/>
            </a:solidFill>
            <a:prstDash val="solid"/>
          </a:ln>
        </p:spPr>
        <p:txBody>
          <a:bodyPr/>
          <a:lstStyle/>
          <a:p>
            <a:endParaRPr lang="en-VN"/>
          </a:p>
        </p:txBody>
      </p:sp>
      <p:sp>
        <p:nvSpPr>
          <p:cNvPr id="39" name="Text 37"/>
          <p:cNvSpPr txBox="1"/>
          <p:nvPr/>
        </p:nvSpPr>
        <p:spPr>
          <a:xfrm>
            <a:off x="777240" y="5358384"/>
            <a:ext cx="1645920" cy="365760"/>
          </a:xfrm>
          <a:prstGeom prst="rect">
            <a:avLst/>
          </a:prstGeom>
          <a:noFill/>
          <a:ln/>
        </p:spPr>
        <p:txBody>
          <a:bodyPr wrap="square" lIns="0" tIns="0" rIns="0" bIns="0" rtlCol="0" anchor="t"/>
          <a:lstStyle/>
          <a:p>
            <a:pPr marL="0" indent="0">
              <a:buNone/>
            </a:pPr>
            <a:r>
              <a:rPr lang="en-US" sz="1700" b="1" dirty="0">
                <a:solidFill>
                  <a:srgbClr val="13303A"/>
                </a:solidFill>
                <a:latin typeface="Calibri" pitchFamily="34" charset="0"/>
                <a:ea typeface="Calibri" pitchFamily="34" charset="-122"/>
                <a:cs typeface="Calibri" pitchFamily="34" charset="-120"/>
              </a:rPr>
              <a:t>Tầng 0</a:t>
            </a:r>
            <a:endParaRPr lang="en-US" sz="1700" dirty="0"/>
          </a:p>
        </p:txBody>
      </p:sp>
      <p:sp>
        <p:nvSpPr>
          <p:cNvPr id="40" name="Text 38"/>
          <p:cNvSpPr txBox="1"/>
          <p:nvPr/>
        </p:nvSpPr>
        <p:spPr>
          <a:xfrm>
            <a:off x="777240" y="5705856"/>
            <a:ext cx="1645920" cy="292608"/>
          </a:xfrm>
          <a:prstGeom prst="rect">
            <a:avLst/>
          </a:prstGeom>
          <a:noFill/>
          <a:ln/>
        </p:spPr>
        <p:txBody>
          <a:bodyPr wrap="square" lIns="0" tIns="0" rIns="0" bIns="0" rtlCol="0" anchor="t"/>
          <a:lstStyle/>
          <a:p>
            <a:pPr marL="0" indent="0">
              <a:buNone/>
            </a:pPr>
            <a:r>
              <a:rPr lang="en-US" sz="1300" dirty="0">
                <a:solidFill>
                  <a:srgbClr val="5B6D74"/>
                </a:solidFill>
                <a:latin typeface="Calibri" pitchFamily="34" charset="0"/>
                <a:ea typeface="Calibri" pitchFamily="34" charset="-122"/>
                <a:cs typeface="Calibri" pitchFamily="34" charset="-120"/>
              </a:rPr>
              <a:t>mốc</a:t>
            </a:r>
            <a:endParaRPr lang="en-US" sz="1300" dirty="0"/>
          </a:p>
        </p:txBody>
      </p:sp>
      <p:sp>
        <p:nvSpPr>
          <p:cNvPr id="41" name="Shape 39"/>
          <p:cNvSpPr/>
          <p:nvPr/>
        </p:nvSpPr>
        <p:spPr>
          <a:xfrm>
            <a:off x="2468880" y="5468112"/>
            <a:ext cx="745236" cy="420624"/>
          </a:xfrm>
          <a:prstGeom prst="roundRect">
            <a:avLst>
              <a:gd name="adj" fmla="val 50000"/>
            </a:avLst>
          </a:prstGeom>
          <a:solidFill>
            <a:srgbClr val="FFFFFF"/>
          </a:solidFill>
          <a:ln w="12700">
            <a:solidFill>
              <a:srgbClr val="FFFFFF"/>
            </a:solidFill>
            <a:prstDash val="solid"/>
          </a:ln>
        </p:spPr>
        <p:txBody>
          <a:bodyPr/>
          <a:lstStyle/>
          <a:p>
            <a:endParaRPr lang="en-VN"/>
          </a:p>
        </p:txBody>
      </p:sp>
      <p:sp>
        <p:nvSpPr>
          <p:cNvPr id="42" name="Text 40"/>
          <p:cNvSpPr txBox="1"/>
          <p:nvPr/>
        </p:nvSpPr>
        <p:spPr>
          <a:xfrm>
            <a:off x="2468880" y="5468112"/>
            <a:ext cx="745236" cy="420624"/>
          </a:xfrm>
          <a:prstGeom prst="rect">
            <a:avLst/>
          </a:prstGeom>
          <a:noFill/>
          <a:ln/>
        </p:spPr>
        <p:txBody>
          <a:bodyPr wrap="square" lIns="0" tIns="0" rIns="0" bIns="0" rtlCol="0" anchor="ctr"/>
          <a:lstStyle/>
          <a:p>
            <a:pPr marL="0" indent="0" algn="ctr">
              <a:buNone/>
            </a:pPr>
            <a:r>
              <a:rPr lang="en-US" sz="1400" dirty="0">
                <a:solidFill>
                  <a:srgbClr val="1B2A30"/>
                </a:solidFill>
                <a:latin typeface="Calibri" pitchFamily="34" charset="0"/>
                <a:ea typeface="Calibri" pitchFamily="34" charset="-122"/>
                <a:cs typeface="Calibri" pitchFamily="34" charset="-120"/>
              </a:rPr>
              <a:t>Dummy</a:t>
            </a:r>
            <a:endParaRPr lang="en-US" sz="1400" dirty="0"/>
          </a:p>
        </p:txBody>
      </p:sp>
      <p:sp>
        <p:nvSpPr>
          <p:cNvPr id="43" name="Shape 41"/>
          <p:cNvSpPr/>
          <p:nvPr/>
        </p:nvSpPr>
        <p:spPr>
          <a:xfrm>
            <a:off x="3305556" y="5468112"/>
            <a:ext cx="2482596" cy="420624"/>
          </a:xfrm>
          <a:prstGeom prst="roundRect">
            <a:avLst>
              <a:gd name="adj" fmla="val 50000"/>
            </a:avLst>
          </a:prstGeom>
          <a:solidFill>
            <a:srgbClr val="C8553A"/>
          </a:solidFill>
          <a:ln w="12700">
            <a:solidFill>
              <a:srgbClr val="C8553A"/>
            </a:solidFill>
            <a:prstDash val="solid"/>
          </a:ln>
        </p:spPr>
        <p:txBody>
          <a:bodyPr/>
          <a:lstStyle/>
          <a:p>
            <a:endParaRPr lang="en-VN"/>
          </a:p>
        </p:txBody>
      </p:sp>
      <p:sp>
        <p:nvSpPr>
          <p:cNvPr id="44" name="Text 42"/>
          <p:cNvSpPr txBox="1"/>
          <p:nvPr/>
        </p:nvSpPr>
        <p:spPr>
          <a:xfrm>
            <a:off x="3305556" y="5468112"/>
            <a:ext cx="2482596"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Trung vị giá/m² theo nhóm</a:t>
            </a:r>
            <a:endParaRPr lang="en-US" sz="1400" dirty="0"/>
          </a:p>
        </p:txBody>
      </p:sp>
      <p:sp>
        <p:nvSpPr>
          <p:cNvPr id="45" name="Shape 43"/>
          <p:cNvSpPr/>
          <p:nvPr/>
        </p:nvSpPr>
        <p:spPr>
          <a:xfrm>
            <a:off x="7635240" y="1783080"/>
            <a:ext cx="3977640" cy="4434840"/>
          </a:xfrm>
          <a:prstGeom prst="roundRect">
            <a:avLst>
              <a:gd name="adj" fmla="val 2299"/>
            </a:avLst>
          </a:prstGeom>
          <a:solidFill>
            <a:srgbClr val="FFFFFF"/>
          </a:solidFill>
          <a:ln w="12700">
            <a:solidFill>
              <a:srgbClr val="D3DFE2"/>
            </a:solidFill>
            <a:prstDash val="solid"/>
          </a:ln>
          <a:effectLst>
            <a:outerShdw blurRad="127000" dist="25400" dir="5400000" algn="bl" rotWithShape="0">
              <a:srgbClr val="000000">
                <a:alpha val="10000"/>
              </a:srgbClr>
            </a:outerShdw>
          </a:effectLst>
        </p:spPr>
        <p:txBody>
          <a:bodyPr/>
          <a:lstStyle/>
          <a:p>
            <a:endParaRPr lang="en-VN"/>
          </a:p>
        </p:txBody>
      </p:sp>
      <p:sp>
        <p:nvSpPr>
          <p:cNvPr id="46" name="Shape 44"/>
          <p:cNvSpPr/>
          <p:nvPr/>
        </p:nvSpPr>
        <p:spPr>
          <a:xfrm>
            <a:off x="7909560" y="2011680"/>
            <a:ext cx="658368" cy="658368"/>
          </a:xfrm>
          <a:prstGeom prst="ellipse">
            <a:avLst/>
          </a:prstGeom>
          <a:solidFill>
            <a:srgbClr val="FBEAE3"/>
          </a:solidFill>
          <a:ln w="12700">
            <a:solidFill>
              <a:srgbClr val="FBEAE3"/>
            </a:solidFill>
            <a:prstDash val="solid"/>
          </a:ln>
        </p:spPr>
        <p:txBody>
          <a:bodyPr/>
          <a:lstStyle/>
          <a:p>
            <a:endParaRPr lang="en-VN"/>
          </a:p>
        </p:txBody>
      </p:sp>
      <p:pic>
        <p:nvPicPr>
          <p:cNvPr id="47" name="Image 0" descr="preencoded.png"/>
          <p:cNvPicPr>
            <a:picLocks noChangeAspect="1"/>
          </p:cNvPicPr>
          <p:nvPr/>
        </p:nvPicPr>
        <p:blipFill>
          <a:blip r:embed="rId3"/>
          <a:stretch>
            <a:fillRect/>
          </a:stretch>
        </p:blipFill>
        <p:spPr>
          <a:xfrm>
            <a:off x="8074152" y="2176272"/>
            <a:ext cx="329184" cy="329184"/>
          </a:xfrm>
          <a:prstGeom prst="rect">
            <a:avLst/>
          </a:prstGeom>
        </p:spPr>
      </p:pic>
      <p:sp>
        <p:nvSpPr>
          <p:cNvPr id="48" name="Text 45"/>
          <p:cNvSpPr txBox="1"/>
          <p:nvPr/>
        </p:nvSpPr>
        <p:spPr>
          <a:xfrm>
            <a:off x="7909560" y="2788920"/>
            <a:ext cx="3474720" cy="411480"/>
          </a:xfrm>
          <a:prstGeom prst="rect">
            <a:avLst/>
          </a:prstGeom>
          <a:noFill/>
          <a:ln/>
        </p:spPr>
        <p:txBody>
          <a:bodyPr wrap="square" lIns="0" tIns="0" rIns="0" bIns="0" rtlCol="0" anchor="t"/>
          <a:lstStyle/>
          <a:p>
            <a:pPr marL="0" indent="0">
              <a:buNone/>
            </a:pPr>
            <a:r>
              <a:rPr lang="en-US" sz="2000" b="1" dirty="0">
                <a:solidFill>
                  <a:srgbClr val="13303A"/>
                </a:solidFill>
                <a:latin typeface="Calibri" pitchFamily="34" charset="0"/>
                <a:ea typeface="Calibri" pitchFamily="34" charset="-122"/>
                <a:cs typeface="Calibri" pitchFamily="34" charset="-120"/>
              </a:rPr>
              <a:t>Baseline môi giới</a:t>
            </a:r>
            <a:endParaRPr lang="en-US" sz="2000" dirty="0"/>
          </a:p>
        </p:txBody>
      </p:sp>
      <p:sp>
        <p:nvSpPr>
          <p:cNvPr id="49" name="Text 46"/>
          <p:cNvSpPr txBox="1"/>
          <p:nvPr/>
        </p:nvSpPr>
        <p:spPr>
          <a:xfrm>
            <a:off x="7909560" y="3246120"/>
            <a:ext cx="3474720" cy="114300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Trung vị giá/m² theo (quận, phường, loại nhà) nhân diện tích: cách một người môi giới định giá trong đầu.</a:t>
            </a:r>
            <a:endParaRPr lang="en-US" sz="1500" dirty="0"/>
          </a:p>
        </p:txBody>
      </p:sp>
      <p:sp>
        <p:nvSpPr>
          <p:cNvPr id="50" name="Shape 47"/>
          <p:cNvSpPr/>
          <p:nvPr/>
        </p:nvSpPr>
        <p:spPr>
          <a:xfrm>
            <a:off x="7909560" y="4480560"/>
            <a:ext cx="3429000" cy="731520"/>
          </a:xfrm>
          <a:prstGeom prst="roundRect">
            <a:avLst>
              <a:gd name="adj" fmla="val 12500"/>
            </a:avLst>
          </a:prstGeom>
          <a:solidFill>
            <a:srgbClr val="EAF2F3"/>
          </a:solidFill>
          <a:ln w="12700">
            <a:solidFill>
              <a:srgbClr val="EAF2F3"/>
            </a:solidFill>
            <a:prstDash val="solid"/>
          </a:ln>
        </p:spPr>
        <p:txBody>
          <a:bodyPr/>
          <a:lstStyle/>
          <a:p>
            <a:endParaRPr lang="en-VN"/>
          </a:p>
        </p:txBody>
      </p:sp>
      <p:sp>
        <p:nvSpPr>
          <p:cNvPr id="51" name="Text 48"/>
          <p:cNvSpPr txBox="1"/>
          <p:nvPr/>
        </p:nvSpPr>
        <p:spPr>
          <a:xfrm>
            <a:off x="8046720" y="4480560"/>
            <a:ext cx="3200400" cy="731520"/>
          </a:xfrm>
          <a:prstGeom prst="rect">
            <a:avLst/>
          </a:prstGeom>
          <a:noFill/>
          <a:ln/>
        </p:spPr>
        <p:txBody>
          <a:bodyPr wrap="square" lIns="0" tIns="0" rIns="0" bIns="0" rtlCol="0" anchor="ctr"/>
          <a:lstStyle/>
          <a:p>
            <a:pPr marL="0" indent="0">
              <a:buNone/>
            </a:pPr>
            <a:r>
              <a:rPr lang="en-US" sz="1400" b="1" dirty="0">
                <a:solidFill>
                  <a:srgbClr val="1B2A30"/>
                </a:solidFill>
                <a:latin typeface="Calibri" pitchFamily="34" charset="0"/>
                <a:ea typeface="Calibri" pitchFamily="34" charset="-122"/>
                <a:cs typeface="Calibri" pitchFamily="34" charset="-120"/>
              </a:rPr>
              <a:t>Thắng Dummy: </a:t>
            </a:r>
            <a:r>
              <a:rPr lang="en-US" sz="1400" dirty="0">
                <a:solidFill>
                  <a:srgbClr val="1B2A30"/>
                </a:solidFill>
                <a:latin typeface="Calibri" pitchFamily="34" charset="0"/>
                <a:ea typeface="Calibri" pitchFamily="34" charset="-122"/>
                <a:cs typeface="Calibri" pitchFamily="34" charset="-120"/>
              </a:rPr>
              <a:t>chỉ chứng minh dữ liệu có tín hiệu.</a:t>
            </a:r>
            <a:endParaRPr lang="en-US" sz="1400" dirty="0"/>
          </a:p>
        </p:txBody>
      </p:sp>
      <p:sp>
        <p:nvSpPr>
          <p:cNvPr id="52" name="Shape 49"/>
          <p:cNvSpPr/>
          <p:nvPr/>
        </p:nvSpPr>
        <p:spPr>
          <a:xfrm>
            <a:off x="7909560" y="5321808"/>
            <a:ext cx="3429000" cy="731520"/>
          </a:xfrm>
          <a:prstGeom prst="roundRect">
            <a:avLst>
              <a:gd name="adj" fmla="val 12500"/>
            </a:avLst>
          </a:prstGeom>
          <a:solidFill>
            <a:srgbClr val="FBEAE3"/>
          </a:solidFill>
          <a:ln w="12700">
            <a:solidFill>
              <a:srgbClr val="FBEAE3"/>
            </a:solidFill>
            <a:prstDash val="solid"/>
          </a:ln>
        </p:spPr>
        <p:txBody>
          <a:bodyPr/>
          <a:lstStyle/>
          <a:p>
            <a:endParaRPr lang="en-VN"/>
          </a:p>
        </p:txBody>
      </p:sp>
      <p:sp>
        <p:nvSpPr>
          <p:cNvPr id="53" name="Text 50"/>
          <p:cNvSpPr txBox="1"/>
          <p:nvPr/>
        </p:nvSpPr>
        <p:spPr>
          <a:xfrm>
            <a:off x="8046720" y="5321808"/>
            <a:ext cx="3200400" cy="731520"/>
          </a:xfrm>
          <a:prstGeom prst="rect">
            <a:avLst/>
          </a:prstGeom>
          <a:noFill/>
          <a:ln/>
        </p:spPr>
        <p:txBody>
          <a:bodyPr wrap="square" lIns="0" tIns="0" rIns="0" bIns="0" rtlCol="0" anchor="ctr"/>
          <a:lstStyle/>
          <a:p>
            <a:pPr marL="0" indent="0">
              <a:buNone/>
            </a:pPr>
            <a:r>
              <a:rPr lang="en-US" sz="1400" b="1" dirty="0">
                <a:solidFill>
                  <a:srgbClr val="C8553A"/>
                </a:solidFill>
                <a:latin typeface="Calibri" pitchFamily="34" charset="0"/>
                <a:ea typeface="Calibri" pitchFamily="34" charset="-122"/>
                <a:cs typeface="Calibri" pitchFamily="34" charset="-120"/>
              </a:rPr>
              <a:t>Thắng baseline môi giới: </a:t>
            </a:r>
            <a:r>
              <a:rPr lang="en-US" sz="1400" dirty="0">
                <a:solidFill>
                  <a:srgbClr val="1B2A30"/>
                </a:solidFill>
                <a:latin typeface="Calibri" pitchFamily="34" charset="0"/>
                <a:ea typeface="Calibri" pitchFamily="34" charset="-122"/>
                <a:cs typeface="Calibri" pitchFamily="34" charset="-120"/>
              </a:rPr>
              <a:t>mới là phần học máy đóng góp.</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KẾT QUẢ · E1</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Kết quả chính (E1)</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Text 6"/>
          <p:cNvSpPr txBox="1"/>
          <p:nvPr/>
        </p:nvSpPr>
        <p:spPr>
          <a:xfrm>
            <a:off x="548640" y="1572768"/>
            <a:ext cx="10972800" cy="320040"/>
          </a:xfrm>
          <a:prstGeom prst="rect">
            <a:avLst/>
          </a:prstGeom>
          <a:noFill/>
          <a:ln/>
        </p:spPr>
        <p:txBody>
          <a:bodyPr wrap="square" lIns="0" tIns="0" rIns="0" bIns="0" rtlCol="0" anchor="t"/>
          <a:lstStyle/>
          <a:p>
            <a:pPr marL="0" indent="0">
              <a:buNone/>
            </a:pPr>
            <a:r>
              <a:rPr lang="en-US" sz="1400" dirty="0">
                <a:solidFill>
                  <a:srgbClr val="5B6D74"/>
                </a:solidFill>
                <a:latin typeface="Calibri" pitchFamily="34" charset="0"/>
                <a:ea typeface="Calibri" pitchFamily="34" charset="-122"/>
                <a:cs typeface="Calibri" pitchFamily="34" charset="-120"/>
              </a:rPr>
              <a:t>2.326 tin Chợ Tốt · 5-fold · mỗi ô là trung bình qua 5 fold, MdAPE kèm độ lệch chuẩn</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94944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48056">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Mô hình</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MdAPE (%)</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RMSE (tỷ)</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tc>
                  <a:txBody>
                    <a:bodyPr/>
                    <a:lstStyle/>
                    <a:p>
                      <a:pPr marL="0" indent="0" algn="r">
                        <a:buNone/>
                      </a:pPr>
                      <a:r>
                        <a:rPr lang="en-US" sz="1500" b="1" dirty="0">
                          <a:solidFill>
                            <a:srgbClr val="FFFFFF"/>
                          </a:solidFill>
                          <a:latin typeface="Calibri" pitchFamily="34" charset="0"/>
                          <a:ea typeface="Calibri" pitchFamily="34" charset="-122"/>
                          <a:cs typeface="Calibri" pitchFamily="34" charset="-120"/>
                        </a:rPr>
                        <a:t>R²</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extLst>
                  <a:ext uri="{0D108BD9-81ED-4DB2-BD59-A6C34878D82A}">
                    <a16:rowId xmlns:a16="http://schemas.microsoft.com/office/drawing/2014/main" val="10000"/>
                  </a:ext>
                </a:extLst>
              </a:tr>
              <a:tr h="448056">
                <a:tc>
                  <a:txBody>
                    <a:bodyPr/>
                    <a:lstStyle/>
                    <a:p>
                      <a:pPr marL="0" indent="0" algn="l">
                        <a:buNone/>
                      </a:pPr>
                      <a:r>
                        <a:rPr lang="en-US" sz="1500" dirty="0">
                          <a:solidFill>
                            <a:srgbClr val="1B2A30"/>
                          </a:solidFill>
                          <a:latin typeface="Calibri" pitchFamily="34" charset="0"/>
                          <a:ea typeface="Calibri" pitchFamily="34" charset="-122"/>
                          <a:cs typeface="Calibri" pitchFamily="34" charset="-120"/>
                        </a:rPr>
                        <a:t>Dummy (trung vị)</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34,6 ± 2,1</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7,250</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-0,053</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8056">
                <a:tc>
                  <a:txBody>
                    <a:bodyPr/>
                    <a:lstStyle/>
                    <a:p>
                      <a:pPr marL="0" indent="0" algn="l">
                        <a:buNone/>
                      </a:pPr>
                      <a:r>
                        <a:rPr lang="en-US" sz="1500" dirty="0">
                          <a:solidFill>
                            <a:srgbClr val="1B2A30"/>
                          </a:solidFill>
                          <a:latin typeface="Calibri" pitchFamily="34" charset="0"/>
                          <a:ea typeface="Calibri" pitchFamily="34" charset="-122"/>
                          <a:cs typeface="Calibri" pitchFamily="34" charset="-120"/>
                        </a:rPr>
                        <a:t>Trung vị giá/m² theo nhóm</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20,5 ± 1,4</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3,802</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0,706</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8056">
                <a:tc>
                  <a:txBody>
                    <a:bodyPr/>
                    <a:lstStyle/>
                    <a:p>
                      <a:pPr marL="0" indent="0" algn="l">
                        <a:buNone/>
                      </a:pPr>
                      <a:r>
                        <a:rPr lang="en-US" sz="1500" dirty="0">
                          <a:solidFill>
                            <a:srgbClr val="1B2A30"/>
                          </a:solidFill>
                          <a:latin typeface="Calibri" pitchFamily="34" charset="0"/>
                          <a:ea typeface="Calibri" pitchFamily="34" charset="-122"/>
                          <a:cs typeface="Calibri" pitchFamily="34" charset="-120"/>
                        </a:rPr>
                        <a:t>Ridge</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19,7 ± 0,7</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7,002</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-0,160</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8056">
                <a:tc>
                  <a:txBody>
                    <a:bodyPr/>
                    <a:lstStyle/>
                    <a:p>
                      <a:pPr marL="0" indent="0" algn="l">
                        <a:buNone/>
                      </a:pPr>
                      <a:r>
                        <a:rPr lang="en-US" sz="1500" dirty="0">
                          <a:solidFill>
                            <a:srgbClr val="1B2A30"/>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15,1 ± 0,9</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4,626</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r">
                        <a:buNone/>
                      </a:pPr>
                      <a:r>
                        <a:rPr lang="en-US" sz="1500" dirty="0">
                          <a:solidFill>
                            <a:srgbClr val="1B2A30"/>
                          </a:solidFill>
                          <a:latin typeface="Calibri" pitchFamily="34" charset="0"/>
                          <a:ea typeface="Calibri" pitchFamily="34" charset="-122"/>
                          <a:cs typeface="Calibri" pitchFamily="34" charset="-120"/>
                        </a:rPr>
                        <a:t>0,579</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8056">
                <a:tc>
                  <a:txBody>
                    <a:bodyPr/>
                    <a:lstStyle/>
                    <a:p>
                      <a:pPr marL="0" indent="0" algn="l">
                        <a:buNone/>
                      </a:pPr>
                      <a:r>
                        <a:rPr lang="en-US" sz="1500" b="1" dirty="0">
                          <a:solidFill>
                            <a:srgbClr val="13303A"/>
                          </a:solidFill>
                          <a:latin typeface="Calibri" pitchFamily="34" charset="0"/>
                          <a:ea typeface="Calibri" pitchFamily="34" charset="-122"/>
                          <a:cs typeface="Calibri" pitchFamily="34" charset="-120"/>
                        </a:rPr>
                        <a:t>CatBoost</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14,2 ± 1,2</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3,857</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0,708</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extLst>
                  <a:ext uri="{0D108BD9-81ED-4DB2-BD59-A6C34878D82A}">
                    <a16:rowId xmlns:a16="http://schemas.microsoft.com/office/drawing/2014/main" val="10005"/>
                  </a:ext>
                </a:extLst>
              </a:tr>
              <a:tr h="448056">
                <a:tc>
                  <a:txBody>
                    <a:bodyPr/>
                    <a:lstStyle/>
                    <a:p>
                      <a:pPr marL="0" indent="0" algn="l">
                        <a:buNone/>
                      </a:pPr>
                      <a:r>
                        <a:rPr lang="en-US" sz="1500" b="1" dirty="0">
                          <a:solidFill>
                            <a:srgbClr val="13303A"/>
                          </a:solidFill>
                          <a:latin typeface="Calibri" pitchFamily="34" charset="0"/>
                          <a:ea typeface="Calibri" pitchFamily="34" charset="-122"/>
                          <a:cs typeface="Calibri" pitchFamily="34" charset="-120"/>
                        </a:rPr>
                        <a:t>LightGBM</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13,9 ± 1,2</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3,925</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0,698</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extLst>
                  <a:ext uri="{0D108BD9-81ED-4DB2-BD59-A6C34878D82A}">
                    <a16:rowId xmlns:a16="http://schemas.microsoft.com/office/drawing/2014/main" val="10006"/>
                  </a:ext>
                </a:extLst>
              </a:tr>
              <a:tr h="448056">
                <a:tc>
                  <a:txBody>
                    <a:bodyPr/>
                    <a:lstStyle/>
                    <a:p>
                      <a:pPr marL="0" indent="0" algn="l">
                        <a:buNone/>
                      </a:pPr>
                      <a:r>
                        <a:rPr lang="en-US" sz="1500" b="1" dirty="0">
                          <a:solidFill>
                            <a:srgbClr val="13303A"/>
                          </a:solidFill>
                          <a:latin typeface="Calibri" pitchFamily="34" charset="0"/>
                          <a:ea typeface="Calibri" pitchFamily="34" charset="-122"/>
                          <a:cs typeface="Calibri" pitchFamily="34" charset="-120"/>
                        </a:rPr>
                        <a:t>XGBoost</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14,0 ± 1,1</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3,793</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tc>
                  <a:txBody>
                    <a:bodyPr/>
                    <a:lstStyle/>
                    <a:p>
                      <a:pPr marL="0" indent="0" algn="r">
                        <a:buNone/>
                      </a:pPr>
                      <a:r>
                        <a:rPr lang="en-US" sz="1500" b="1" dirty="0">
                          <a:solidFill>
                            <a:srgbClr val="13303A"/>
                          </a:solidFill>
                          <a:latin typeface="Calibri" pitchFamily="34" charset="0"/>
                          <a:ea typeface="Calibri" pitchFamily="34" charset="-122"/>
                          <a:cs typeface="Calibri" pitchFamily="34" charset="-120"/>
                        </a:rPr>
                        <a:t>0,716</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BEAE3"/>
                    </a:solidFill>
                  </a:tcPr>
                </a:tc>
                <a:extLst>
                  <a:ext uri="{0D108BD9-81ED-4DB2-BD59-A6C34878D82A}">
                    <a16:rowId xmlns:a16="http://schemas.microsoft.com/office/drawing/2014/main" val="10007"/>
                  </a:ext>
                </a:extLst>
              </a:tr>
            </a:tbl>
          </a:graphicData>
        </a:graphic>
      </p:graphicFrame>
      <p:sp>
        <p:nvSpPr>
          <p:cNvPr id="10" name="Text 7"/>
          <p:cNvSpPr txBox="1"/>
          <p:nvPr/>
        </p:nvSpPr>
        <p:spPr>
          <a:xfrm>
            <a:off x="548640" y="5760720"/>
            <a:ext cx="6949440" cy="502920"/>
          </a:xfrm>
          <a:prstGeom prst="rect">
            <a:avLst/>
          </a:prstGeom>
          <a:noFill/>
          <a:ln/>
        </p:spPr>
        <p:txBody>
          <a:bodyPr wrap="square" lIns="0" tIns="0" rIns="0" bIns="0" rtlCol="0" anchor="t"/>
          <a:lstStyle/>
          <a:p>
            <a:pPr marL="0" indent="0">
              <a:buNone/>
            </a:pPr>
            <a:r>
              <a:rPr lang="en-US" sz="1300" dirty="0">
                <a:solidFill>
                  <a:srgbClr val="5B6D74"/>
                </a:solidFill>
                <a:latin typeface="Calibri" pitchFamily="34" charset="0"/>
                <a:ea typeface="Calibri" pitchFamily="34" charset="-122"/>
                <a:cs typeface="Calibri" pitchFamily="34" charset="-120"/>
              </a:rPr>
              <a:t>Ba dòng tô màu cách nhau chưa tới một độ lệch chuẩn giữa các fold, nên bảng không chọn ra một mô hình thắng.</a:t>
            </a:r>
            <a:endParaRPr lang="en-US" sz="1300" dirty="0"/>
          </a:p>
        </p:txBody>
      </p:sp>
      <p:sp>
        <p:nvSpPr>
          <p:cNvPr id="11" name="Shape 8"/>
          <p:cNvSpPr/>
          <p:nvPr/>
        </p:nvSpPr>
        <p:spPr>
          <a:xfrm>
            <a:off x="7863840" y="2011680"/>
            <a:ext cx="3749040" cy="1965960"/>
          </a:xfrm>
          <a:prstGeom prst="roundRect">
            <a:avLst>
              <a:gd name="adj" fmla="val 4651"/>
            </a:avLst>
          </a:prstGeom>
          <a:solidFill>
            <a:srgbClr val="13303A"/>
          </a:solidFill>
          <a:ln w="12700">
            <a:solidFill>
              <a:srgbClr val="13303A"/>
            </a:solidFill>
            <a:prstDash val="solid"/>
          </a:ln>
        </p:spPr>
        <p:txBody>
          <a:bodyPr/>
          <a:lstStyle/>
          <a:p>
            <a:endParaRPr lang="en-VN"/>
          </a:p>
        </p:txBody>
      </p:sp>
      <p:sp>
        <p:nvSpPr>
          <p:cNvPr id="9" name="Text 9"/>
          <p:cNvSpPr txBox="1"/>
          <p:nvPr/>
        </p:nvSpPr>
        <p:spPr>
          <a:xfrm>
            <a:off x="8138160" y="2176272"/>
            <a:ext cx="3291840" cy="73152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6,32–6,66</a:t>
            </a:r>
            <a:endParaRPr lang="en-US" sz="4200" dirty="0"/>
          </a:p>
        </p:txBody>
      </p:sp>
      <p:sp>
        <p:nvSpPr>
          <p:cNvPr id="13" name="Text 10"/>
          <p:cNvSpPr txBox="1"/>
          <p:nvPr/>
        </p:nvSpPr>
        <p:spPr>
          <a:xfrm>
            <a:off x="8138160" y="2971800"/>
            <a:ext cx="3246120" cy="822960"/>
          </a:xfrm>
          <a:prstGeom prst="rect">
            <a:avLst/>
          </a:prstGeom>
          <a:noFill/>
          <a:ln/>
        </p:spPr>
        <p:txBody>
          <a:bodyPr wrap="square" lIns="0" tIns="0" rIns="0" bIns="0" rtlCol="0" anchor="t"/>
          <a:lstStyle/>
          <a:p>
            <a:pPr marL="0" indent="0">
              <a:buNone/>
            </a:pPr>
            <a:r>
              <a:rPr lang="en-US" sz="1500" dirty="0">
                <a:solidFill>
                  <a:srgbClr val="B4CAD0"/>
                </a:solidFill>
                <a:latin typeface="Calibri" pitchFamily="34" charset="0"/>
                <a:ea typeface="Calibri" pitchFamily="34" charset="-122"/>
                <a:cs typeface="Calibri" pitchFamily="34" charset="-120"/>
              </a:rPr>
              <a:t>điểm phần trăm MdAPE mà nhóm dẫn đầu thấp hơn baseline môi giới</a:t>
            </a:r>
            <a:endParaRPr lang="en-US" sz="1500" dirty="0"/>
          </a:p>
        </p:txBody>
      </p:sp>
      <p:sp>
        <p:nvSpPr>
          <p:cNvPr id="14" name="Shape 11"/>
          <p:cNvSpPr/>
          <p:nvPr/>
        </p:nvSpPr>
        <p:spPr>
          <a:xfrm>
            <a:off x="7863840" y="4160520"/>
            <a:ext cx="3749040" cy="2011680"/>
          </a:xfrm>
          <a:prstGeom prst="roundRect">
            <a:avLst>
              <a:gd name="adj" fmla="val 4545"/>
            </a:avLst>
          </a:prstGeom>
          <a:solidFill>
            <a:srgbClr val="EAF2F3"/>
          </a:solidFill>
          <a:ln w="12700">
            <a:solidFill>
              <a:srgbClr val="EAF2F3"/>
            </a:solidFill>
            <a:prstDash val="solid"/>
          </a:ln>
        </p:spPr>
        <p:txBody>
          <a:bodyPr/>
          <a:lstStyle/>
          <a:p>
            <a:endParaRPr lang="en-VN"/>
          </a:p>
        </p:txBody>
      </p:sp>
      <p:pic>
        <p:nvPicPr>
          <p:cNvPr id="15" name="Image 0" descr="preencoded.png"/>
          <p:cNvPicPr>
            <a:picLocks noChangeAspect="1"/>
          </p:cNvPicPr>
          <p:nvPr/>
        </p:nvPicPr>
        <p:blipFill>
          <a:blip r:embed="rId3"/>
          <a:stretch>
            <a:fillRect/>
          </a:stretch>
        </p:blipFill>
        <p:spPr>
          <a:xfrm>
            <a:off x="8138160" y="4370832"/>
            <a:ext cx="329184" cy="329184"/>
          </a:xfrm>
          <a:prstGeom prst="rect">
            <a:avLst/>
          </a:prstGeom>
        </p:spPr>
      </p:pic>
      <p:sp>
        <p:nvSpPr>
          <p:cNvPr id="16" name="Text 12"/>
          <p:cNvSpPr txBox="1"/>
          <p:nvPr/>
        </p:nvSpPr>
        <p:spPr>
          <a:xfrm>
            <a:off x="8577072" y="4334256"/>
            <a:ext cx="2834640" cy="402336"/>
          </a:xfrm>
          <a:prstGeom prst="rect">
            <a:avLst/>
          </a:prstGeom>
          <a:noFill/>
          <a:ln/>
        </p:spPr>
        <p:txBody>
          <a:bodyPr wrap="square" lIns="0" tIns="0" rIns="0" bIns="0" rtlCol="0" anchor="ctr"/>
          <a:lstStyle/>
          <a:p>
            <a:pPr marL="0" indent="0">
              <a:buNone/>
            </a:pPr>
            <a:r>
              <a:rPr lang="en-US" sz="1700" b="1" dirty="0">
                <a:solidFill>
                  <a:srgbClr val="13303A"/>
                </a:solidFill>
                <a:latin typeface="Calibri" pitchFamily="34" charset="0"/>
                <a:ea typeface="Calibri" pitchFamily="34" charset="-122"/>
                <a:cs typeface="Calibri" pitchFamily="34" charset="-120"/>
              </a:rPr>
              <a:t>So sánh công bằng</a:t>
            </a:r>
            <a:endParaRPr lang="en-US" sz="1700" dirty="0"/>
          </a:p>
        </p:txBody>
      </p:sp>
      <p:sp>
        <p:nvSpPr>
          <p:cNvPr id="17" name="Text 13"/>
          <p:cNvSpPr txBox="1"/>
          <p:nvPr/>
        </p:nvSpPr>
        <p:spPr>
          <a:xfrm>
            <a:off x="8138160" y="4846320"/>
            <a:ext cx="3291840" cy="1188720"/>
          </a:xfrm>
          <a:prstGeom prst="rect">
            <a:avLst/>
          </a:prstGeom>
          <a:noFill/>
          <a:ln/>
        </p:spPr>
        <p:txBody>
          <a:bodyPr wrap="square" lIns="0" tIns="0" rIns="0" bIns="0" rtlCol="0" anchor="t"/>
          <a:lstStyle/>
          <a:p>
            <a:pPr marL="0" indent="0">
              <a:buNone/>
            </a:pPr>
            <a:r>
              <a:rPr lang="en-US" sz="1400" dirty="0">
                <a:solidFill>
                  <a:srgbClr val="1B2A30"/>
                </a:solidFill>
                <a:latin typeface="Calibri" pitchFamily="34" charset="0"/>
                <a:ea typeface="Calibri" pitchFamily="34" charset="-122"/>
                <a:cs typeface="Calibri" pitchFamily="34" charset="-120"/>
              </a:rPr>
              <a:t>Cùng bộ fold, cùng ngân sách tinh chỉnh, cùng seed. Không tuyên bố hơn kém khi hai khoảng trung bình ± độ lệch chuẩn chồng lấn.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KẾT QUẢ · CÁCH ĐỌC</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Vì sao phải báo cả ba chỉ số</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Text 6"/>
          <p:cNvSpPr txBox="1"/>
          <p:nvPr/>
        </p:nvSpPr>
        <p:spPr>
          <a:xfrm>
            <a:off x="548640" y="1645920"/>
            <a:ext cx="10972800" cy="502920"/>
          </a:xfrm>
          <a:prstGeom prst="rect">
            <a:avLst/>
          </a:prstGeom>
          <a:noFill/>
          <a:ln/>
        </p:spPr>
        <p:txBody>
          <a:bodyPr wrap="square" lIns="0" tIns="0" rIns="0" bIns="0" rtlCol="0" anchor="ctr"/>
          <a:lstStyle/>
          <a:p>
            <a:pPr marL="0" indent="0">
              <a:buNone/>
            </a:pPr>
            <a:r>
              <a:rPr lang="en-US" sz="2200" dirty="0">
                <a:solidFill>
                  <a:srgbClr val="1B2A30"/>
                </a:solidFill>
                <a:latin typeface="Calibri" pitchFamily="34" charset="0"/>
                <a:ea typeface="Calibri" pitchFamily="34" charset="-122"/>
                <a:cs typeface="Calibri" pitchFamily="34" charset="-120"/>
              </a:rPr>
              <a:t>Nhóm tuyến tính: </a:t>
            </a:r>
            <a:r>
              <a:rPr lang="en-US" sz="2200" b="1" dirty="0">
                <a:solidFill>
                  <a:srgbClr val="1B2A30"/>
                </a:solidFill>
                <a:latin typeface="Calibri" pitchFamily="34" charset="0"/>
                <a:ea typeface="Calibri" pitchFamily="34" charset="-122"/>
                <a:cs typeface="Calibri" pitchFamily="34" charset="-120"/>
              </a:rPr>
              <a:t>MdAPE khá</a:t>
            </a:r>
            <a:r>
              <a:rPr lang="en-US" sz="2200" dirty="0">
                <a:solidFill>
                  <a:srgbClr val="1B2A30"/>
                </a:solidFill>
                <a:latin typeface="Calibri" pitchFamily="34" charset="0"/>
                <a:ea typeface="Calibri" pitchFamily="34" charset="-122"/>
                <a:cs typeface="Calibri" pitchFamily="34" charset="-120"/>
              </a:rPr>
              <a:t>, nhưng </a:t>
            </a:r>
            <a:r>
              <a:rPr lang="en-US" sz="2200" b="1" dirty="0">
                <a:solidFill>
                  <a:srgbClr val="C8553A"/>
                </a:solidFill>
                <a:latin typeface="Calibri" pitchFamily="34" charset="0"/>
                <a:ea typeface="Calibri" pitchFamily="34" charset="-122"/>
                <a:cs typeface="Calibri" pitchFamily="34" charset="-120"/>
              </a:rPr>
              <a:t>R² âm</a:t>
            </a:r>
            <a:r>
              <a:rPr lang="en-US" sz="2200" dirty="0">
                <a:solidFill>
                  <a:srgbClr val="1B2A30"/>
                </a:solidFill>
                <a:latin typeface="Calibri" pitchFamily="34" charset="0"/>
                <a:ea typeface="Calibri" pitchFamily="34" charset="-122"/>
                <a:cs typeface="Calibri" pitchFamily="34" charset="-120"/>
              </a:rPr>
              <a:t>.</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5669280" cy="914400"/>
        </p:xfrm>
        <a:graphic>
          <a:graphicData uri="http://schemas.openxmlformats.org/drawingml/2006/table">
            <a:tbl>
              <a:tblPr/>
              <a:tblGrid>
                <a:gridCol w="14173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566928">
                <a:tc>
                  <a:txBody>
                    <a:bodyPr/>
                    <a:lstStyle/>
                    <a:p>
                      <a:pPr marL="0" indent="0" algn="ctr">
                        <a:buNone/>
                      </a:pP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Hồi quy tuyến tính</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Ridge</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LightGBM</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13303A"/>
                    </a:solidFill>
                  </a:tcPr>
                </a:tc>
                <a:extLst>
                  <a:ext uri="{0D108BD9-81ED-4DB2-BD59-A6C34878D82A}">
                    <a16:rowId xmlns:a16="http://schemas.microsoft.com/office/drawing/2014/main" val="10000"/>
                  </a:ext>
                </a:extLst>
              </a:tr>
              <a:tr h="457200">
                <a:tc>
                  <a:txBody>
                    <a:bodyPr/>
                    <a:lstStyle/>
                    <a:p>
                      <a:pPr marL="0" indent="0">
                        <a:buNone/>
                      </a:pPr>
                      <a:r>
                        <a:rPr lang="en-US" sz="1500" b="1" dirty="0">
                          <a:solidFill>
                            <a:srgbClr val="13303A"/>
                          </a:solidFill>
                          <a:latin typeface="Calibri" pitchFamily="34" charset="0"/>
                          <a:ea typeface="Calibri" pitchFamily="34" charset="-122"/>
                          <a:cs typeface="Calibri" pitchFamily="34" charset="-120"/>
                        </a:rPr>
                        <a:t>MdAPE (%)</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AF2F3"/>
                    </a:solidFill>
                  </a:tcPr>
                </a:tc>
                <a:tc>
                  <a:txBody>
                    <a:bodyPr/>
                    <a:lstStyle/>
                    <a:p>
                      <a:pPr marL="0" indent="0" algn="ctr">
                        <a:buNone/>
                      </a:pPr>
                      <a:r>
                        <a:rPr lang="en-US" sz="1500" dirty="0">
                          <a:solidFill>
                            <a:srgbClr val="1B2A30"/>
                          </a:solidFill>
                          <a:latin typeface="Calibri" pitchFamily="34" charset="0"/>
                          <a:ea typeface="Calibri" pitchFamily="34" charset="-122"/>
                          <a:cs typeface="Calibri" pitchFamily="34" charset="-120"/>
                        </a:rPr>
                        <a:t>18,8</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30"/>
                          </a:solidFill>
                          <a:latin typeface="Calibri" pitchFamily="34" charset="0"/>
                          <a:ea typeface="Calibri" pitchFamily="34" charset="-122"/>
                          <a:cs typeface="Calibri" pitchFamily="34" charset="-120"/>
                        </a:rPr>
                        <a:t>19,7</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30"/>
                          </a:solidFill>
                          <a:latin typeface="Calibri" pitchFamily="34" charset="0"/>
                          <a:ea typeface="Calibri" pitchFamily="34" charset="-122"/>
                          <a:cs typeface="Calibri" pitchFamily="34" charset="-120"/>
                        </a:rPr>
                        <a:t>13,9</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500" b="1" dirty="0">
                          <a:solidFill>
                            <a:srgbClr val="13303A"/>
                          </a:solidFill>
                          <a:latin typeface="Calibri" pitchFamily="34" charset="0"/>
                          <a:ea typeface="Calibri" pitchFamily="34" charset="-122"/>
                          <a:cs typeface="Calibri" pitchFamily="34" charset="-120"/>
                        </a:rPr>
                        <a:t>RMSE (tỷ)</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AF2F3"/>
                    </a:solidFill>
                  </a:tcPr>
                </a:tc>
                <a:tc>
                  <a:txBody>
                    <a:bodyPr/>
                    <a:lstStyle/>
                    <a:p>
                      <a:pPr marL="0" indent="0" algn="ctr">
                        <a:buNone/>
                      </a:pPr>
                      <a:r>
                        <a:rPr lang="en-US" sz="1500" b="1" dirty="0">
                          <a:solidFill>
                            <a:srgbClr val="C8553A"/>
                          </a:solidFill>
                          <a:latin typeface="Calibri" pitchFamily="34" charset="0"/>
                          <a:ea typeface="Calibri" pitchFamily="34" charset="-122"/>
                          <a:cs typeface="Calibri" pitchFamily="34" charset="-120"/>
                        </a:rPr>
                        <a:t>10,970</a:t>
                      </a:r>
                      <a:endParaRPr lang="en-US" sz="1500" dirty="0">
                        <a:latin typeface="Calibri" charset="0"/>
                        <a:ea typeface="Calibri" charset="0"/>
                        <a:cs typeface="Calibri" charset="0"/>
                      </a:endParaRPr>
                    </a:p>
                    <a:p>
                      <a:pPr marL="0" indent="0" algn="ctr">
                        <a:buNone/>
                      </a:pPr>
                      <a:r>
                        <a:rPr lang="en-US" sz="1500" b="1" dirty="0">
                          <a:solidFill>
                            <a:srgbClr val="C8553A"/>
                          </a:solidFill>
                          <a:latin typeface="Calibri" pitchFamily="34" charset="0"/>
                          <a:ea typeface="Calibri" pitchFamily="34" charset="-122"/>
                          <a:cs typeface="Calibri" pitchFamily="34" charset="-120"/>
                        </a:rPr>
                        <a:t>± 10,006</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30"/>
                          </a:solidFill>
                          <a:latin typeface="Calibri" pitchFamily="34" charset="0"/>
                          <a:ea typeface="Calibri" pitchFamily="34" charset="-122"/>
                          <a:cs typeface="Calibri" pitchFamily="34" charset="-120"/>
                        </a:rPr>
                        <a:t>7,002</a:t>
                      </a:r>
                      <a:endParaRPr lang="en-US" sz="1500" dirty="0">
                        <a:latin typeface="Calibri" charset="0"/>
                        <a:ea typeface="Calibri" charset="0"/>
                        <a:cs typeface="Calibri" charset="0"/>
                      </a:endParaRPr>
                    </a:p>
                    <a:p>
                      <a:pPr marL="0" indent="0" algn="ctr">
                        <a:buNone/>
                      </a:pPr>
                      <a:r>
                        <a:rPr lang="en-US" sz="1500" dirty="0">
                          <a:solidFill>
                            <a:srgbClr val="1B2A30"/>
                          </a:solidFill>
                          <a:latin typeface="Calibri" pitchFamily="34" charset="0"/>
                          <a:ea typeface="Calibri" pitchFamily="34" charset="-122"/>
                          <a:cs typeface="Calibri" pitchFamily="34" charset="-120"/>
                        </a:rPr>
                        <a:t>± 2,962</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30"/>
                          </a:solidFill>
                          <a:latin typeface="Calibri" pitchFamily="34" charset="0"/>
                          <a:ea typeface="Calibri" pitchFamily="34" charset="-122"/>
                          <a:cs typeface="Calibri" pitchFamily="34" charset="-120"/>
                        </a:rPr>
                        <a:t>3,925</a:t>
                      </a:r>
                      <a:endParaRPr lang="en-US" sz="1500" dirty="0">
                        <a:latin typeface="Calibri" charset="0"/>
                        <a:ea typeface="Calibri" charset="0"/>
                        <a:cs typeface="Calibri" charset="0"/>
                      </a:endParaRPr>
                    </a:p>
                    <a:p>
                      <a:pPr marL="0" indent="0" algn="ctr">
                        <a:buNone/>
                      </a:pPr>
                      <a:r>
                        <a:rPr lang="en-US" sz="1500" dirty="0">
                          <a:solidFill>
                            <a:srgbClr val="1B2A30"/>
                          </a:solidFill>
                          <a:latin typeface="Calibri" pitchFamily="34" charset="0"/>
                          <a:ea typeface="Calibri" pitchFamily="34" charset="-122"/>
                          <a:cs typeface="Calibri" pitchFamily="34" charset="-120"/>
                        </a:rPr>
                        <a:t>± 1,125</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500" b="1" dirty="0">
                          <a:solidFill>
                            <a:srgbClr val="13303A"/>
                          </a:solidFill>
                          <a:latin typeface="Calibri" pitchFamily="34" charset="0"/>
                          <a:ea typeface="Calibri" pitchFamily="34" charset="-122"/>
                          <a:cs typeface="Calibri" pitchFamily="34" charset="-120"/>
                        </a:rPr>
                        <a:t>R²</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EAF2F3"/>
                    </a:solidFill>
                  </a:tcPr>
                </a:tc>
                <a:tc>
                  <a:txBody>
                    <a:bodyPr/>
                    <a:lstStyle/>
                    <a:p>
                      <a:pPr marL="0" indent="0" algn="ctr">
                        <a:buNone/>
                      </a:pPr>
                      <a:r>
                        <a:rPr lang="en-US" sz="1500" b="1" dirty="0">
                          <a:solidFill>
                            <a:srgbClr val="C8553A"/>
                          </a:solidFill>
                          <a:latin typeface="Calibri" pitchFamily="34" charset="0"/>
                          <a:ea typeface="Calibri" pitchFamily="34" charset="-122"/>
                          <a:cs typeface="Calibri" pitchFamily="34" charset="-120"/>
                        </a:rPr>
                        <a:t>-2,783</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C8553A"/>
                          </a:solidFill>
                          <a:latin typeface="Calibri" pitchFamily="34" charset="0"/>
                          <a:ea typeface="Calibri" pitchFamily="34" charset="-122"/>
                          <a:cs typeface="Calibri" pitchFamily="34" charset="-120"/>
                        </a:rPr>
                        <a:t>-0,160</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30"/>
                          </a:solidFill>
                          <a:latin typeface="Calibri" pitchFamily="34" charset="0"/>
                          <a:ea typeface="Calibri" pitchFamily="34" charset="-122"/>
                          <a:cs typeface="Calibri" pitchFamily="34" charset="-120"/>
                        </a:rPr>
                        <a:t>0,698</a:t>
                      </a:r>
                      <a:endParaRPr lang="en-US" sz="1500" dirty="0">
                        <a:latin typeface="Calibri" charset="0"/>
                        <a:ea typeface="Calibri" charset="0"/>
                        <a:cs typeface="Calibri" charset="0"/>
                      </a:endParaRPr>
                    </a:p>
                  </a:txBody>
                  <a:tcPr anchor="ctr">
                    <a:lnL w="9525" cap="flat" cmpd="sng" algn="ctr">
                      <a:solidFill>
                        <a:srgbClr val="D3DFE2"/>
                      </a:solidFill>
                      <a:prstDash val="solid"/>
                      <a:round/>
                      <a:headEnd type="none" w="med" len="med"/>
                      <a:tailEnd type="none" w="med" len="med"/>
                    </a:lnL>
                    <a:lnR w="9525" cap="flat" cmpd="sng" algn="ctr">
                      <a:solidFill>
                        <a:srgbClr val="D3DFE2"/>
                      </a:solidFill>
                      <a:prstDash val="solid"/>
                      <a:round/>
                      <a:headEnd type="none" w="med" len="med"/>
                      <a:tailEnd type="none" w="med" len="med"/>
                    </a:lnR>
                    <a:lnT w="9525" cap="flat" cmpd="sng" algn="ctr">
                      <a:solidFill>
                        <a:srgbClr val="D3DFE2"/>
                      </a:solidFill>
                      <a:prstDash val="solid"/>
                      <a:round/>
                      <a:headEnd type="none" w="med" len="med"/>
                      <a:tailEnd type="none" w="med" len="med"/>
                    </a:lnT>
                    <a:lnB w="9525" cap="flat" cmpd="sng" algn="ctr">
                      <a:solidFill>
                        <a:srgbClr val="D3DF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Text 7"/>
          <p:cNvSpPr txBox="1"/>
          <p:nvPr/>
        </p:nvSpPr>
        <p:spPr>
          <a:xfrm>
            <a:off x="548640" y="4690872"/>
            <a:ext cx="5669280" cy="274320"/>
          </a:xfrm>
          <a:prstGeom prst="rect">
            <a:avLst/>
          </a:prstGeom>
          <a:noFill/>
          <a:ln/>
        </p:spPr>
        <p:txBody>
          <a:bodyPr wrap="square" lIns="0" tIns="0" rIns="0" bIns="0" rtlCol="0" anchor="t"/>
          <a:lstStyle/>
          <a:p>
            <a:pPr marL="0" indent="0">
              <a:buNone/>
            </a:pPr>
            <a:r>
              <a:rPr lang="en-US" sz="1150" dirty="0">
                <a:solidFill>
                  <a:srgbClr val="5B6D74"/>
                </a:solidFill>
                <a:latin typeface="Calibri" pitchFamily="34" charset="0"/>
                <a:ea typeface="Calibri" pitchFamily="34" charset="-122"/>
                <a:cs typeface="Calibri" pitchFamily="34" charset="-120"/>
              </a:rPr>
              <a:t>Trung bình 5-fold trên 2.326 tin Chợ Tốt (bảng E1)</a:t>
            </a:r>
            <a:endParaRPr lang="en-US" sz="1150" dirty="0"/>
          </a:p>
        </p:txBody>
      </p:sp>
      <p:sp>
        <p:nvSpPr>
          <p:cNvPr id="11" name="Shape 8"/>
          <p:cNvSpPr/>
          <p:nvPr/>
        </p:nvSpPr>
        <p:spPr>
          <a:xfrm>
            <a:off x="6583680" y="2331720"/>
            <a:ext cx="5029200" cy="493776"/>
          </a:xfrm>
          <a:prstGeom prst="roundRect">
            <a:avLst>
              <a:gd name="adj" fmla="val 18519"/>
            </a:avLst>
          </a:prstGeom>
          <a:solidFill>
            <a:srgbClr val="EAF2F3"/>
          </a:solidFill>
          <a:ln w="12700">
            <a:solidFill>
              <a:srgbClr val="EAF2F3"/>
            </a:solidFill>
            <a:prstDash val="solid"/>
          </a:ln>
        </p:spPr>
        <p:txBody>
          <a:bodyPr/>
          <a:lstStyle/>
          <a:p>
            <a:endParaRPr lang="en-VN"/>
          </a:p>
        </p:txBody>
      </p:sp>
      <p:sp>
        <p:nvSpPr>
          <p:cNvPr id="12" name="Shape 9"/>
          <p:cNvSpPr/>
          <p:nvPr/>
        </p:nvSpPr>
        <p:spPr>
          <a:xfrm>
            <a:off x="6702552" y="2414016"/>
            <a:ext cx="329184" cy="329184"/>
          </a:xfrm>
          <a:prstGeom prst="ellipse">
            <a:avLst/>
          </a:prstGeom>
          <a:solidFill>
            <a:srgbClr val="1F4A57"/>
          </a:solidFill>
          <a:ln w="12700">
            <a:solidFill>
              <a:srgbClr val="1F4A57"/>
            </a:solidFill>
            <a:prstDash val="solid"/>
          </a:ln>
        </p:spPr>
        <p:txBody>
          <a:bodyPr/>
          <a:lstStyle/>
          <a:p>
            <a:endParaRPr lang="en-VN"/>
          </a:p>
        </p:txBody>
      </p:sp>
      <p:sp>
        <p:nvSpPr>
          <p:cNvPr id="9" name="Text 10"/>
          <p:cNvSpPr txBox="1"/>
          <p:nvPr/>
        </p:nvSpPr>
        <p:spPr>
          <a:xfrm>
            <a:off x="6702552" y="24140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1"/>
          <p:cNvSpPr txBox="1"/>
          <p:nvPr/>
        </p:nvSpPr>
        <p:spPr>
          <a:xfrm>
            <a:off x="7178040" y="2331720"/>
            <a:ext cx="4343400" cy="493776"/>
          </a:xfrm>
          <a:prstGeom prst="rect">
            <a:avLst/>
          </a:prstGeom>
          <a:noFill/>
          <a:ln/>
        </p:spPr>
        <p:txBody>
          <a:bodyPr wrap="square" lIns="0" tIns="0" rIns="0" bIns="0" rtlCol="0" anchor="ctr"/>
          <a:lstStyle/>
          <a:p>
            <a:pPr marL="0" indent="0">
              <a:buNone/>
            </a:pPr>
            <a:r>
              <a:rPr lang="en-US" sz="1500" dirty="0">
                <a:solidFill>
                  <a:srgbClr val="1B2A30"/>
                </a:solidFill>
                <a:latin typeface="Calibri" pitchFamily="34" charset="0"/>
                <a:ea typeface="Calibri" pitchFamily="34" charset="-122"/>
                <a:cs typeface="Calibri" pitchFamily="34" charset="-120"/>
              </a:rPr>
              <a:t>Huấn luyện trên log(giá)</a:t>
            </a:r>
            <a:endParaRPr lang="en-US" sz="1500" dirty="0"/>
          </a:p>
        </p:txBody>
      </p:sp>
      <p:sp>
        <p:nvSpPr>
          <p:cNvPr id="15" name="Shape 12"/>
          <p:cNvSpPr/>
          <p:nvPr/>
        </p:nvSpPr>
        <p:spPr>
          <a:xfrm>
            <a:off x="6583680" y="2916936"/>
            <a:ext cx="5029200" cy="493776"/>
          </a:xfrm>
          <a:prstGeom prst="roundRect">
            <a:avLst>
              <a:gd name="adj" fmla="val 18519"/>
            </a:avLst>
          </a:prstGeom>
          <a:solidFill>
            <a:srgbClr val="EAF2F3"/>
          </a:solidFill>
          <a:ln w="12700">
            <a:solidFill>
              <a:srgbClr val="EAF2F3"/>
            </a:solidFill>
            <a:prstDash val="solid"/>
          </a:ln>
        </p:spPr>
        <p:txBody>
          <a:bodyPr/>
          <a:lstStyle/>
          <a:p>
            <a:endParaRPr lang="en-VN"/>
          </a:p>
        </p:txBody>
      </p:sp>
      <p:sp>
        <p:nvSpPr>
          <p:cNvPr id="16" name="Shape 13"/>
          <p:cNvSpPr/>
          <p:nvPr/>
        </p:nvSpPr>
        <p:spPr>
          <a:xfrm>
            <a:off x="6702552" y="2999232"/>
            <a:ext cx="329184" cy="329184"/>
          </a:xfrm>
          <a:prstGeom prst="ellipse">
            <a:avLst/>
          </a:prstGeom>
          <a:solidFill>
            <a:srgbClr val="1F4A57"/>
          </a:solidFill>
          <a:ln w="12700">
            <a:solidFill>
              <a:srgbClr val="1F4A57"/>
            </a:solidFill>
            <a:prstDash val="solid"/>
          </a:ln>
        </p:spPr>
        <p:txBody>
          <a:bodyPr/>
          <a:lstStyle/>
          <a:p>
            <a:endParaRPr lang="en-VN"/>
          </a:p>
        </p:txBody>
      </p:sp>
      <p:sp>
        <p:nvSpPr>
          <p:cNvPr id="17" name="Text 14"/>
          <p:cNvSpPr txBox="1"/>
          <p:nvPr/>
        </p:nvSpPr>
        <p:spPr>
          <a:xfrm>
            <a:off x="6702552" y="299923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5"/>
          <p:cNvSpPr txBox="1"/>
          <p:nvPr/>
        </p:nvSpPr>
        <p:spPr>
          <a:xfrm>
            <a:off x="7178040" y="2916936"/>
            <a:ext cx="4343400" cy="493776"/>
          </a:xfrm>
          <a:prstGeom prst="rect">
            <a:avLst/>
          </a:prstGeom>
          <a:noFill/>
          <a:ln/>
        </p:spPr>
        <p:txBody>
          <a:bodyPr wrap="square" lIns="0" tIns="0" rIns="0" bIns="0" rtlCol="0" anchor="ctr"/>
          <a:lstStyle/>
          <a:p>
            <a:pPr marL="0" indent="0">
              <a:buNone/>
            </a:pPr>
            <a:r>
              <a:rPr lang="en-US" sz="1500" dirty="0">
                <a:solidFill>
                  <a:srgbClr val="1B2A30"/>
                </a:solidFill>
                <a:latin typeface="Calibri" pitchFamily="34" charset="0"/>
                <a:ea typeface="Calibri" pitchFamily="34" charset="-122"/>
                <a:cs typeface="Calibri" pitchFamily="34" charset="-120"/>
              </a:rPr>
              <a:t>Vài điểm ngoại suy rất xa</a:t>
            </a:r>
            <a:endParaRPr lang="en-US" sz="1500" dirty="0"/>
          </a:p>
        </p:txBody>
      </p:sp>
      <p:sp>
        <p:nvSpPr>
          <p:cNvPr id="19" name="Shape 16"/>
          <p:cNvSpPr/>
          <p:nvPr/>
        </p:nvSpPr>
        <p:spPr>
          <a:xfrm>
            <a:off x="6583680" y="3502152"/>
            <a:ext cx="5029200" cy="493776"/>
          </a:xfrm>
          <a:prstGeom prst="roundRect">
            <a:avLst>
              <a:gd name="adj" fmla="val 18519"/>
            </a:avLst>
          </a:prstGeom>
          <a:solidFill>
            <a:srgbClr val="EAF2F3"/>
          </a:solidFill>
          <a:ln w="12700">
            <a:solidFill>
              <a:srgbClr val="EAF2F3"/>
            </a:solidFill>
            <a:prstDash val="solid"/>
          </a:ln>
        </p:spPr>
        <p:txBody>
          <a:bodyPr/>
          <a:lstStyle/>
          <a:p>
            <a:endParaRPr lang="en-VN"/>
          </a:p>
        </p:txBody>
      </p:sp>
      <p:sp>
        <p:nvSpPr>
          <p:cNvPr id="20" name="Shape 17"/>
          <p:cNvSpPr/>
          <p:nvPr/>
        </p:nvSpPr>
        <p:spPr>
          <a:xfrm>
            <a:off x="6702552" y="3584448"/>
            <a:ext cx="329184" cy="329184"/>
          </a:xfrm>
          <a:prstGeom prst="ellipse">
            <a:avLst/>
          </a:prstGeom>
          <a:solidFill>
            <a:srgbClr val="1F4A57"/>
          </a:solidFill>
          <a:ln w="12700">
            <a:solidFill>
              <a:srgbClr val="1F4A57"/>
            </a:solidFill>
            <a:prstDash val="solid"/>
          </a:ln>
        </p:spPr>
        <p:txBody>
          <a:bodyPr/>
          <a:lstStyle/>
          <a:p>
            <a:endParaRPr lang="en-VN"/>
          </a:p>
        </p:txBody>
      </p:sp>
      <p:sp>
        <p:nvSpPr>
          <p:cNvPr id="21" name="Text 18"/>
          <p:cNvSpPr txBox="1"/>
          <p:nvPr/>
        </p:nvSpPr>
        <p:spPr>
          <a:xfrm>
            <a:off x="6702552" y="35844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9"/>
          <p:cNvSpPr txBox="1"/>
          <p:nvPr/>
        </p:nvSpPr>
        <p:spPr>
          <a:xfrm>
            <a:off x="7178040" y="3502152"/>
            <a:ext cx="4343400" cy="493776"/>
          </a:xfrm>
          <a:prstGeom prst="rect">
            <a:avLst/>
          </a:prstGeom>
          <a:noFill/>
          <a:ln/>
        </p:spPr>
        <p:txBody>
          <a:bodyPr wrap="square" lIns="0" tIns="0" rIns="0" bIns="0" rtlCol="0" anchor="ctr"/>
          <a:lstStyle/>
          <a:p>
            <a:pPr marL="0" indent="0">
              <a:buNone/>
            </a:pPr>
            <a:r>
              <a:rPr lang="en-US" sz="1500" dirty="0">
                <a:solidFill>
                  <a:srgbClr val="1B2A30"/>
                </a:solidFill>
                <a:latin typeface="Calibri" pitchFamily="34" charset="0"/>
                <a:ea typeface="Calibri" pitchFamily="34" charset="-122"/>
                <a:cs typeface="Calibri" pitchFamily="34" charset="-120"/>
              </a:rPr>
              <a:t>exp phóng đại thành sai số khổng lồ trên thang VND</a:t>
            </a:r>
            <a:endParaRPr lang="en-US" sz="1500" dirty="0"/>
          </a:p>
        </p:txBody>
      </p:sp>
      <p:sp>
        <p:nvSpPr>
          <p:cNvPr id="23" name="Shape 20"/>
          <p:cNvSpPr/>
          <p:nvPr/>
        </p:nvSpPr>
        <p:spPr>
          <a:xfrm>
            <a:off x="6583680" y="4087368"/>
            <a:ext cx="5029200" cy="493776"/>
          </a:xfrm>
          <a:prstGeom prst="roundRect">
            <a:avLst>
              <a:gd name="adj" fmla="val 18519"/>
            </a:avLst>
          </a:prstGeom>
          <a:solidFill>
            <a:srgbClr val="FBEAE3"/>
          </a:solidFill>
          <a:ln w="12700">
            <a:solidFill>
              <a:srgbClr val="FBEAE3"/>
            </a:solidFill>
            <a:prstDash val="solid"/>
          </a:ln>
        </p:spPr>
        <p:txBody>
          <a:bodyPr/>
          <a:lstStyle/>
          <a:p>
            <a:endParaRPr lang="en-VN"/>
          </a:p>
        </p:txBody>
      </p:sp>
      <p:sp>
        <p:nvSpPr>
          <p:cNvPr id="24" name="Shape 21"/>
          <p:cNvSpPr/>
          <p:nvPr/>
        </p:nvSpPr>
        <p:spPr>
          <a:xfrm>
            <a:off x="6702552" y="4169664"/>
            <a:ext cx="329184" cy="329184"/>
          </a:xfrm>
          <a:prstGeom prst="ellipse">
            <a:avLst/>
          </a:prstGeom>
          <a:solidFill>
            <a:srgbClr val="C8553A"/>
          </a:solidFill>
          <a:ln w="12700">
            <a:solidFill>
              <a:srgbClr val="1F4A57"/>
            </a:solidFill>
            <a:prstDash val="solid"/>
          </a:ln>
        </p:spPr>
        <p:txBody>
          <a:bodyPr/>
          <a:lstStyle/>
          <a:p>
            <a:endParaRPr lang="en-VN"/>
          </a:p>
        </p:txBody>
      </p:sp>
      <p:sp>
        <p:nvSpPr>
          <p:cNvPr id="25" name="Text 22"/>
          <p:cNvSpPr txBox="1"/>
          <p:nvPr/>
        </p:nvSpPr>
        <p:spPr>
          <a:xfrm>
            <a:off x="6702552" y="41696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txBox="1"/>
          <p:nvPr/>
        </p:nvSpPr>
        <p:spPr>
          <a:xfrm>
            <a:off x="7178040" y="4087368"/>
            <a:ext cx="4343400" cy="493776"/>
          </a:xfrm>
          <a:prstGeom prst="rect">
            <a:avLst/>
          </a:prstGeom>
          <a:noFill/>
          <a:ln/>
        </p:spPr>
        <p:txBody>
          <a:bodyPr wrap="square" lIns="0" tIns="0" rIns="0" bIns="0" rtlCol="0" anchor="ctr"/>
          <a:lstStyle/>
          <a:p>
            <a:pPr marL="0" indent="0">
              <a:buNone/>
            </a:pPr>
            <a:r>
              <a:rPr lang="en-US" sz="1500" b="1" dirty="0">
                <a:solidFill>
                  <a:srgbClr val="C8553A"/>
                </a:solidFill>
                <a:latin typeface="Calibri" pitchFamily="34" charset="0"/>
                <a:ea typeface="Calibri" pitchFamily="34" charset="-122"/>
                <a:cs typeface="Calibri" pitchFamily="34" charset="-120"/>
              </a:rPr>
              <a:t>RMSE sụp, trung vị không đổi</a:t>
            </a:r>
            <a:endParaRPr lang="en-US" sz="1500" dirty="0"/>
          </a:p>
        </p:txBody>
      </p:sp>
      <p:sp>
        <p:nvSpPr>
          <p:cNvPr id="27" name="Text 24"/>
          <p:cNvSpPr txBox="1"/>
          <p:nvPr/>
        </p:nvSpPr>
        <p:spPr>
          <a:xfrm>
            <a:off x="6583680" y="4617720"/>
            <a:ext cx="5029200" cy="274320"/>
          </a:xfrm>
          <a:prstGeom prst="rect">
            <a:avLst/>
          </a:prstGeom>
          <a:noFill/>
          <a:ln/>
        </p:spPr>
        <p:txBody>
          <a:bodyPr wrap="square" lIns="0" tIns="0" rIns="0" bIns="0" rtlCol="0" anchor="t"/>
          <a:lstStyle/>
          <a:p>
            <a:pPr marL="0" indent="0">
              <a:buNone/>
            </a:pPr>
            <a:r>
              <a:rPr lang="en-US" sz="1250" i="1" dirty="0">
                <a:solidFill>
                  <a:srgbClr val="5B6D74"/>
                </a:solidFill>
                <a:latin typeface="Calibri" pitchFamily="34" charset="0"/>
                <a:ea typeface="Calibri" pitchFamily="34" charset="-122"/>
                <a:cs typeface="Calibri" pitchFamily="34" charset="-120"/>
              </a:rPr>
              <a:t>Không phải lỗi cài đặt: đó là cơ chế của phép biến đổi log.</a:t>
            </a:r>
            <a:endParaRPr lang="en-US" sz="1250" dirty="0"/>
          </a:p>
        </p:txBody>
      </p:sp>
      <p:sp>
        <p:nvSpPr>
          <p:cNvPr id="28" name="Shape 25"/>
          <p:cNvSpPr/>
          <p:nvPr/>
        </p:nvSpPr>
        <p:spPr>
          <a:xfrm>
            <a:off x="548640" y="5074920"/>
            <a:ext cx="5440680" cy="1097280"/>
          </a:xfrm>
          <a:prstGeom prst="roundRect">
            <a:avLst>
              <a:gd name="adj" fmla="val 8333"/>
            </a:avLst>
          </a:prstGeom>
          <a:solidFill>
            <a:srgbClr val="FBEAE3"/>
          </a:solidFill>
          <a:ln w="12700">
            <a:solidFill>
              <a:srgbClr val="FBEAE3"/>
            </a:solidFill>
            <a:prstDash val="solid"/>
          </a:ln>
        </p:spPr>
        <p:txBody>
          <a:bodyPr/>
          <a:lstStyle/>
          <a:p>
            <a:endParaRPr lang="en-VN"/>
          </a:p>
        </p:txBody>
      </p:sp>
      <p:sp>
        <p:nvSpPr>
          <p:cNvPr id="29" name="Shape 26"/>
          <p:cNvSpPr/>
          <p:nvPr/>
        </p:nvSpPr>
        <p:spPr>
          <a:xfrm>
            <a:off x="804672" y="5340096"/>
            <a:ext cx="566928" cy="566928"/>
          </a:xfrm>
          <a:prstGeom prst="ellipse">
            <a:avLst/>
          </a:prstGeom>
          <a:solidFill>
            <a:srgbClr val="FFFFFF"/>
          </a:solidFill>
          <a:ln w="12700">
            <a:solidFill>
              <a:srgbClr val="FFFFFF"/>
            </a:solidFill>
            <a:prstDash val="solid"/>
          </a:ln>
        </p:spPr>
        <p:txBody>
          <a:bodyPr/>
          <a:lstStyle/>
          <a:p>
            <a:endParaRPr lang="en-VN"/>
          </a:p>
        </p:txBody>
      </p:sp>
      <p:pic>
        <p:nvPicPr>
          <p:cNvPr id="30" name="Image 0" descr="preencoded.png"/>
          <p:cNvPicPr>
            <a:picLocks noChangeAspect="1"/>
          </p:cNvPicPr>
          <p:nvPr/>
        </p:nvPicPr>
        <p:blipFill>
          <a:blip r:embed="rId3"/>
          <a:stretch>
            <a:fillRect/>
          </a:stretch>
        </p:blipFill>
        <p:spPr>
          <a:xfrm>
            <a:off x="946404" y="5481828"/>
            <a:ext cx="283464" cy="283464"/>
          </a:xfrm>
          <a:prstGeom prst="rect">
            <a:avLst/>
          </a:prstGeom>
        </p:spPr>
      </p:pic>
      <p:sp>
        <p:nvSpPr>
          <p:cNvPr id="31" name="Text 27"/>
          <p:cNvSpPr txBox="1"/>
          <p:nvPr/>
        </p:nvSpPr>
        <p:spPr>
          <a:xfrm>
            <a:off x="1554480" y="5074920"/>
            <a:ext cx="4251960" cy="1097280"/>
          </a:xfrm>
          <a:prstGeom prst="rect">
            <a:avLst/>
          </a:prstGeom>
          <a:noFill/>
          <a:ln/>
        </p:spPr>
        <p:txBody>
          <a:bodyPr wrap="square" lIns="0" tIns="0" rIns="0" bIns="0" rtlCol="0" anchor="ctr"/>
          <a:lstStyle/>
          <a:p>
            <a:pPr marL="0" indent="0">
              <a:buNone/>
            </a:pPr>
            <a:r>
              <a:rPr lang="en-US" sz="1600" b="1" dirty="0">
                <a:solidFill>
                  <a:srgbClr val="1B2A30"/>
                </a:solidFill>
                <a:latin typeface="Calibri" pitchFamily="34" charset="0"/>
                <a:ea typeface="Calibri" pitchFamily="34" charset="-122"/>
                <a:cs typeface="Calibri" pitchFamily="34" charset="-120"/>
              </a:rPr>
              <a:t>Đọc R² một mình</a:t>
            </a:r>
            <a:r>
              <a:rPr lang="en-US" sz="1600" dirty="0">
                <a:solidFill>
                  <a:srgbClr val="1B2A30"/>
                </a:solidFill>
                <a:latin typeface="Calibri" pitchFamily="34" charset="0"/>
                <a:ea typeface="Calibri" pitchFamily="34" charset="-122"/>
                <a:cs typeface="Calibri" pitchFamily="34" charset="-120"/>
              </a:rPr>
              <a:t> → kết luận hồi quy tuyến tính vô dụng. </a:t>
            </a:r>
            <a:r>
              <a:rPr lang="en-US" sz="1600" b="1" dirty="0">
                <a:solidFill>
                  <a:srgbClr val="C8553A"/>
                </a:solidFill>
                <a:latin typeface="Calibri" pitchFamily="34" charset="0"/>
                <a:ea typeface="Calibri" pitchFamily="34" charset="-122"/>
                <a:cs typeface="Calibri" pitchFamily="34" charset="-120"/>
              </a:rPr>
              <a:t>Sai.</a:t>
            </a:r>
            <a:endParaRPr lang="en-US" sz="1600" dirty="0"/>
          </a:p>
        </p:txBody>
      </p:sp>
      <p:sp>
        <p:nvSpPr>
          <p:cNvPr id="32" name="Shape 28"/>
          <p:cNvSpPr/>
          <p:nvPr/>
        </p:nvSpPr>
        <p:spPr>
          <a:xfrm>
            <a:off x="6172200" y="5074920"/>
            <a:ext cx="5440680" cy="1097280"/>
          </a:xfrm>
          <a:prstGeom prst="roundRect">
            <a:avLst>
              <a:gd name="adj" fmla="val 8333"/>
            </a:avLst>
          </a:prstGeom>
          <a:solidFill>
            <a:srgbClr val="FBEAE3"/>
          </a:solidFill>
          <a:ln w="12700">
            <a:solidFill>
              <a:srgbClr val="FBEAE3"/>
            </a:solidFill>
            <a:prstDash val="solid"/>
          </a:ln>
        </p:spPr>
        <p:txBody>
          <a:bodyPr/>
          <a:lstStyle/>
          <a:p>
            <a:endParaRPr lang="en-VN"/>
          </a:p>
        </p:txBody>
      </p:sp>
      <p:sp>
        <p:nvSpPr>
          <p:cNvPr id="33" name="Shape 29"/>
          <p:cNvSpPr/>
          <p:nvPr/>
        </p:nvSpPr>
        <p:spPr>
          <a:xfrm>
            <a:off x="6428232" y="5340096"/>
            <a:ext cx="566928" cy="566928"/>
          </a:xfrm>
          <a:prstGeom prst="ellipse">
            <a:avLst/>
          </a:prstGeom>
          <a:solidFill>
            <a:srgbClr val="FFFFFF"/>
          </a:solidFill>
          <a:ln w="12700">
            <a:solidFill>
              <a:srgbClr val="FFFFFF"/>
            </a:solidFill>
            <a:prstDash val="solid"/>
          </a:ln>
        </p:spPr>
        <p:txBody>
          <a:bodyPr/>
          <a:lstStyle/>
          <a:p>
            <a:endParaRPr lang="en-VN"/>
          </a:p>
        </p:txBody>
      </p:sp>
      <p:pic>
        <p:nvPicPr>
          <p:cNvPr id="34" name="Image 1" descr="preencoded.png"/>
          <p:cNvPicPr>
            <a:picLocks noChangeAspect="1"/>
          </p:cNvPicPr>
          <p:nvPr/>
        </p:nvPicPr>
        <p:blipFill>
          <a:blip r:embed="rId3"/>
          <a:stretch>
            <a:fillRect/>
          </a:stretch>
        </p:blipFill>
        <p:spPr>
          <a:xfrm>
            <a:off x="6569964" y="5481828"/>
            <a:ext cx="283464" cy="283464"/>
          </a:xfrm>
          <a:prstGeom prst="rect">
            <a:avLst/>
          </a:prstGeom>
        </p:spPr>
      </p:pic>
      <p:sp>
        <p:nvSpPr>
          <p:cNvPr id="35" name="Text 30"/>
          <p:cNvSpPr txBox="1"/>
          <p:nvPr/>
        </p:nvSpPr>
        <p:spPr>
          <a:xfrm>
            <a:off x="7178040" y="5074920"/>
            <a:ext cx="4251960" cy="1097280"/>
          </a:xfrm>
          <a:prstGeom prst="rect">
            <a:avLst/>
          </a:prstGeom>
          <a:noFill/>
          <a:ln/>
        </p:spPr>
        <p:txBody>
          <a:bodyPr wrap="square" lIns="0" tIns="0" rIns="0" bIns="0" rtlCol="0" anchor="ctr"/>
          <a:lstStyle/>
          <a:p>
            <a:pPr marL="0" indent="0">
              <a:buNone/>
            </a:pPr>
            <a:r>
              <a:rPr lang="en-US" sz="1600" b="1" dirty="0">
                <a:solidFill>
                  <a:srgbClr val="1B2A30"/>
                </a:solidFill>
                <a:latin typeface="Calibri" pitchFamily="34" charset="0"/>
                <a:ea typeface="Calibri" pitchFamily="34" charset="-122"/>
                <a:cs typeface="Calibri" pitchFamily="34" charset="-120"/>
              </a:rPr>
              <a:t>Đọc MdAPE một mình</a:t>
            </a:r>
            <a:r>
              <a:rPr lang="en-US" sz="1600" dirty="0">
                <a:solidFill>
                  <a:srgbClr val="1B2A30"/>
                </a:solidFill>
                <a:latin typeface="Calibri" pitchFamily="34" charset="0"/>
                <a:ea typeface="Calibri" pitchFamily="34" charset="-122"/>
                <a:cs typeface="Calibri" pitchFamily="34" charset="-120"/>
              </a:rPr>
              <a:t> → kết luận nó ngang boosting. </a:t>
            </a:r>
            <a:r>
              <a:rPr lang="en-US" sz="1600" b="1" dirty="0">
                <a:solidFill>
                  <a:srgbClr val="C8553A"/>
                </a:solidFill>
                <a:latin typeface="Calibri" pitchFamily="34" charset="0"/>
                <a:ea typeface="Calibri" pitchFamily="34" charset="-122"/>
                <a:cs typeface="Calibri" pitchFamily="34" charset="-120"/>
              </a:rPr>
              <a:t>Cũng sai.</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KẾT QUẢ · ABLATION</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Ablation: văn bản đáng bao nhiêu?</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Text 6"/>
          <p:cNvSpPr txBox="1"/>
          <p:nvPr/>
        </p:nvSpPr>
        <p:spPr>
          <a:xfrm>
            <a:off x="777240" y="1783080"/>
            <a:ext cx="2743200" cy="274320"/>
          </a:xfrm>
          <a:prstGeom prst="rect">
            <a:avLst/>
          </a:prstGeom>
          <a:noFill/>
          <a:ln/>
        </p:spPr>
        <p:txBody>
          <a:bodyPr wrap="square" lIns="0" tIns="0" rIns="0" bIns="0" rtlCol="0" anchor="t"/>
          <a:lstStyle/>
          <a:p>
            <a:pPr marL="0" indent="0">
              <a:buNone/>
            </a:pPr>
            <a:r>
              <a:rPr lang="en-US" sz="1100" b="1" kern="0" spc="100" dirty="0">
                <a:solidFill>
                  <a:srgbClr val="5B6D74"/>
                </a:solidFill>
                <a:latin typeface="Calibri" pitchFamily="34" charset="0"/>
                <a:ea typeface="Calibri" pitchFamily="34" charset="-122"/>
                <a:cs typeface="Calibri" pitchFamily="34" charset="-120"/>
              </a:rPr>
              <a:t>ĐẶC TRƯNG DÙNG</a:t>
            </a:r>
            <a:endParaRPr lang="en-US" sz="1100" dirty="0"/>
          </a:p>
        </p:txBody>
      </p:sp>
      <p:sp>
        <p:nvSpPr>
          <p:cNvPr id="9" name="Text 7"/>
          <p:cNvSpPr txBox="1"/>
          <p:nvPr/>
        </p:nvSpPr>
        <p:spPr>
          <a:xfrm>
            <a:off x="3840480" y="1783080"/>
            <a:ext cx="1188720" cy="274320"/>
          </a:xfrm>
          <a:prstGeom prst="rect">
            <a:avLst/>
          </a:prstGeom>
          <a:noFill/>
          <a:ln/>
        </p:spPr>
        <p:txBody>
          <a:bodyPr wrap="square" lIns="0" tIns="0" rIns="0" bIns="0" rtlCol="0" anchor="t"/>
          <a:lstStyle/>
          <a:p>
            <a:pPr marL="0" indent="0" algn="r">
              <a:buNone/>
            </a:pPr>
            <a:r>
              <a:rPr lang="en-US" sz="1100" b="1" kern="0" spc="100" dirty="0">
                <a:solidFill>
                  <a:srgbClr val="5B6D74"/>
                </a:solidFill>
                <a:latin typeface="Calibri" pitchFamily="34" charset="0"/>
                <a:ea typeface="Calibri" pitchFamily="34" charset="-122"/>
                <a:cs typeface="Calibri" pitchFamily="34" charset="-120"/>
              </a:rPr>
              <a:t>MDAPE (%)</a:t>
            </a:r>
            <a:endParaRPr lang="en-US" sz="1100" dirty="0"/>
          </a:p>
        </p:txBody>
      </p:sp>
      <p:sp>
        <p:nvSpPr>
          <p:cNvPr id="10" name="Text 8"/>
          <p:cNvSpPr txBox="1"/>
          <p:nvPr/>
        </p:nvSpPr>
        <p:spPr>
          <a:xfrm>
            <a:off x="5394960" y="1783080"/>
            <a:ext cx="2743200" cy="274320"/>
          </a:xfrm>
          <a:prstGeom prst="rect">
            <a:avLst/>
          </a:prstGeom>
          <a:noFill/>
          <a:ln/>
        </p:spPr>
        <p:txBody>
          <a:bodyPr wrap="square" lIns="0" tIns="0" rIns="0" bIns="0" rtlCol="0" anchor="t"/>
          <a:lstStyle/>
          <a:p>
            <a:pPr marL="0" indent="0">
              <a:buNone/>
            </a:pPr>
            <a:r>
              <a:rPr lang="en-US" sz="1100" b="1" kern="0" spc="100" dirty="0">
                <a:solidFill>
                  <a:srgbClr val="5B6D74"/>
                </a:solidFill>
                <a:latin typeface="Calibri" pitchFamily="34" charset="0"/>
                <a:ea typeface="Calibri" pitchFamily="34" charset="-122"/>
                <a:cs typeface="Calibri" pitchFamily="34" charset="-120"/>
              </a:rPr>
              <a:t>Δ SO VỚI CHỈ BẢNG</a:t>
            </a:r>
            <a:endParaRPr lang="en-US" sz="1100" dirty="0"/>
          </a:p>
        </p:txBody>
      </p:sp>
      <p:sp>
        <p:nvSpPr>
          <p:cNvPr id="11" name="Shape 9"/>
          <p:cNvSpPr/>
          <p:nvPr/>
        </p:nvSpPr>
        <p:spPr>
          <a:xfrm>
            <a:off x="548640" y="2194560"/>
            <a:ext cx="7680960" cy="731520"/>
          </a:xfrm>
          <a:prstGeom prst="roundRect">
            <a:avLst>
              <a:gd name="adj" fmla="val 12500"/>
            </a:avLst>
          </a:prstGeom>
          <a:solidFill>
            <a:srgbClr val="EAF2F3"/>
          </a:solidFill>
          <a:ln w="12700">
            <a:solidFill>
              <a:srgbClr val="EAF2F3"/>
            </a:solidFill>
            <a:prstDash val="solid"/>
          </a:ln>
        </p:spPr>
        <p:txBody>
          <a:bodyPr/>
          <a:lstStyle/>
          <a:p>
            <a:endParaRPr lang="en-VN"/>
          </a:p>
        </p:txBody>
      </p:sp>
      <p:sp>
        <p:nvSpPr>
          <p:cNvPr id="12" name="Text 10"/>
          <p:cNvSpPr txBox="1"/>
          <p:nvPr/>
        </p:nvSpPr>
        <p:spPr>
          <a:xfrm>
            <a:off x="777240" y="2194560"/>
            <a:ext cx="3017520" cy="731520"/>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Chỉ đặc trưng bảng</a:t>
            </a:r>
            <a:endParaRPr lang="en-US" sz="1600" dirty="0"/>
          </a:p>
        </p:txBody>
      </p:sp>
      <p:sp>
        <p:nvSpPr>
          <p:cNvPr id="13" name="Text 11"/>
          <p:cNvSpPr txBox="1"/>
          <p:nvPr/>
        </p:nvSpPr>
        <p:spPr>
          <a:xfrm>
            <a:off x="3840480" y="2194560"/>
            <a:ext cx="1188720" cy="731520"/>
          </a:xfrm>
          <a:prstGeom prst="rect">
            <a:avLst/>
          </a:prstGeom>
          <a:noFill/>
          <a:ln/>
        </p:spPr>
        <p:txBody>
          <a:bodyPr wrap="square" lIns="0" tIns="0" rIns="0" bIns="0" rtlCol="0" anchor="ctr"/>
          <a:lstStyle/>
          <a:p>
            <a:pPr marL="0" indent="0" algn="r">
              <a:buNone/>
            </a:pPr>
            <a:r>
              <a:rPr lang="en-US" sz="1900" b="1" dirty="0">
                <a:solidFill>
                  <a:srgbClr val="13303A"/>
                </a:solidFill>
                <a:latin typeface="Calibri" pitchFamily="34" charset="0"/>
                <a:ea typeface="Calibri" pitchFamily="34" charset="-122"/>
                <a:cs typeface="Calibri" pitchFamily="34" charset="-120"/>
              </a:rPr>
              <a:t>14,77</a:t>
            </a:r>
            <a:endParaRPr lang="en-US" sz="1900" dirty="0"/>
          </a:p>
        </p:txBody>
      </p:sp>
      <p:sp>
        <p:nvSpPr>
          <p:cNvPr id="14" name="Text 12"/>
          <p:cNvSpPr txBox="1"/>
          <p:nvPr/>
        </p:nvSpPr>
        <p:spPr>
          <a:xfrm>
            <a:off x="5394960" y="2194560"/>
            <a:ext cx="1828800" cy="731520"/>
          </a:xfrm>
          <a:prstGeom prst="rect">
            <a:avLst/>
          </a:prstGeom>
          <a:noFill/>
          <a:ln/>
        </p:spPr>
        <p:txBody>
          <a:bodyPr wrap="square" lIns="0" tIns="0" rIns="0" bIns="0" rtlCol="0" anchor="ctr"/>
          <a:lstStyle/>
          <a:p>
            <a:pPr marL="0" indent="0">
              <a:buNone/>
            </a:pPr>
            <a:r>
              <a:rPr lang="en-US" sz="1500" dirty="0">
                <a:solidFill>
                  <a:srgbClr val="5B6D74"/>
                </a:solidFill>
                <a:latin typeface="Calibri" pitchFamily="34" charset="0"/>
                <a:ea typeface="Calibri" pitchFamily="34" charset="-122"/>
                <a:cs typeface="Calibri" pitchFamily="34" charset="-120"/>
              </a:rPr>
              <a:t>0,00 (mốc)</a:t>
            </a:r>
            <a:endParaRPr lang="en-US" sz="1500" dirty="0"/>
          </a:p>
        </p:txBody>
      </p:sp>
      <p:sp>
        <p:nvSpPr>
          <p:cNvPr id="15" name="Shape 13"/>
          <p:cNvSpPr/>
          <p:nvPr/>
        </p:nvSpPr>
        <p:spPr>
          <a:xfrm>
            <a:off x="548640" y="3063240"/>
            <a:ext cx="7680960" cy="731520"/>
          </a:xfrm>
          <a:prstGeom prst="roundRect">
            <a:avLst>
              <a:gd name="adj" fmla="val 12500"/>
            </a:avLst>
          </a:prstGeom>
          <a:solidFill>
            <a:srgbClr val="EAF2F3"/>
          </a:solidFill>
          <a:ln w="12700">
            <a:solidFill>
              <a:srgbClr val="EAF2F3"/>
            </a:solidFill>
            <a:prstDash val="solid"/>
          </a:ln>
        </p:spPr>
        <p:txBody>
          <a:bodyPr/>
          <a:lstStyle/>
          <a:p>
            <a:endParaRPr lang="en-VN"/>
          </a:p>
        </p:txBody>
      </p:sp>
      <p:sp>
        <p:nvSpPr>
          <p:cNvPr id="16" name="Text 14"/>
          <p:cNvSpPr txBox="1"/>
          <p:nvPr/>
        </p:nvSpPr>
        <p:spPr>
          <a:xfrm>
            <a:off x="777240" y="3063240"/>
            <a:ext cx="3017520" cy="731520"/>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Bảng + cờ văn bản thủ công</a:t>
            </a:r>
            <a:endParaRPr lang="en-US" sz="1600" dirty="0"/>
          </a:p>
        </p:txBody>
      </p:sp>
      <p:sp>
        <p:nvSpPr>
          <p:cNvPr id="17" name="Text 15"/>
          <p:cNvSpPr txBox="1"/>
          <p:nvPr/>
        </p:nvSpPr>
        <p:spPr>
          <a:xfrm>
            <a:off x="3840480" y="3063240"/>
            <a:ext cx="1188720" cy="731520"/>
          </a:xfrm>
          <a:prstGeom prst="rect">
            <a:avLst/>
          </a:prstGeom>
          <a:noFill/>
          <a:ln/>
        </p:spPr>
        <p:txBody>
          <a:bodyPr wrap="square" lIns="0" tIns="0" rIns="0" bIns="0" rtlCol="0" anchor="ctr"/>
          <a:lstStyle/>
          <a:p>
            <a:pPr marL="0" indent="0" algn="r">
              <a:buNone/>
            </a:pPr>
            <a:r>
              <a:rPr lang="en-US" sz="1900" b="1" dirty="0">
                <a:solidFill>
                  <a:srgbClr val="13303A"/>
                </a:solidFill>
                <a:latin typeface="Calibri" pitchFamily="34" charset="0"/>
                <a:ea typeface="Calibri" pitchFamily="34" charset="-122"/>
                <a:cs typeface="Calibri" pitchFamily="34" charset="-120"/>
              </a:rPr>
              <a:t>14,08</a:t>
            </a:r>
            <a:endParaRPr lang="en-US" sz="1900" dirty="0"/>
          </a:p>
        </p:txBody>
      </p:sp>
      <p:sp>
        <p:nvSpPr>
          <p:cNvPr id="18" name="Shape 16"/>
          <p:cNvSpPr/>
          <p:nvPr/>
        </p:nvSpPr>
        <p:spPr>
          <a:xfrm>
            <a:off x="5394960" y="3264408"/>
            <a:ext cx="1630509" cy="329184"/>
          </a:xfrm>
          <a:prstGeom prst="roundRect">
            <a:avLst>
              <a:gd name="adj" fmla="val 11111"/>
            </a:avLst>
          </a:prstGeom>
          <a:solidFill>
            <a:srgbClr val="C8553A"/>
          </a:solidFill>
          <a:ln w="12700">
            <a:solidFill>
              <a:srgbClr val="C8553A"/>
            </a:solidFill>
            <a:prstDash val="solid"/>
          </a:ln>
        </p:spPr>
        <p:txBody>
          <a:bodyPr/>
          <a:lstStyle/>
          <a:p>
            <a:endParaRPr lang="en-VN"/>
          </a:p>
        </p:txBody>
      </p:sp>
      <p:sp>
        <p:nvSpPr>
          <p:cNvPr id="19" name="Text 17"/>
          <p:cNvSpPr txBox="1"/>
          <p:nvPr/>
        </p:nvSpPr>
        <p:spPr>
          <a:xfrm>
            <a:off x="7116909" y="3063240"/>
            <a:ext cx="777240" cy="731520"/>
          </a:xfrm>
          <a:prstGeom prst="rect">
            <a:avLst/>
          </a:prstGeom>
          <a:noFill/>
          <a:ln/>
        </p:spPr>
        <p:txBody>
          <a:bodyPr wrap="square" lIns="0" tIns="0" rIns="0" bIns="0" rtlCol="0" anchor="ctr"/>
          <a:lstStyle/>
          <a:p>
            <a:pPr marL="0" indent="0">
              <a:buNone/>
            </a:pPr>
            <a:r>
              <a:rPr lang="en-US" sz="1600" b="1" dirty="0">
                <a:solidFill>
                  <a:srgbClr val="C8553A"/>
                </a:solidFill>
                <a:latin typeface="Calibri" pitchFamily="34" charset="0"/>
                <a:ea typeface="Calibri" pitchFamily="34" charset="-122"/>
                <a:cs typeface="Calibri" pitchFamily="34" charset="-120"/>
              </a:rPr>
              <a:t>-0,69</a:t>
            </a:r>
            <a:endParaRPr lang="en-US" sz="1600" dirty="0"/>
          </a:p>
        </p:txBody>
      </p:sp>
      <p:sp>
        <p:nvSpPr>
          <p:cNvPr id="20" name="Shape 18"/>
          <p:cNvSpPr/>
          <p:nvPr/>
        </p:nvSpPr>
        <p:spPr>
          <a:xfrm>
            <a:off x="548640" y="3931920"/>
            <a:ext cx="7680960" cy="731520"/>
          </a:xfrm>
          <a:prstGeom prst="roundRect">
            <a:avLst>
              <a:gd name="adj" fmla="val 12500"/>
            </a:avLst>
          </a:prstGeom>
          <a:solidFill>
            <a:srgbClr val="EAF2F3"/>
          </a:solidFill>
          <a:ln w="12700">
            <a:solidFill>
              <a:srgbClr val="EAF2F3"/>
            </a:solidFill>
            <a:prstDash val="solid"/>
          </a:ln>
        </p:spPr>
        <p:txBody>
          <a:bodyPr/>
          <a:lstStyle/>
          <a:p>
            <a:endParaRPr lang="en-VN"/>
          </a:p>
        </p:txBody>
      </p:sp>
      <p:sp>
        <p:nvSpPr>
          <p:cNvPr id="21" name="Text 19"/>
          <p:cNvSpPr txBox="1"/>
          <p:nvPr/>
        </p:nvSpPr>
        <p:spPr>
          <a:xfrm>
            <a:off x="777240" y="3931920"/>
            <a:ext cx="3017520" cy="731520"/>
          </a:xfrm>
          <a:prstGeom prst="rect">
            <a:avLst/>
          </a:prstGeom>
          <a:noFill/>
          <a:ln/>
        </p:spPr>
        <p:txBody>
          <a:bodyPr wrap="square" lIns="0" tIns="0" rIns="0" bIns="0" rtlCol="0" anchor="ctr"/>
          <a:lstStyle/>
          <a:p>
            <a:pPr marL="0" indent="0">
              <a:buNone/>
            </a:pPr>
            <a:r>
              <a:rPr lang="en-US" sz="1600" dirty="0">
                <a:solidFill>
                  <a:srgbClr val="1B2A30"/>
                </a:solidFill>
                <a:latin typeface="Calibri" pitchFamily="34" charset="0"/>
                <a:ea typeface="Calibri" pitchFamily="34" charset="-122"/>
                <a:cs typeface="Calibri" pitchFamily="34" charset="-120"/>
              </a:rPr>
              <a:t>Bảng + TF-IDF/SVD</a:t>
            </a:r>
            <a:endParaRPr lang="en-US" sz="1600" dirty="0"/>
          </a:p>
        </p:txBody>
      </p:sp>
      <p:sp>
        <p:nvSpPr>
          <p:cNvPr id="22" name="Text 20"/>
          <p:cNvSpPr txBox="1"/>
          <p:nvPr/>
        </p:nvSpPr>
        <p:spPr>
          <a:xfrm>
            <a:off x="3840480" y="3931920"/>
            <a:ext cx="1188720" cy="731520"/>
          </a:xfrm>
          <a:prstGeom prst="rect">
            <a:avLst/>
          </a:prstGeom>
          <a:noFill/>
          <a:ln/>
        </p:spPr>
        <p:txBody>
          <a:bodyPr wrap="square" lIns="0" tIns="0" rIns="0" bIns="0" rtlCol="0" anchor="ctr"/>
          <a:lstStyle/>
          <a:p>
            <a:pPr marL="0" indent="0" algn="r">
              <a:buNone/>
            </a:pPr>
            <a:r>
              <a:rPr lang="en-US" sz="1900" b="1" dirty="0">
                <a:solidFill>
                  <a:srgbClr val="13303A"/>
                </a:solidFill>
                <a:latin typeface="Calibri" pitchFamily="34" charset="0"/>
                <a:ea typeface="Calibri" pitchFamily="34" charset="-122"/>
                <a:cs typeface="Calibri" pitchFamily="34" charset="-120"/>
              </a:rPr>
              <a:t>13,91</a:t>
            </a:r>
            <a:endParaRPr lang="en-US" sz="1900" dirty="0"/>
          </a:p>
        </p:txBody>
      </p:sp>
      <p:sp>
        <p:nvSpPr>
          <p:cNvPr id="23" name="Shape 21"/>
          <p:cNvSpPr/>
          <p:nvPr/>
        </p:nvSpPr>
        <p:spPr>
          <a:xfrm>
            <a:off x="5394960" y="4133088"/>
            <a:ext cx="2032228" cy="329184"/>
          </a:xfrm>
          <a:prstGeom prst="roundRect">
            <a:avLst>
              <a:gd name="adj" fmla="val 11111"/>
            </a:avLst>
          </a:prstGeom>
          <a:solidFill>
            <a:srgbClr val="C8553A"/>
          </a:solidFill>
          <a:ln w="12700">
            <a:solidFill>
              <a:srgbClr val="C8553A"/>
            </a:solidFill>
            <a:prstDash val="solid"/>
          </a:ln>
        </p:spPr>
        <p:txBody>
          <a:bodyPr/>
          <a:lstStyle/>
          <a:p>
            <a:endParaRPr lang="en-VN"/>
          </a:p>
        </p:txBody>
      </p:sp>
      <p:sp>
        <p:nvSpPr>
          <p:cNvPr id="24" name="Text 22"/>
          <p:cNvSpPr txBox="1"/>
          <p:nvPr/>
        </p:nvSpPr>
        <p:spPr>
          <a:xfrm>
            <a:off x="7518628" y="3931920"/>
            <a:ext cx="777240" cy="731520"/>
          </a:xfrm>
          <a:prstGeom prst="rect">
            <a:avLst/>
          </a:prstGeom>
          <a:noFill/>
          <a:ln/>
        </p:spPr>
        <p:txBody>
          <a:bodyPr wrap="square" lIns="0" tIns="0" rIns="0" bIns="0" rtlCol="0" anchor="ctr"/>
          <a:lstStyle/>
          <a:p>
            <a:pPr marL="0" indent="0">
              <a:buNone/>
            </a:pPr>
            <a:r>
              <a:rPr lang="en-US" sz="1600" b="1" dirty="0">
                <a:solidFill>
                  <a:srgbClr val="C8553A"/>
                </a:solidFill>
                <a:latin typeface="Calibri" pitchFamily="34" charset="0"/>
                <a:ea typeface="Calibri" pitchFamily="34" charset="-122"/>
                <a:cs typeface="Calibri" pitchFamily="34" charset="-120"/>
              </a:rPr>
              <a:t>-0,86</a:t>
            </a:r>
            <a:endParaRPr lang="en-US" sz="1600" dirty="0"/>
          </a:p>
        </p:txBody>
      </p:sp>
      <p:sp>
        <p:nvSpPr>
          <p:cNvPr id="25" name="Shape 23"/>
          <p:cNvSpPr/>
          <p:nvPr/>
        </p:nvSpPr>
        <p:spPr>
          <a:xfrm>
            <a:off x="548640" y="4800600"/>
            <a:ext cx="7680960" cy="731520"/>
          </a:xfrm>
          <a:prstGeom prst="roundRect">
            <a:avLst>
              <a:gd name="adj" fmla="val 12500"/>
            </a:avLst>
          </a:prstGeom>
          <a:solidFill>
            <a:srgbClr val="FBEAE3"/>
          </a:solidFill>
          <a:ln w="12700">
            <a:solidFill>
              <a:srgbClr val="FBEAE3"/>
            </a:solidFill>
            <a:prstDash val="solid"/>
          </a:ln>
        </p:spPr>
        <p:txBody>
          <a:bodyPr/>
          <a:lstStyle/>
          <a:p>
            <a:endParaRPr lang="en-VN"/>
          </a:p>
        </p:txBody>
      </p:sp>
      <p:sp>
        <p:nvSpPr>
          <p:cNvPr id="26" name="Text 24"/>
          <p:cNvSpPr txBox="1"/>
          <p:nvPr/>
        </p:nvSpPr>
        <p:spPr>
          <a:xfrm>
            <a:off x="777240" y="4800600"/>
            <a:ext cx="3017520" cy="731520"/>
          </a:xfrm>
          <a:prstGeom prst="rect">
            <a:avLst/>
          </a:prstGeom>
          <a:noFill/>
          <a:ln/>
        </p:spPr>
        <p:txBody>
          <a:bodyPr wrap="square" lIns="0" tIns="0" rIns="0" bIns="0" rtlCol="0" anchor="ctr"/>
          <a:lstStyle/>
          <a:p>
            <a:pPr marL="0" indent="0">
              <a:buNone/>
            </a:pPr>
            <a:r>
              <a:rPr lang="en-US" sz="1600" b="1" dirty="0">
                <a:solidFill>
                  <a:srgbClr val="13303A"/>
                </a:solidFill>
                <a:latin typeface="Calibri" pitchFamily="34" charset="0"/>
                <a:ea typeface="Calibri" pitchFamily="34" charset="-122"/>
                <a:cs typeface="Calibri" pitchFamily="34" charset="-120"/>
              </a:rPr>
              <a:t>Bảng + TF-IDF/SVD + cờ</a:t>
            </a:r>
            <a:endParaRPr lang="en-US" sz="1600" dirty="0"/>
          </a:p>
        </p:txBody>
      </p:sp>
      <p:sp>
        <p:nvSpPr>
          <p:cNvPr id="27" name="Text 25"/>
          <p:cNvSpPr txBox="1"/>
          <p:nvPr/>
        </p:nvSpPr>
        <p:spPr>
          <a:xfrm>
            <a:off x="3840480" y="4800600"/>
            <a:ext cx="1188720" cy="731520"/>
          </a:xfrm>
          <a:prstGeom prst="rect">
            <a:avLst/>
          </a:prstGeom>
          <a:noFill/>
          <a:ln/>
        </p:spPr>
        <p:txBody>
          <a:bodyPr wrap="square" lIns="0" tIns="0" rIns="0" bIns="0" rtlCol="0" anchor="ctr"/>
          <a:lstStyle/>
          <a:p>
            <a:pPr marL="0" indent="0" algn="r">
              <a:buNone/>
            </a:pPr>
            <a:r>
              <a:rPr lang="en-US" sz="1900" b="1" dirty="0">
                <a:solidFill>
                  <a:srgbClr val="13303A"/>
                </a:solidFill>
                <a:latin typeface="Calibri" pitchFamily="34" charset="0"/>
                <a:ea typeface="Calibri" pitchFamily="34" charset="-122"/>
                <a:cs typeface="Calibri" pitchFamily="34" charset="-120"/>
              </a:rPr>
              <a:t>13,88</a:t>
            </a:r>
            <a:endParaRPr lang="en-US" sz="1900" dirty="0"/>
          </a:p>
        </p:txBody>
      </p:sp>
      <p:sp>
        <p:nvSpPr>
          <p:cNvPr id="28" name="Shape 26"/>
          <p:cNvSpPr/>
          <p:nvPr/>
        </p:nvSpPr>
        <p:spPr>
          <a:xfrm>
            <a:off x="5394960" y="5001768"/>
            <a:ext cx="2103120" cy="329184"/>
          </a:xfrm>
          <a:prstGeom prst="roundRect">
            <a:avLst>
              <a:gd name="adj" fmla="val 11111"/>
            </a:avLst>
          </a:prstGeom>
          <a:solidFill>
            <a:srgbClr val="C8553A"/>
          </a:solidFill>
          <a:ln w="12700">
            <a:solidFill>
              <a:srgbClr val="C8553A"/>
            </a:solidFill>
            <a:prstDash val="solid"/>
          </a:ln>
        </p:spPr>
        <p:txBody>
          <a:bodyPr/>
          <a:lstStyle/>
          <a:p>
            <a:endParaRPr lang="en-VN"/>
          </a:p>
        </p:txBody>
      </p:sp>
      <p:sp>
        <p:nvSpPr>
          <p:cNvPr id="29" name="Text 27"/>
          <p:cNvSpPr txBox="1"/>
          <p:nvPr/>
        </p:nvSpPr>
        <p:spPr>
          <a:xfrm>
            <a:off x="7589520" y="4800600"/>
            <a:ext cx="777240" cy="731520"/>
          </a:xfrm>
          <a:prstGeom prst="rect">
            <a:avLst/>
          </a:prstGeom>
          <a:noFill/>
          <a:ln/>
        </p:spPr>
        <p:txBody>
          <a:bodyPr wrap="square" lIns="0" tIns="0" rIns="0" bIns="0" rtlCol="0" anchor="ctr"/>
          <a:lstStyle/>
          <a:p>
            <a:pPr marL="0" indent="0">
              <a:buNone/>
            </a:pPr>
            <a:r>
              <a:rPr lang="en-US" sz="1600" b="1" dirty="0">
                <a:solidFill>
                  <a:srgbClr val="C8553A"/>
                </a:solidFill>
                <a:latin typeface="Calibri" pitchFamily="34" charset="0"/>
                <a:ea typeface="Calibri" pitchFamily="34" charset="-122"/>
                <a:cs typeface="Calibri" pitchFamily="34" charset="-120"/>
              </a:rPr>
              <a:t>-0,89</a:t>
            </a:r>
            <a:endParaRPr lang="en-US" sz="1600" dirty="0"/>
          </a:p>
        </p:txBody>
      </p:sp>
      <p:sp>
        <p:nvSpPr>
          <p:cNvPr id="30" name="Shape 28"/>
          <p:cNvSpPr/>
          <p:nvPr/>
        </p:nvSpPr>
        <p:spPr>
          <a:xfrm>
            <a:off x="8549640" y="2194560"/>
            <a:ext cx="3063240" cy="2103120"/>
          </a:xfrm>
          <a:prstGeom prst="roundRect">
            <a:avLst>
              <a:gd name="adj" fmla="val 4348"/>
            </a:avLst>
          </a:prstGeom>
          <a:solidFill>
            <a:srgbClr val="13303A"/>
          </a:solidFill>
          <a:ln w="12700">
            <a:solidFill>
              <a:srgbClr val="13303A"/>
            </a:solidFill>
            <a:prstDash val="solid"/>
          </a:ln>
        </p:spPr>
        <p:txBody>
          <a:bodyPr/>
          <a:lstStyle/>
          <a:p>
            <a:endParaRPr lang="en-VN"/>
          </a:p>
        </p:txBody>
      </p:sp>
      <p:sp>
        <p:nvSpPr>
          <p:cNvPr id="31" name="Text 29"/>
          <p:cNvSpPr txBox="1"/>
          <p:nvPr/>
        </p:nvSpPr>
        <p:spPr>
          <a:xfrm>
            <a:off x="8823960" y="2331720"/>
            <a:ext cx="2651760" cy="914400"/>
          </a:xfrm>
          <a:prstGeom prst="rect">
            <a:avLst/>
          </a:prstGeom>
          <a:noFill/>
          <a:ln/>
        </p:spPr>
        <p:txBody>
          <a:bodyPr wrap="square" lIns="0" tIns="0" rIns="0" bIns="0"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-0,89</a:t>
            </a:r>
            <a:endParaRPr lang="en-US" sz="5000" dirty="0"/>
          </a:p>
        </p:txBody>
      </p:sp>
      <p:sp>
        <p:nvSpPr>
          <p:cNvPr id="32" name="Text 30"/>
          <p:cNvSpPr txBox="1"/>
          <p:nvPr/>
        </p:nvSpPr>
        <p:spPr>
          <a:xfrm>
            <a:off x="8823960" y="3291840"/>
            <a:ext cx="2651760" cy="822960"/>
          </a:xfrm>
          <a:prstGeom prst="rect">
            <a:avLst/>
          </a:prstGeom>
          <a:noFill/>
          <a:ln/>
        </p:spPr>
        <p:txBody>
          <a:bodyPr wrap="square" lIns="0" tIns="0" rIns="0" bIns="0" rtlCol="0" anchor="t"/>
          <a:lstStyle/>
          <a:p>
            <a:pPr marL="0" indent="0">
              <a:buNone/>
            </a:pPr>
            <a:r>
              <a:rPr lang="en-US" sz="1450" dirty="0">
                <a:solidFill>
                  <a:srgbClr val="B4CAD0"/>
                </a:solidFill>
                <a:latin typeface="Calibri" pitchFamily="34" charset="0"/>
                <a:ea typeface="Calibri" pitchFamily="34" charset="-122"/>
                <a:cs typeface="Calibri" pitchFamily="34" charset="-120"/>
              </a:rPr>
              <a:t>điểm % MdAPE khi thêm</a:t>
            </a:r>
            <a:endParaRPr lang="en-US" sz="1450" dirty="0"/>
          </a:p>
          <a:p>
            <a:pPr marL="0" indent="0">
              <a:buNone/>
            </a:pPr>
            <a:r>
              <a:rPr lang="en-US" sz="1450" dirty="0">
                <a:solidFill>
                  <a:srgbClr val="B4CAD0"/>
                </a:solidFill>
                <a:latin typeface="Calibri" pitchFamily="34" charset="0"/>
                <a:ea typeface="Calibri" pitchFamily="34" charset="-122"/>
                <a:cs typeface="Calibri" pitchFamily="34" charset="-120"/>
              </a:rPr>
              <a:t>TF-IDF/SVD và cờ văn bản</a:t>
            </a:r>
            <a:endParaRPr lang="en-US" sz="1450" dirty="0"/>
          </a:p>
        </p:txBody>
      </p:sp>
      <p:sp>
        <p:nvSpPr>
          <p:cNvPr id="33" name="Shape 31"/>
          <p:cNvSpPr/>
          <p:nvPr/>
        </p:nvSpPr>
        <p:spPr>
          <a:xfrm>
            <a:off x="8549640" y="4480560"/>
            <a:ext cx="3063240" cy="1051560"/>
          </a:xfrm>
          <a:prstGeom prst="roundRect">
            <a:avLst>
              <a:gd name="adj" fmla="val 8696"/>
            </a:avLst>
          </a:prstGeom>
          <a:solidFill>
            <a:srgbClr val="EAF2F3"/>
          </a:solidFill>
          <a:ln w="12700">
            <a:solidFill>
              <a:srgbClr val="EAF2F3"/>
            </a:solidFill>
            <a:prstDash val="solid"/>
          </a:ln>
        </p:spPr>
        <p:txBody>
          <a:bodyPr/>
          <a:lstStyle/>
          <a:p>
            <a:endParaRPr lang="en-VN"/>
          </a:p>
        </p:txBody>
      </p:sp>
      <p:sp>
        <p:nvSpPr>
          <p:cNvPr id="34" name="Text 32"/>
          <p:cNvSpPr txBox="1"/>
          <p:nvPr/>
        </p:nvSpPr>
        <p:spPr>
          <a:xfrm>
            <a:off x="8732520" y="4480560"/>
            <a:ext cx="2743200" cy="1051560"/>
          </a:xfrm>
          <a:prstGeom prst="rect">
            <a:avLst/>
          </a:prstGeom>
          <a:noFill/>
          <a:ln/>
        </p:spPr>
        <p:txBody>
          <a:bodyPr wrap="square" lIns="0" tIns="0" rIns="0" bIns="0" rtlCol="0" anchor="ctr"/>
          <a:lstStyle/>
          <a:p>
            <a:pPr marL="0" indent="0">
              <a:buNone/>
            </a:pPr>
            <a:r>
              <a:rPr lang="en-US" sz="1300" dirty="0">
                <a:solidFill>
                  <a:srgbClr val="1B2A30"/>
                </a:solidFill>
                <a:latin typeface="Calibri" pitchFamily="34" charset="0"/>
                <a:ea typeface="Calibri" pitchFamily="34" charset="-122"/>
                <a:cs typeface="Calibri" pitchFamily="34" charset="-120"/>
              </a:rPr>
              <a:t>Cùng bộ fold, cùng mô hình (LightGBM), cùng ngân sách. Khác biệt duy nhất là nhánh văn bản.</a:t>
            </a:r>
            <a:endParaRPr lang="en-US" sz="1300" dirty="0"/>
          </a:p>
        </p:txBody>
      </p:sp>
      <p:sp>
        <p:nvSpPr>
          <p:cNvPr id="35" name="Text 33"/>
          <p:cNvSpPr txBox="1"/>
          <p:nvPr/>
        </p:nvSpPr>
        <p:spPr>
          <a:xfrm>
            <a:off x="548640" y="5669280"/>
            <a:ext cx="11064240" cy="548640"/>
          </a:xfrm>
          <a:prstGeom prst="rect">
            <a:avLst/>
          </a:prstGeom>
          <a:noFill/>
          <a:ln/>
        </p:spPr>
        <p:txBody>
          <a:bodyPr wrap="square" lIns="0" tIns="0" rIns="0" bIns="0" rtlCol="0" anchor="t"/>
          <a:lstStyle/>
          <a:p>
            <a:pPr marL="0" indent="0">
              <a:buNone/>
            </a:pPr>
            <a:r>
              <a:rPr lang="en-US" sz="1300" b="1" dirty="0">
                <a:solidFill>
                  <a:srgbClr val="5B6D74"/>
                </a:solidFill>
                <a:latin typeface="Calibri" pitchFamily="34" charset="0"/>
                <a:ea typeface="Calibri" pitchFamily="34" charset="-122"/>
                <a:cs typeface="Calibri" pitchFamily="34" charset="-120"/>
              </a:rPr>
              <a:t>Đọc đúng cỡ hiệu ứng: </a:t>
            </a:r>
            <a:r>
              <a:rPr lang="en-US" sz="1300" dirty="0">
                <a:solidFill>
                  <a:srgbClr val="5B6D74"/>
                </a:solidFill>
                <a:latin typeface="Calibri" pitchFamily="34" charset="0"/>
                <a:ea typeface="Calibri" pitchFamily="34" charset="-122"/>
                <a:cs typeface="Calibri" pitchFamily="34" charset="-120"/>
              </a:rPr>
              <a:t>độ lệch chuẩn giữa các fold tới 1,19, lớn hơn mức giảm. Bốn cấu hình dùng chung bộ fold nên đây là phép so bắt cặp: một xu hướng nhất quán về dấu, chưa phải con số chốt.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KẾT QUẢ · E2</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E2: trôi giá theo thời gian</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783080"/>
            <a:ext cx="4114800" cy="1188720"/>
          </a:xfrm>
          <a:prstGeom prst="roundRect">
            <a:avLst>
              <a:gd name="adj" fmla="val 7692"/>
            </a:avLst>
          </a:prstGeom>
          <a:solidFill>
            <a:srgbClr val="EAF2F3"/>
          </a:solidFill>
          <a:ln w="12700">
            <a:solidFill>
              <a:srgbClr val="EAF2F3"/>
            </a:solidFill>
            <a:prstDash val="solid"/>
          </a:ln>
        </p:spPr>
        <p:txBody>
          <a:bodyPr/>
          <a:lstStyle/>
          <a:p>
            <a:endParaRPr lang="en-VN"/>
          </a:p>
        </p:txBody>
      </p:sp>
      <p:sp>
        <p:nvSpPr>
          <p:cNvPr id="9" name="Text 7"/>
          <p:cNvSpPr txBox="1"/>
          <p:nvPr/>
        </p:nvSpPr>
        <p:spPr>
          <a:xfrm>
            <a:off x="822960" y="1901952"/>
            <a:ext cx="2743200" cy="256032"/>
          </a:xfrm>
          <a:prstGeom prst="rect">
            <a:avLst/>
          </a:prstGeom>
          <a:noFill/>
          <a:ln/>
        </p:spPr>
        <p:txBody>
          <a:bodyPr wrap="square" lIns="0" tIns="0" rIns="0" bIns="0" rtlCol="0" anchor="t"/>
          <a:lstStyle/>
          <a:p>
            <a:pPr marL="0" indent="0">
              <a:buNone/>
            </a:pPr>
            <a:r>
              <a:rPr lang="en-US" sz="1100" b="1" kern="0" spc="100" dirty="0">
                <a:solidFill>
                  <a:srgbClr val="C8553A"/>
                </a:solidFill>
                <a:latin typeface="Calibri" pitchFamily="34" charset="0"/>
                <a:ea typeface="Calibri" pitchFamily="34" charset="-122"/>
                <a:cs typeface="Calibri" pitchFamily="34" charset="-120"/>
              </a:rPr>
              <a:t>HUẤN LUYỆN</a:t>
            </a:r>
            <a:endParaRPr lang="en-US" sz="1100" dirty="0"/>
          </a:p>
        </p:txBody>
      </p:sp>
      <p:sp>
        <p:nvSpPr>
          <p:cNvPr id="10" name="Text 8"/>
          <p:cNvSpPr txBox="1"/>
          <p:nvPr/>
        </p:nvSpPr>
        <p:spPr>
          <a:xfrm>
            <a:off x="822960" y="2157984"/>
            <a:ext cx="3657600" cy="411480"/>
          </a:xfrm>
          <a:prstGeom prst="rect">
            <a:avLst/>
          </a:prstGeom>
          <a:noFill/>
          <a:ln/>
        </p:spPr>
        <p:txBody>
          <a:bodyPr wrap="square" lIns="0" tIns="0" rIns="0" bIns="0" rtlCol="0" anchor="t"/>
          <a:lstStyle/>
          <a:p>
            <a:pPr marL="0" indent="0">
              <a:buNone/>
            </a:pPr>
            <a:r>
              <a:rPr lang="en-US" sz="2100" b="1" dirty="0">
                <a:solidFill>
                  <a:srgbClr val="13303A"/>
                </a:solidFill>
                <a:latin typeface="Calibri" pitchFamily="34" charset="0"/>
                <a:ea typeface="Calibri" pitchFamily="34" charset="-122"/>
                <a:cs typeface="Calibri" pitchFamily="34" charset="-120"/>
              </a:rPr>
              <a:t>Tin ≤ 06/2025</a:t>
            </a:r>
            <a:endParaRPr lang="en-US" sz="2100" dirty="0"/>
          </a:p>
        </p:txBody>
      </p:sp>
      <p:sp>
        <p:nvSpPr>
          <p:cNvPr id="11" name="Text 9"/>
          <p:cNvSpPr txBox="1"/>
          <p:nvPr/>
        </p:nvSpPr>
        <p:spPr>
          <a:xfrm>
            <a:off x="822960" y="2578608"/>
            <a:ext cx="3657600" cy="274320"/>
          </a:xfrm>
          <a:prstGeom prst="rect">
            <a:avLst/>
          </a:prstGeom>
          <a:noFill/>
          <a:ln/>
        </p:spPr>
        <p:txBody>
          <a:bodyPr wrap="square" lIns="0" tIns="0" rIns="0" bIns="0" rtlCol="0" anchor="t"/>
          <a:lstStyle/>
          <a:p>
            <a:pPr marL="0" indent="0">
              <a:buNone/>
            </a:pPr>
            <a:r>
              <a:rPr lang="en-US" sz="1300" dirty="0">
                <a:solidFill>
                  <a:srgbClr val="5B6D74"/>
                </a:solidFill>
                <a:latin typeface="Calibri" pitchFamily="34" charset="0"/>
                <a:ea typeface="Calibri" pitchFamily="34" charset="-122"/>
                <a:cs typeface="Calibri" pitchFamily="34" charset="-120"/>
              </a:rPr>
              <a:t>31.947 tin, bộ lịch sử</a:t>
            </a:r>
            <a:endParaRPr lang="en-US" sz="1300" dirty="0"/>
          </a:p>
        </p:txBody>
      </p:sp>
      <p:sp>
        <p:nvSpPr>
          <p:cNvPr id="12" name="Shape 10"/>
          <p:cNvSpPr/>
          <p:nvPr/>
        </p:nvSpPr>
        <p:spPr>
          <a:xfrm>
            <a:off x="2606040" y="3008376"/>
            <a:ext cx="0" cy="338328"/>
          </a:xfrm>
          <a:prstGeom prst="line">
            <a:avLst/>
          </a:prstGeom>
          <a:noFill/>
          <a:ln w="19050">
            <a:solidFill>
              <a:srgbClr val="5B6D74"/>
            </a:solidFill>
            <a:prstDash val="solid"/>
            <a:tailEnd type="triangle"/>
          </a:ln>
        </p:spPr>
        <p:txBody>
          <a:bodyPr/>
          <a:lstStyle/>
          <a:p>
            <a:endParaRPr lang="en-VN"/>
          </a:p>
        </p:txBody>
      </p:sp>
      <p:sp>
        <p:nvSpPr>
          <p:cNvPr id="13" name="Shape 11"/>
          <p:cNvSpPr/>
          <p:nvPr/>
        </p:nvSpPr>
        <p:spPr>
          <a:xfrm>
            <a:off x="548640" y="3383280"/>
            <a:ext cx="4114800" cy="1188720"/>
          </a:xfrm>
          <a:prstGeom prst="roundRect">
            <a:avLst>
              <a:gd name="adj" fmla="val 7692"/>
            </a:avLst>
          </a:prstGeom>
          <a:solidFill>
            <a:srgbClr val="13303A"/>
          </a:solidFill>
          <a:ln w="12700">
            <a:solidFill>
              <a:srgbClr val="13303A"/>
            </a:solidFill>
            <a:prstDash val="solid"/>
          </a:ln>
        </p:spPr>
        <p:txBody>
          <a:bodyPr/>
          <a:lstStyle/>
          <a:p>
            <a:endParaRPr lang="en-VN"/>
          </a:p>
        </p:txBody>
      </p:sp>
      <p:sp>
        <p:nvSpPr>
          <p:cNvPr id="14" name="Text 12"/>
          <p:cNvSpPr txBox="1"/>
          <p:nvPr/>
        </p:nvSpPr>
        <p:spPr>
          <a:xfrm>
            <a:off x="822960" y="3502152"/>
            <a:ext cx="2743200" cy="256032"/>
          </a:xfrm>
          <a:prstGeom prst="rect">
            <a:avLst/>
          </a:prstGeom>
          <a:noFill/>
          <a:ln/>
        </p:spPr>
        <p:txBody>
          <a:bodyPr wrap="square" lIns="0" tIns="0" rIns="0" bIns="0" rtlCol="0" anchor="t"/>
          <a:lstStyle/>
          <a:p>
            <a:pPr marL="0" indent="0">
              <a:buNone/>
            </a:pPr>
            <a:r>
              <a:rPr lang="en-US" sz="1100" b="1" kern="0" spc="100" dirty="0">
                <a:solidFill>
                  <a:srgbClr val="F2A283"/>
                </a:solidFill>
                <a:latin typeface="Calibri" pitchFamily="34" charset="0"/>
                <a:ea typeface="Calibri" pitchFamily="34" charset="-122"/>
                <a:cs typeface="Calibri" pitchFamily="34" charset="-120"/>
              </a:rPr>
              <a:t>KIỂM TRA</a:t>
            </a:r>
            <a:endParaRPr lang="en-US" sz="1100" dirty="0"/>
          </a:p>
        </p:txBody>
      </p:sp>
      <p:sp>
        <p:nvSpPr>
          <p:cNvPr id="15" name="Text 13"/>
          <p:cNvSpPr txBox="1"/>
          <p:nvPr/>
        </p:nvSpPr>
        <p:spPr>
          <a:xfrm>
            <a:off x="822960" y="3758184"/>
            <a:ext cx="3657600" cy="411480"/>
          </a:xfrm>
          <a:prstGeom prst="rect">
            <a:avLst/>
          </a:prstGeom>
          <a:noFill/>
          <a:ln/>
        </p:spPr>
        <p:txBody>
          <a:bodyPr wrap="square" lIns="0" tIns="0" rIns="0" bIns="0" rtlCol="0" anchor="t"/>
          <a:lstStyle/>
          <a:p>
            <a:pPr marL="0" indent="0">
              <a:buNone/>
            </a:pPr>
            <a:r>
              <a:rPr lang="en-US" sz="2100" b="1" dirty="0">
                <a:solidFill>
                  <a:srgbClr val="FFFFFF"/>
                </a:solidFill>
                <a:latin typeface="Calibri" pitchFamily="34" charset="0"/>
                <a:ea typeface="Calibri" pitchFamily="34" charset="-122"/>
                <a:cs typeface="Calibri" pitchFamily="34" charset="-120"/>
              </a:rPr>
              <a:t>Tin crawl 08/2026</a:t>
            </a:r>
            <a:endParaRPr lang="en-US" sz="2100" dirty="0"/>
          </a:p>
        </p:txBody>
      </p:sp>
      <p:sp>
        <p:nvSpPr>
          <p:cNvPr id="16" name="Text 14"/>
          <p:cNvSpPr txBox="1"/>
          <p:nvPr/>
        </p:nvSpPr>
        <p:spPr>
          <a:xfrm>
            <a:off x="822960" y="4178808"/>
            <a:ext cx="3657600" cy="274320"/>
          </a:xfrm>
          <a:prstGeom prst="rect">
            <a:avLst/>
          </a:prstGeom>
          <a:noFill/>
          <a:ln/>
        </p:spPr>
        <p:txBody>
          <a:bodyPr wrap="square" lIns="0" tIns="0" rIns="0" bIns="0" rtlCol="0" anchor="t"/>
          <a:lstStyle/>
          <a:p>
            <a:pPr marL="0" indent="0">
              <a:buNone/>
            </a:pPr>
            <a:r>
              <a:rPr lang="en-US" sz="1300" dirty="0">
                <a:solidFill>
                  <a:srgbClr val="B4CAD0"/>
                </a:solidFill>
                <a:latin typeface="Calibri" pitchFamily="34" charset="0"/>
                <a:ea typeface="Calibri" pitchFamily="34" charset="-122"/>
                <a:cs typeface="Calibri" pitchFamily="34" charset="-120"/>
              </a:rPr>
              <a:t>2.326 tin Chợ Tốt</a:t>
            </a:r>
            <a:endParaRPr lang="en-US" sz="1300" dirty="0"/>
          </a:p>
        </p:txBody>
      </p:sp>
      <p:sp>
        <p:nvSpPr>
          <p:cNvPr id="17" name="Shape 15"/>
          <p:cNvSpPr/>
          <p:nvPr/>
        </p:nvSpPr>
        <p:spPr>
          <a:xfrm>
            <a:off x="548640" y="4754880"/>
            <a:ext cx="4114800" cy="1417320"/>
          </a:xfrm>
          <a:prstGeom prst="roundRect">
            <a:avLst>
              <a:gd name="adj" fmla="val 6452"/>
            </a:avLst>
          </a:prstGeom>
          <a:solidFill>
            <a:srgbClr val="FBEAE3"/>
          </a:solidFill>
          <a:ln w="12700">
            <a:solidFill>
              <a:srgbClr val="FBEAE3"/>
            </a:solidFill>
            <a:prstDash val="solid"/>
          </a:ln>
        </p:spPr>
        <p:txBody>
          <a:bodyPr/>
          <a:lstStyle/>
          <a:p>
            <a:endParaRPr lang="en-VN"/>
          </a:p>
        </p:txBody>
      </p:sp>
      <p:sp>
        <p:nvSpPr>
          <p:cNvPr id="18" name="Text 16"/>
          <p:cNvSpPr txBox="1"/>
          <p:nvPr/>
        </p:nvSpPr>
        <p:spPr>
          <a:xfrm>
            <a:off x="777240" y="4846320"/>
            <a:ext cx="1417320" cy="685800"/>
          </a:xfrm>
          <a:prstGeom prst="rect">
            <a:avLst/>
          </a:prstGeom>
          <a:noFill/>
          <a:ln/>
        </p:spPr>
        <p:txBody>
          <a:bodyPr wrap="square" lIns="0" tIns="0" rIns="0" bIns="0" rtlCol="0" anchor="ctr"/>
          <a:lstStyle/>
          <a:p>
            <a:pPr marL="0" indent="0">
              <a:buNone/>
            </a:pPr>
            <a:r>
              <a:rPr lang="en-US" sz="3800" b="1" dirty="0">
                <a:solidFill>
                  <a:srgbClr val="C8553A"/>
                </a:solidFill>
                <a:latin typeface="Calibri" pitchFamily="34" charset="0"/>
                <a:ea typeface="Calibri" pitchFamily="34" charset="-122"/>
                <a:cs typeface="Calibri" pitchFamily="34" charset="-120"/>
              </a:rPr>
              <a:t>+2,8</a:t>
            </a:r>
            <a:endParaRPr lang="en-US" sz="3800" dirty="0"/>
          </a:p>
        </p:txBody>
      </p:sp>
      <p:sp>
        <p:nvSpPr>
          <p:cNvPr id="19" name="Text 17"/>
          <p:cNvSpPr txBox="1"/>
          <p:nvPr/>
        </p:nvSpPr>
        <p:spPr>
          <a:xfrm>
            <a:off x="2194560" y="4846320"/>
            <a:ext cx="2331720" cy="685800"/>
          </a:xfrm>
          <a:prstGeom prst="rect">
            <a:avLst/>
          </a:prstGeom>
          <a:noFill/>
          <a:ln/>
        </p:spPr>
        <p:txBody>
          <a:bodyPr wrap="square" lIns="0" tIns="0" rIns="0" bIns="0" rtlCol="0" anchor="ctr"/>
          <a:lstStyle/>
          <a:p>
            <a:pPr marL="0" indent="0">
              <a:buNone/>
            </a:pPr>
            <a:r>
              <a:rPr lang="en-US" sz="1300" b="1" dirty="0">
                <a:solidFill>
                  <a:srgbClr val="1B2A30"/>
                </a:solidFill>
                <a:latin typeface="Calibri" pitchFamily="34" charset="0"/>
                <a:ea typeface="Calibri" pitchFamily="34" charset="-122"/>
                <a:cs typeface="Calibri" pitchFamily="34" charset="-120"/>
              </a:rPr>
              <a:t>điểm % MdAPE: trung vị mức xấu đi khi chuyển giao</a:t>
            </a:r>
            <a:endParaRPr lang="en-US" sz="1300" dirty="0"/>
          </a:p>
        </p:txBody>
      </p:sp>
      <p:sp>
        <p:nvSpPr>
          <p:cNvPr id="20" name="Text 18"/>
          <p:cNvSpPr txBox="1"/>
          <p:nvPr/>
        </p:nvSpPr>
        <p:spPr>
          <a:xfrm>
            <a:off x="777240" y="5623560"/>
            <a:ext cx="3749040" cy="365760"/>
          </a:xfrm>
          <a:prstGeom prst="rect">
            <a:avLst/>
          </a:prstGeom>
          <a:noFill/>
          <a:ln/>
        </p:spPr>
        <p:txBody>
          <a:bodyPr wrap="square" lIns="0" tIns="0" rIns="0" bIns="0" rtlCol="0" anchor="t"/>
          <a:lstStyle/>
          <a:p>
            <a:pPr marL="0" indent="0">
              <a:buNone/>
            </a:pPr>
            <a:r>
              <a:rPr lang="en-US" sz="1300" dirty="0">
                <a:solidFill>
                  <a:srgbClr val="1B2A30"/>
                </a:solidFill>
                <a:latin typeface="Calibri" pitchFamily="34" charset="0"/>
                <a:ea typeface="Calibri" pitchFamily="34" charset="-122"/>
                <a:cs typeface="Calibri" pitchFamily="34" charset="-120"/>
              </a:rPr>
              <a:t>CatBoost +0,8 · LightGBM +2,4 · XGBoost +3,1</a:t>
            </a:r>
            <a:endParaRPr lang="en-US" sz="1300" dirty="0"/>
          </a:p>
        </p:txBody>
      </p:sp>
      <p:pic>
        <p:nvPicPr>
          <p:cNvPr id="21" name="Image 0" descr="Giá/m² trung vị theo tháng ở năm quận"/>
          <p:cNvPicPr>
            <a:picLocks noChangeAspect="1"/>
          </p:cNvPicPr>
          <p:nvPr/>
        </p:nvPicPr>
        <p:blipFill>
          <a:blip r:embed="rId3"/>
          <a:stretch>
            <a:fillRect/>
          </a:stretch>
        </p:blipFill>
        <p:spPr>
          <a:xfrm>
            <a:off x="5029200" y="1783080"/>
            <a:ext cx="6583680" cy="2743200"/>
          </a:xfrm>
          <a:prstGeom prst="rect">
            <a:avLst/>
          </a:prstGeom>
        </p:spPr>
      </p:pic>
      <p:sp>
        <p:nvSpPr>
          <p:cNvPr id="22" name="Shape 19"/>
          <p:cNvSpPr/>
          <p:nvPr/>
        </p:nvSpPr>
        <p:spPr>
          <a:xfrm>
            <a:off x="5029200" y="4754880"/>
            <a:ext cx="3200400" cy="1417320"/>
          </a:xfrm>
          <a:prstGeom prst="roundRect">
            <a:avLst>
              <a:gd name="adj" fmla="val 6452"/>
            </a:avLst>
          </a:prstGeom>
          <a:solidFill>
            <a:srgbClr val="EAF2F3"/>
          </a:solidFill>
          <a:ln w="12700">
            <a:solidFill>
              <a:srgbClr val="EAF2F3"/>
            </a:solidFill>
            <a:prstDash val="solid"/>
          </a:ln>
        </p:spPr>
        <p:txBody>
          <a:bodyPr/>
          <a:lstStyle/>
          <a:p>
            <a:endParaRPr lang="en-VN"/>
          </a:p>
        </p:txBody>
      </p:sp>
      <p:pic>
        <p:nvPicPr>
          <p:cNvPr id="23" name="Image 1" descr="preencoded.png"/>
          <p:cNvPicPr>
            <a:picLocks noChangeAspect="1"/>
          </p:cNvPicPr>
          <p:nvPr/>
        </p:nvPicPr>
        <p:blipFill>
          <a:blip r:embed="rId4"/>
          <a:stretch>
            <a:fillRect/>
          </a:stretch>
        </p:blipFill>
        <p:spPr>
          <a:xfrm>
            <a:off x="5230368" y="4919472"/>
            <a:ext cx="292608" cy="292608"/>
          </a:xfrm>
          <a:prstGeom prst="rect">
            <a:avLst/>
          </a:prstGeom>
        </p:spPr>
      </p:pic>
      <p:sp>
        <p:nvSpPr>
          <p:cNvPr id="24" name="Text 20"/>
          <p:cNvSpPr txBox="1"/>
          <p:nvPr/>
        </p:nvSpPr>
        <p:spPr>
          <a:xfrm>
            <a:off x="5623560" y="4864608"/>
            <a:ext cx="2487168" cy="1234440"/>
          </a:xfrm>
          <a:prstGeom prst="rect">
            <a:avLst/>
          </a:prstGeom>
          <a:noFill/>
          <a:ln/>
        </p:spPr>
        <p:txBody>
          <a:bodyPr wrap="square" lIns="0" tIns="0" rIns="0" bIns="0" rtlCol="0" anchor="t"/>
          <a:lstStyle/>
          <a:p>
            <a:pPr marL="0" indent="0">
              <a:buNone/>
            </a:pPr>
            <a:r>
              <a:rPr lang="en-US" sz="1300" b="1" dirty="0">
                <a:solidFill>
                  <a:srgbClr val="1B2A30"/>
                </a:solidFill>
                <a:latin typeface="Calibri" pitchFamily="34" charset="0"/>
                <a:ea typeface="Calibri" pitchFamily="34" charset="-122"/>
                <a:cs typeface="Calibri" pitchFamily="34" charset="-120"/>
              </a:rPr>
              <a:t>Cả hai phía đều là giá rao</a:t>
            </a:r>
            <a:r>
              <a:rPr lang="en-US" sz="1300" dirty="0">
                <a:solidFill>
                  <a:srgbClr val="1B2A30"/>
                </a:solidFill>
                <a:latin typeface="Calibri" pitchFamily="34" charset="0"/>
                <a:ea typeface="Calibri" pitchFamily="34" charset="-122"/>
                <a:cs typeface="Calibri" pitchFamily="34" charset="-120"/>
              </a:rPr>
              <a:t>, nên không lẫn khoảng cách giá rao / giá giao dịch.</a:t>
            </a:r>
            <a:endParaRPr lang="en-US" sz="1300" dirty="0"/>
          </a:p>
        </p:txBody>
      </p:sp>
      <p:sp>
        <p:nvSpPr>
          <p:cNvPr id="25" name="Shape 21"/>
          <p:cNvSpPr/>
          <p:nvPr/>
        </p:nvSpPr>
        <p:spPr>
          <a:xfrm>
            <a:off x="8412480" y="4754880"/>
            <a:ext cx="3200400" cy="1417320"/>
          </a:xfrm>
          <a:prstGeom prst="roundRect">
            <a:avLst>
              <a:gd name="adj" fmla="val 6452"/>
            </a:avLst>
          </a:prstGeom>
          <a:solidFill>
            <a:srgbClr val="FBEAE3"/>
          </a:solidFill>
          <a:ln w="12700">
            <a:solidFill>
              <a:srgbClr val="FBEAE3"/>
            </a:solidFill>
            <a:prstDash val="solid"/>
          </a:ln>
        </p:spPr>
        <p:txBody>
          <a:bodyPr/>
          <a:lstStyle/>
          <a:p>
            <a:endParaRPr lang="en-VN"/>
          </a:p>
        </p:txBody>
      </p:sp>
      <p:pic>
        <p:nvPicPr>
          <p:cNvPr id="26" name="Image 2" descr="preencoded.png"/>
          <p:cNvPicPr>
            <a:picLocks noChangeAspect="1"/>
          </p:cNvPicPr>
          <p:nvPr/>
        </p:nvPicPr>
        <p:blipFill>
          <a:blip r:embed="rId5"/>
          <a:stretch>
            <a:fillRect/>
          </a:stretch>
        </p:blipFill>
        <p:spPr>
          <a:xfrm>
            <a:off x="8613648" y="4919472"/>
            <a:ext cx="292608" cy="292608"/>
          </a:xfrm>
          <a:prstGeom prst="rect">
            <a:avLst/>
          </a:prstGeom>
        </p:spPr>
      </p:pic>
      <p:sp>
        <p:nvSpPr>
          <p:cNvPr id="27" name="Text 22"/>
          <p:cNvSpPr txBox="1"/>
          <p:nvPr/>
        </p:nvSpPr>
        <p:spPr>
          <a:xfrm>
            <a:off x="9006840" y="4864608"/>
            <a:ext cx="2487168" cy="1234440"/>
          </a:xfrm>
          <a:prstGeom prst="rect">
            <a:avLst/>
          </a:prstGeom>
          <a:noFill/>
          <a:ln/>
        </p:spPr>
        <p:txBody>
          <a:bodyPr wrap="square" lIns="0" tIns="0" rIns="0" bIns="0" rtlCol="0" anchor="t"/>
          <a:lstStyle/>
          <a:p>
            <a:pPr marL="0" indent="0">
              <a:buNone/>
            </a:pPr>
            <a:r>
              <a:rPr lang="en-US" sz="1300" b="1" dirty="0">
                <a:solidFill>
                  <a:srgbClr val="1B2A30"/>
                </a:solidFill>
                <a:latin typeface="Calibri" pitchFamily="34" charset="0"/>
                <a:ea typeface="Calibri" pitchFamily="34" charset="-122"/>
                <a:cs typeface="Calibri" pitchFamily="34" charset="-120"/>
              </a:rPr>
              <a:t>Nhưng hai phía khác sàn</a:t>
            </a:r>
            <a:r>
              <a:rPr lang="en-US" sz="1300" dirty="0">
                <a:solidFill>
                  <a:srgbClr val="1B2A30"/>
                </a:solidFill>
                <a:latin typeface="Calibri" pitchFamily="34" charset="0"/>
                <a:ea typeface="Calibri" pitchFamily="34" charset="-122"/>
                <a:cs typeface="Calibri" pitchFamily="34" charset="-120"/>
              </a:rPr>
              <a:t>: một phần chênh lệch là chênh giữa hai nguồn, không phải trôi giá thuần tuý.</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SẢN PHẨM</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Demo: web app dự báo có giải thích</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737360"/>
            <a:ext cx="7772400" cy="3877056"/>
          </a:xfrm>
          <a:prstGeom prst="rect">
            <a:avLst/>
          </a:prstGeom>
          <a:solidFill>
            <a:srgbClr val="FFFFFF"/>
          </a:solidFill>
          <a:ln w="12700">
            <a:solidFill>
              <a:srgbClr val="D3DFE2"/>
            </a:solidFill>
            <a:prstDash val="solid"/>
          </a:ln>
          <a:effectLst>
            <a:outerShdw blurRad="127000" dist="25400" dir="5400000" algn="bl" rotWithShape="0">
              <a:srgbClr val="000000">
                <a:alpha val="10000"/>
              </a:srgbClr>
            </a:outerShdw>
          </a:effectLst>
        </p:spPr>
        <p:txBody>
          <a:bodyPr/>
          <a:lstStyle/>
          <a:p>
            <a:endParaRPr lang="en-VN"/>
          </a:p>
        </p:txBody>
      </p:sp>
      <p:pic>
        <p:nvPicPr>
          <p:cNvPr id="9" name="Image 0" descr="Ảnh chụp web app: kết quả dự báo và biểu đồ SHAP waterfall"/>
          <p:cNvPicPr>
            <a:picLocks noChangeAspect="1"/>
          </p:cNvPicPr>
          <p:nvPr/>
        </p:nvPicPr>
        <p:blipFill>
          <a:blip r:embed="rId3"/>
          <a:stretch>
            <a:fillRect/>
          </a:stretch>
        </p:blipFill>
        <p:spPr>
          <a:xfrm>
            <a:off x="548640" y="1737360"/>
            <a:ext cx="7772400" cy="3877056"/>
          </a:xfrm>
          <a:prstGeom prst="rect">
            <a:avLst/>
          </a:prstGeom>
        </p:spPr>
      </p:pic>
      <p:sp>
        <p:nvSpPr>
          <p:cNvPr id="10" name="Text 7"/>
          <p:cNvSpPr txBox="1"/>
          <p:nvPr/>
        </p:nvSpPr>
        <p:spPr>
          <a:xfrm>
            <a:off x="548640" y="5715000"/>
            <a:ext cx="7772400" cy="457200"/>
          </a:xfrm>
          <a:prstGeom prst="rect">
            <a:avLst/>
          </a:prstGeom>
          <a:noFill/>
          <a:ln/>
        </p:spPr>
        <p:txBody>
          <a:bodyPr wrap="square" lIns="0" tIns="0" rIns="0" bIns="0" rtlCol="0" anchor="t"/>
          <a:lstStyle/>
          <a:p>
            <a:pPr marL="0" indent="0">
              <a:buNone/>
            </a:pPr>
            <a:r>
              <a:rPr lang="en-US" sz="1300" dirty="0">
                <a:solidFill>
                  <a:srgbClr val="5B6D74"/>
                </a:solidFill>
                <a:latin typeface="Calibri" pitchFamily="34" charset="0"/>
                <a:ea typeface="Calibri" pitchFamily="34" charset="-122"/>
                <a:cs typeface="Calibri" pitchFamily="34" charset="-120"/>
              </a:rPr>
              <a:t>Ví dụ trong ảnh: nhà phố Tân Bình, 60 m², 3 tầng → giá ước lượng 8,04 tỷ, khoảng tham khảo 6,90–9,19 tỷ.</a:t>
            </a:r>
            <a:endParaRPr lang="en-US" sz="1300" dirty="0"/>
          </a:p>
        </p:txBody>
      </p:sp>
      <p:sp>
        <p:nvSpPr>
          <p:cNvPr id="11" name="Shape 8"/>
          <p:cNvSpPr/>
          <p:nvPr/>
        </p:nvSpPr>
        <p:spPr>
          <a:xfrm>
            <a:off x="8641080" y="1737360"/>
            <a:ext cx="420624" cy="420624"/>
          </a:xfrm>
          <a:prstGeom prst="ellipse">
            <a:avLst/>
          </a:prstGeom>
          <a:solidFill>
            <a:srgbClr val="C8553A"/>
          </a:solidFill>
          <a:ln w="12700">
            <a:solidFill>
              <a:srgbClr val="C8553A"/>
            </a:solidFill>
            <a:prstDash val="solid"/>
          </a:ln>
        </p:spPr>
        <p:txBody>
          <a:bodyPr/>
          <a:lstStyle/>
          <a:p>
            <a:endParaRPr lang="en-VN"/>
          </a:p>
        </p:txBody>
      </p:sp>
      <p:sp>
        <p:nvSpPr>
          <p:cNvPr id="12" name="Text 9"/>
          <p:cNvSpPr txBox="1"/>
          <p:nvPr/>
        </p:nvSpPr>
        <p:spPr>
          <a:xfrm>
            <a:off x="8641080"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9189720" y="1755648"/>
            <a:ext cx="2423160" cy="384048"/>
          </a:xfrm>
          <a:prstGeom prst="rect">
            <a:avLst/>
          </a:prstGeom>
          <a:noFill/>
          <a:ln/>
        </p:spPr>
        <p:txBody>
          <a:bodyPr wrap="square" lIns="0" tIns="0" rIns="0" bIns="0" rtlCol="0" anchor="ctr"/>
          <a:lstStyle/>
          <a:p>
            <a:pPr marL="0" indent="0">
              <a:buNone/>
            </a:pPr>
            <a:r>
              <a:rPr lang="en-US" sz="1700" b="1" dirty="0">
                <a:solidFill>
                  <a:srgbClr val="13303A"/>
                </a:solidFill>
                <a:latin typeface="Calibri" pitchFamily="34" charset="0"/>
                <a:ea typeface="Calibri" pitchFamily="34" charset="-122"/>
                <a:cs typeface="Calibri" pitchFamily="34" charset="-120"/>
              </a:rPr>
              <a:t>Streamlit</a:t>
            </a:r>
            <a:endParaRPr lang="en-US" sz="1700" dirty="0"/>
          </a:p>
        </p:txBody>
      </p:sp>
      <p:sp>
        <p:nvSpPr>
          <p:cNvPr id="14" name="Text 11"/>
          <p:cNvSpPr txBox="1"/>
          <p:nvPr/>
        </p:nvSpPr>
        <p:spPr>
          <a:xfrm>
            <a:off x="9189720" y="2176272"/>
            <a:ext cx="2423160" cy="822960"/>
          </a:xfrm>
          <a:prstGeom prst="rect">
            <a:avLst/>
          </a:prstGeom>
          <a:noFill/>
          <a:ln/>
        </p:spPr>
        <p:txBody>
          <a:bodyPr wrap="square" lIns="0" tIns="0" rIns="0" bIns="0" rtlCol="0" anchor="t"/>
          <a:lstStyle/>
          <a:p>
            <a:pPr marL="0" indent="0">
              <a:buNone/>
            </a:pPr>
            <a:r>
              <a:rPr lang="en-US" sz="1350" dirty="0">
                <a:solidFill>
                  <a:srgbClr val="1B2A30"/>
                </a:solidFill>
                <a:latin typeface="Calibri" pitchFamily="34" charset="0"/>
                <a:ea typeface="Calibri" pitchFamily="34" charset="-122"/>
                <a:cs typeface="Calibri" pitchFamily="34" charset="-120"/>
              </a:rPr>
              <a:t>nạp đúng artefact mà bước huấn luyện xuất ra</a:t>
            </a:r>
            <a:endParaRPr lang="en-US" sz="1350" dirty="0"/>
          </a:p>
        </p:txBody>
      </p:sp>
      <p:sp>
        <p:nvSpPr>
          <p:cNvPr id="15" name="Shape 12"/>
          <p:cNvSpPr/>
          <p:nvPr/>
        </p:nvSpPr>
        <p:spPr>
          <a:xfrm>
            <a:off x="8641080" y="3063240"/>
            <a:ext cx="420624" cy="420624"/>
          </a:xfrm>
          <a:prstGeom prst="ellipse">
            <a:avLst/>
          </a:prstGeom>
          <a:solidFill>
            <a:srgbClr val="C8553A"/>
          </a:solidFill>
          <a:ln w="12700">
            <a:solidFill>
              <a:srgbClr val="C8553A"/>
            </a:solidFill>
            <a:prstDash val="solid"/>
          </a:ln>
        </p:spPr>
        <p:txBody>
          <a:bodyPr/>
          <a:lstStyle/>
          <a:p>
            <a:endParaRPr lang="en-VN"/>
          </a:p>
        </p:txBody>
      </p:sp>
      <p:sp>
        <p:nvSpPr>
          <p:cNvPr id="16" name="Text 13"/>
          <p:cNvSpPr txBox="1"/>
          <p:nvPr/>
        </p:nvSpPr>
        <p:spPr>
          <a:xfrm>
            <a:off x="8641080" y="30632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9189720" y="3081528"/>
            <a:ext cx="2423160" cy="384048"/>
          </a:xfrm>
          <a:prstGeom prst="rect">
            <a:avLst/>
          </a:prstGeom>
          <a:noFill/>
          <a:ln/>
        </p:spPr>
        <p:txBody>
          <a:bodyPr wrap="square" lIns="0" tIns="0" rIns="0" bIns="0" rtlCol="0" anchor="ctr"/>
          <a:lstStyle/>
          <a:p>
            <a:pPr marL="0" indent="0">
              <a:buNone/>
            </a:pPr>
            <a:r>
              <a:rPr lang="en-US" sz="1700" b="1" dirty="0">
                <a:solidFill>
                  <a:srgbClr val="13303A"/>
                </a:solidFill>
                <a:latin typeface="Calibri" pitchFamily="34" charset="0"/>
                <a:ea typeface="Calibri" pitchFamily="34" charset="-122"/>
                <a:cs typeface="Calibri" pitchFamily="34" charset="-120"/>
              </a:rPr>
              <a:t>Khoảng tham khảo</a:t>
            </a:r>
            <a:endParaRPr lang="en-US" sz="1700" dirty="0"/>
          </a:p>
        </p:txBody>
      </p:sp>
      <p:sp>
        <p:nvSpPr>
          <p:cNvPr id="18" name="Text 15"/>
          <p:cNvSpPr txBox="1"/>
          <p:nvPr/>
        </p:nvSpPr>
        <p:spPr>
          <a:xfrm>
            <a:off x="9189720" y="3502152"/>
            <a:ext cx="2423160" cy="822960"/>
          </a:xfrm>
          <a:prstGeom prst="rect">
            <a:avLst/>
          </a:prstGeom>
          <a:noFill/>
          <a:ln/>
        </p:spPr>
        <p:txBody>
          <a:bodyPr wrap="square" lIns="0" tIns="0" rIns="0" bIns="0" rtlCol="0" anchor="t"/>
          <a:lstStyle/>
          <a:p>
            <a:pPr marL="0" indent="0">
              <a:buNone/>
            </a:pPr>
            <a:r>
              <a:rPr lang="en-US" sz="1350" dirty="0">
                <a:solidFill>
                  <a:srgbClr val="1B2A30"/>
                </a:solidFill>
                <a:latin typeface="Calibri" pitchFamily="34" charset="0"/>
                <a:ea typeface="Calibri" pitchFamily="34" charset="-122"/>
                <a:cs typeface="Calibri" pitchFamily="34" charset="-120"/>
              </a:rPr>
              <a:t>rộng bằng MdAPE đo trên</a:t>
            </a:r>
            <a:endParaRPr lang="en-US" sz="1350" dirty="0"/>
          </a:p>
          <a:p>
            <a:pPr marL="0" indent="0">
              <a:buNone/>
            </a:pPr>
            <a:r>
              <a:rPr lang="en-US" sz="1350" dirty="0">
                <a:solidFill>
                  <a:srgbClr val="1B2A30"/>
                </a:solidFill>
                <a:latin typeface="Calibri" pitchFamily="34" charset="0"/>
                <a:ea typeface="Calibri" pitchFamily="34" charset="-122"/>
                <a:cs typeface="Calibri" pitchFamily="34" charset="-120"/>
              </a:rPr>
              <a:t>hold-out (14,2%), không</a:t>
            </a:r>
            <a:endParaRPr lang="en-US" sz="1350" dirty="0"/>
          </a:p>
          <a:p>
            <a:pPr marL="0" indent="0">
              <a:buNone/>
            </a:pPr>
            <a:r>
              <a:rPr lang="en-US" sz="1350" dirty="0">
                <a:solidFill>
                  <a:srgbClr val="1B2A30"/>
                </a:solidFill>
                <a:latin typeface="Calibri" pitchFamily="34" charset="0"/>
                <a:ea typeface="Calibri" pitchFamily="34" charset="-122"/>
                <a:cs typeface="Calibri" pitchFamily="34" charset="-120"/>
              </a:rPr>
              <a:t>phải con số tự đặt</a:t>
            </a:r>
            <a:endParaRPr lang="en-US" sz="1350" dirty="0"/>
          </a:p>
        </p:txBody>
      </p:sp>
      <p:sp>
        <p:nvSpPr>
          <p:cNvPr id="19" name="Shape 16"/>
          <p:cNvSpPr/>
          <p:nvPr/>
        </p:nvSpPr>
        <p:spPr>
          <a:xfrm>
            <a:off x="8641080" y="4389120"/>
            <a:ext cx="420624" cy="420624"/>
          </a:xfrm>
          <a:prstGeom prst="ellipse">
            <a:avLst/>
          </a:prstGeom>
          <a:solidFill>
            <a:srgbClr val="C8553A"/>
          </a:solidFill>
          <a:ln w="12700">
            <a:solidFill>
              <a:srgbClr val="C8553A"/>
            </a:solidFill>
            <a:prstDash val="solid"/>
          </a:ln>
        </p:spPr>
        <p:txBody>
          <a:bodyPr/>
          <a:lstStyle/>
          <a:p>
            <a:endParaRPr lang="en-VN"/>
          </a:p>
        </p:txBody>
      </p:sp>
      <p:sp>
        <p:nvSpPr>
          <p:cNvPr id="20" name="Text 17"/>
          <p:cNvSpPr txBox="1"/>
          <p:nvPr/>
        </p:nvSpPr>
        <p:spPr>
          <a:xfrm>
            <a:off x="8641080" y="4389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9189720" y="4407408"/>
            <a:ext cx="2423160" cy="384048"/>
          </a:xfrm>
          <a:prstGeom prst="rect">
            <a:avLst/>
          </a:prstGeom>
          <a:noFill/>
          <a:ln/>
        </p:spPr>
        <p:txBody>
          <a:bodyPr wrap="square" lIns="0" tIns="0" rIns="0" bIns="0" rtlCol="0" anchor="ctr"/>
          <a:lstStyle/>
          <a:p>
            <a:pPr marL="0" indent="0">
              <a:buNone/>
            </a:pPr>
            <a:r>
              <a:rPr lang="en-US" sz="1700" b="1" dirty="0">
                <a:solidFill>
                  <a:srgbClr val="13303A"/>
                </a:solidFill>
                <a:latin typeface="Calibri" pitchFamily="34" charset="0"/>
                <a:ea typeface="Calibri" pitchFamily="34" charset="-122"/>
                <a:cs typeface="Calibri" pitchFamily="34" charset="-120"/>
              </a:rPr>
              <a:t>Giải thích từng ca</a:t>
            </a:r>
            <a:endParaRPr lang="en-US" sz="1700" dirty="0"/>
          </a:p>
        </p:txBody>
      </p:sp>
      <p:sp>
        <p:nvSpPr>
          <p:cNvPr id="22" name="Text 19"/>
          <p:cNvSpPr txBox="1"/>
          <p:nvPr/>
        </p:nvSpPr>
        <p:spPr>
          <a:xfrm>
            <a:off x="9189720" y="4828032"/>
            <a:ext cx="2423160" cy="822960"/>
          </a:xfrm>
          <a:prstGeom prst="rect">
            <a:avLst/>
          </a:prstGeom>
          <a:noFill/>
          <a:ln/>
        </p:spPr>
        <p:txBody>
          <a:bodyPr wrap="square" lIns="0" tIns="0" rIns="0" bIns="0" rtlCol="0" anchor="t"/>
          <a:lstStyle/>
          <a:p>
            <a:pPr marL="0" indent="0">
              <a:buNone/>
            </a:pPr>
            <a:r>
              <a:rPr lang="en-US" sz="1350" dirty="0">
                <a:solidFill>
                  <a:srgbClr val="1B2A30"/>
                </a:solidFill>
                <a:latin typeface="Calibri" pitchFamily="34" charset="0"/>
                <a:ea typeface="Calibri" pitchFamily="34" charset="-122"/>
                <a:cs typeface="Calibri" pitchFamily="34" charset="-120"/>
              </a:rPr>
              <a:t>SHAP waterfall cho biết đặc trưng nào đẩy giá lên, đặc trưng nào kéo xuống</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TỔNG KẾT</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Hạn chế, nói thẳng</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783080"/>
            <a:ext cx="5440680" cy="2057400"/>
          </a:xfrm>
          <a:prstGeom prst="roundRect">
            <a:avLst>
              <a:gd name="adj" fmla="val 4444"/>
            </a:avLst>
          </a:prstGeom>
          <a:solidFill>
            <a:srgbClr val="EAF2F3"/>
          </a:solidFill>
          <a:ln w="12700">
            <a:solidFill>
              <a:srgbClr val="EAF2F3"/>
            </a:solidFill>
            <a:prstDash val="solid"/>
          </a:ln>
        </p:spPr>
        <p:txBody>
          <a:bodyPr/>
          <a:lstStyle/>
          <a:p>
            <a:endParaRPr lang="en-VN"/>
          </a:p>
        </p:txBody>
      </p:sp>
      <p:sp>
        <p:nvSpPr>
          <p:cNvPr id="9" name="Shape 7"/>
          <p:cNvSpPr/>
          <p:nvPr/>
        </p:nvSpPr>
        <p:spPr>
          <a:xfrm>
            <a:off x="841248" y="2075688"/>
            <a:ext cx="603504" cy="603504"/>
          </a:xfrm>
          <a:prstGeom prst="ellipse">
            <a:avLst/>
          </a:prstGeom>
          <a:solidFill>
            <a:srgbClr val="C8553A"/>
          </a:solidFill>
          <a:ln w="12700">
            <a:solidFill>
              <a:srgbClr val="C8553A"/>
            </a:solidFill>
            <a:prstDash val="solid"/>
          </a:ln>
        </p:spPr>
        <p:txBody>
          <a:bodyPr/>
          <a:lstStyle/>
          <a:p>
            <a:endParaRPr lang="en-VN"/>
          </a:p>
        </p:txBody>
      </p:sp>
      <p:pic>
        <p:nvPicPr>
          <p:cNvPr id="10" name="Image 0" descr="preencoded.png"/>
          <p:cNvPicPr>
            <a:picLocks noChangeAspect="1"/>
          </p:cNvPicPr>
          <p:nvPr/>
        </p:nvPicPr>
        <p:blipFill>
          <a:blip r:embed="rId3"/>
          <a:stretch>
            <a:fillRect/>
          </a:stretch>
        </p:blipFill>
        <p:spPr>
          <a:xfrm>
            <a:off x="992124" y="2226564"/>
            <a:ext cx="301752" cy="301752"/>
          </a:xfrm>
          <a:prstGeom prst="rect">
            <a:avLst/>
          </a:prstGeom>
        </p:spPr>
      </p:pic>
      <p:sp>
        <p:nvSpPr>
          <p:cNvPr id="11" name="Text 8"/>
          <p:cNvSpPr txBox="1"/>
          <p:nvPr/>
        </p:nvSpPr>
        <p:spPr>
          <a:xfrm>
            <a:off x="1645920" y="2011680"/>
            <a:ext cx="4114800" cy="731520"/>
          </a:xfrm>
          <a:prstGeom prst="rect">
            <a:avLst/>
          </a:prstGeom>
          <a:noFill/>
          <a:ln/>
        </p:spPr>
        <p:txBody>
          <a:bodyPr wrap="square" lIns="0" tIns="0" rIns="0" bIns="0" rtlCol="0" anchor="ctr"/>
          <a:lstStyle/>
          <a:p>
            <a:pPr marL="0" indent="0">
              <a:buNone/>
            </a:pPr>
            <a:r>
              <a:rPr lang="en-US" sz="1800" b="1" dirty="0">
                <a:solidFill>
                  <a:srgbClr val="13303A"/>
                </a:solidFill>
                <a:latin typeface="Calibri" pitchFamily="34" charset="0"/>
                <a:ea typeface="Calibri" pitchFamily="34" charset="-122"/>
                <a:cs typeface="Calibri" pitchFamily="34" charset="-120"/>
              </a:rPr>
              <a:t>Học từ giá rao, không phải giá giao dịch</a:t>
            </a:r>
            <a:endParaRPr lang="en-US" sz="1800" dirty="0"/>
          </a:p>
        </p:txBody>
      </p:sp>
      <p:sp>
        <p:nvSpPr>
          <p:cNvPr id="12" name="Text 9"/>
          <p:cNvSpPr txBox="1"/>
          <p:nvPr/>
        </p:nvSpPr>
        <p:spPr>
          <a:xfrm>
            <a:off x="841248" y="2880360"/>
            <a:ext cx="4855464" cy="82296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Nhóm không có dữ liệu để đo khoảng cách đó nên không phỏng đoán.</a:t>
            </a:r>
            <a:endParaRPr lang="en-US" sz="1500" dirty="0"/>
          </a:p>
        </p:txBody>
      </p:sp>
      <p:sp>
        <p:nvSpPr>
          <p:cNvPr id="13" name="Shape 10"/>
          <p:cNvSpPr/>
          <p:nvPr/>
        </p:nvSpPr>
        <p:spPr>
          <a:xfrm>
            <a:off x="6172200" y="1783080"/>
            <a:ext cx="5440680" cy="2057400"/>
          </a:xfrm>
          <a:prstGeom prst="roundRect">
            <a:avLst>
              <a:gd name="adj" fmla="val 4444"/>
            </a:avLst>
          </a:prstGeom>
          <a:solidFill>
            <a:srgbClr val="EAF2F3"/>
          </a:solidFill>
          <a:ln w="12700">
            <a:solidFill>
              <a:srgbClr val="EAF2F3"/>
            </a:solidFill>
            <a:prstDash val="solid"/>
          </a:ln>
        </p:spPr>
        <p:txBody>
          <a:bodyPr/>
          <a:lstStyle/>
          <a:p>
            <a:endParaRPr lang="en-VN"/>
          </a:p>
        </p:txBody>
      </p:sp>
      <p:sp>
        <p:nvSpPr>
          <p:cNvPr id="14" name="Shape 11"/>
          <p:cNvSpPr/>
          <p:nvPr/>
        </p:nvSpPr>
        <p:spPr>
          <a:xfrm>
            <a:off x="6464808" y="2075688"/>
            <a:ext cx="603504" cy="603504"/>
          </a:xfrm>
          <a:prstGeom prst="ellipse">
            <a:avLst/>
          </a:prstGeom>
          <a:solidFill>
            <a:srgbClr val="C8553A"/>
          </a:solidFill>
          <a:ln w="12700">
            <a:solidFill>
              <a:srgbClr val="C8553A"/>
            </a:solidFill>
            <a:prstDash val="solid"/>
          </a:ln>
        </p:spPr>
        <p:txBody>
          <a:bodyPr/>
          <a:lstStyle/>
          <a:p>
            <a:endParaRPr lang="en-VN"/>
          </a:p>
        </p:txBody>
      </p:sp>
      <p:pic>
        <p:nvPicPr>
          <p:cNvPr id="15" name="Image 1" descr="preencoded.png"/>
          <p:cNvPicPr>
            <a:picLocks noChangeAspect="1"/>
          </p:cNvPicPr>
          <p:nvPr/>
        </p:nvPicPr>
        <p:blipFill>
          <a:blip r:embed="rId4"/>
          <a:stretch>
            <a:fillRect/>
          </a:stretch>
        </p:blipFill>
        <p:spPr>
          <a:xfrm>
            <a:off x="6615684" y="2226564"/>
            <a:ext cx="301752" cy="301752"/>
          </a:xfrm>
          <a:prstGeom prst="rect">
            <a:avLst/>
          </a:prstGeom>
        </p:spPr>
      </p:pic>
      <p:sp>
        <p:nvSpPr>
          <p:cNvPr id="16" name="Text 12"/>
          <p:cNvSpPr txBox="1"/>
          <p:nvPr/>
        </p:nvSpPr>
        <p:spPr>
          <a:xfrm>
            <a:off x="7269480" y="2011680"/>
            <a:ext cx="4114800" cy="731520"/>
          </a:xfrm>
          <a:prstGeom prst="rect">
            <a:avLst/>
          </a:prstGeom>
          <a:noFill/>
          <a:ln/>
        </p:spPr>
        <p:txBody>
          <a:bodyPr wrap="square" lIns="0" tIns="0" rIns="0" bIns="0" rtlCol="0" anchor="ctr"/>
          <a:lstStyle/>
          <a:p>
            <a:pPr marL="0" indent="0">
              <a:buNone/>
            </a:pPr>
            <a:r>
              <a:rPr lang="en-US" sz="1800" b="1" dirty="0">
                <a:solidFill>
                  <a:srgbClr val="13303A"/>
                </a:solidFill>
                <a:latin typeface="Calibri" pitchFamily="34" charset="0"/>
                <a:ea typeface="Calibri" pitchFamily="34" charset="-122"/>
                <a:cs typeface="Calibri" pitchFamily="34" charset="-120"/>
              </a:rPr>
              <a:t>Chỉ phủ TP.HCM, dày nhất ở ba quận mục tiêu</a:t>
            </a:r>
            <a:endParaRPr lang="en-US" sz="1800" dirty="0"/>
          </a:p>
        </p:txBody>
      </p:sp>
      <p:sp>
        <p:nvSpPr>
          <p:cNvPr id="17" name="Text 13"/>
          <p:cNvSpPr txBox="1"/>
          <p:nvPr/>
        </p:nvSpPr>
        <p:spPr>
          <a:xfrm>
            <a:off x="6464808" y="2880360"/>
            <a:ext cx="4855464" cy="82296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E3 đo trực tiếp mức suy giảm khi sang phường chưa thấy: MdAPE trung bình 15,2% ± 4,1.</a:t>
            </a:r>
            <a:endParaRPr lang="en-US" sz="1500" dirty="0"/>
          </a:p>
        </p:txBody>
      </p:sp>
      <p:sp>
        <p:nvSpPr>
          <p:cNvPr id="18" name="Shape 14"/>
          <p:cNvSpPr/>
          <p:nvPr/>
        </p:nvSpPr>
        <p:spPr>
          <a:xfrm>
            <a:off x="548640" y="4023360"/>
            <a:ext cx="5440680" cy="2057400"/>
          </a:xfrm>
          <a:prstGeom prst="roundRect">
            <a:avLst>
              <a:gd name="adj" fmla="val 4444"/>
            </a:avLst>
          </a:prstGeom>
          <a:solidFill>
            <a:srgbClr val="EAF2F3"/>
          </a:solidFill>
          <a:ln w="12700">
            <a:solidFill>
              <a:srgbClr val="EAF2F3"/>
            </a:solidFill>
            <a:prstDash val="solid"/>
          </a:ln>
        </p:spPr>
        <p:txBody>
          <a:bodyPr/>
          <a:lstStyle/>
          <a:p>
            <a:endParaRPr lang="en-VN"/>
          </a:p>
        </p:txBody>
      </p:sp>
      <p:sp>
        <p:nvSpPr>
          <p:cNvPr id="19" name="Shape 15"/>
          <p:cNvSpPr/>
          <p:nvPr/>
        </p:nvSpPr>
        <p:spPr>
          <a:xfrm>
            <a:off x="841248" y="4315968"/>
            <a:ext cx="603504" cy="603504"/>
          </a:xfrm>
          <a:prstGeom prst="ellipse">
            <a:avLst/>
          </a:prstGeom>
          <a:solidFill>
            <a:srgbClr val="C8553A"/>
          </a:solidFill>
          <a:ln w="12700">
            <a:solidFill>
              <a:srgbClr val="C8553A"/>
            </a:solidFill>
            <a:prstDash val="solid"/>
          </a:ln>
        </p:spPr>
        <p:txBody>
          <a:bodyPr/>
          <a:lstStyle/>
          <a:p>
            <a:endParaRPr lang="en-VN"/>
          </a:p>
        </p:txBody>
      </p:sp>
      <p:pic>
        <p:nvPicPr>
          <p:cNvPr id="20" name="Image 2" descr="preencoded.png"/>
          <p:cNvPicPr>
            <a:picLocks noChangeAspect="1"/>
          </p:cNvPicPr>
          <p:nvPr/>
        </p:nvPicPr>
        <p:blipFill>
          <a:blip r:embed="rId5"/>
          <a:stretch>
            <a:fillRect/>
          </a:stretch>
        </p:blipFill>
        <p:spPr>
          <a:xfrm>
            <a:off x="992124" y="4466844"/>
            <a:ext cx="301752" cy="301752"/>
          </a:xfrm>
          <a:prstGeom prst="rect">
            <a:avLst/>
          </a:prstGeom>
        </p:spPr>
      </p:pic>
      <p:sp>
        <p:nvSpPr>
          <p:cNvPr id="21" name="Text 16"/>
          <p:cNvSpPr txBox="1"/>
          <p:nvPr/>
        </p:nvSpPr>
        <p:spPr>
          <a:xfrm>
            <a:off x="1645920" y="4251960"/>
            <a:ext cx="4114800" cy="731520"/>
          </a:xfrm>
          <a:prstGeom prst="rect">
            <a:avLst/>
          </a:prstGeom>
          <a:noFill/>
          <a:ln/>
        </p:spPr>
        <p:txBody>
          <a:bodyPr wrap="square" lIns="0" tIns="0" rIns="0" bIns="0" rtlCol="0" anchor="ctr"/>
          <a:lstStyle/>
          <a:p>
            <a:pPr marL="0" indent="0">
              <a:buNone/>
            </a:pPr>
            <a:r>
              <a:rPr lang="en-US" sz="1800" b="1" dirty="0">
                <a:solidFill>
                  <a:srgbClr val="13303A"/>
                </a:solidFill>
                <a:latin typeface="Calibri" pitchFamily="34" charset="0"/>
                <a:ea typeface="Calibri" pitchFamily="34" charset="-122"/>
                <a:cs typeface="Calibri" pitchFamily="34" charset="-120"/>
              </a:rPr>
              <a:t>Tin rao tự mâu thuẫn</a:t>
            </a:r>
            <a:endParaRPr lang="en-US" sz="1800" dirty="0"/>
          </a:p>
        </p:txBody>
      </p:sp>
      <p:sp>
        <p:nvSpPr>
          <p:cNvPr id="22" name="Text 17"/>
          <p:cNvSpPr txBox="1"/>
          <p:nvPr/>
        </p:nvSpPr>
        <p:spPr>
          <a:xfrm>
            <a:off x="841248" y="5120640"/>
            <a:ext cx="4855464" cy="82296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Form một đằng, mô tả một nẻo. Những tin này nằm ngoài tầm với của mọi bộ luật văn bản.</a:t>
            </a:r>
            <a:endParaRPr lang="en-US" sz="1500" dirty="0"/>
          </a:p>
        </p:txBody>
      </p:sp>
      <p:sp>
        <p:nvSpPr>
          <p:cNvPr id="23" name="Shape 18"/>
          <p:cNvSpPr/>
          <p:nvPr/>
        </p:nvSpPr>
        <p:spPr>
          <a:xfrm>
            <a:off x="6172200" y="4023360"/>
            <a:ext cx="5440680" cy="2057400"/>
          </a:xfrm>
          <a:prstGeom prst="roundRect">
            <a:avLst>
              <a:gd name="adj" fmla="val 4444"/>
            </a:avLst>
          </a:prstGeom>
          <a:solidFill>
            <a:srgbClr val="EAF2F3"/>
          </a:solidFill>
          <a:ln w="12700">
            <a:solidFill>
              <a:srgbClr val="EAF2F3"/>
            </a:solidFill>
            <a:prstDash val="solid"/>
          </a:ln>
        </p:spPr>
        <p:txBody>
          <a:bodyPr/>
          <a:lstStyle/>
          <a:p>
            <a:endParaRPr lang="en-VN"/>
          </a:p>
        </p:txBody>
      </p:sp>
      <p:sp>
        <p:nvSpPr>
          <p:cNvPr id="24" name="Shape 19"/>
          <p:cNvSpPr/>
          <p:nvPr/>
        </p:nvSpPr>
        <p:spPr>
          <a:xfrm>
            <a:off x="6464808" y="4315968"/>
            <a:ext cx="603504" cy="603504"/>
          </a:xfrm>
          <a:prstGeom prst="ellipse">
            <a:avLst/>
          </a:prstGeom>
          <a:solidFill>
            <a:srgbClr val="C8553A"/>
          </a:solidFill>
          <a:ln w="12700">
            <a:solidFill>
              <a:srgbClr val="C8553A"/>
            </a:solidFill>
            <a:prstDash val="solid"/>
          </a:ln>
        </p:spPr>
        <p:txBody>
          <a:bodyPr/>
          <a:lstStyle/>
          <a:p>
            <a:endParaRPr lang="en-VN"/>
          </a:p>
        </p:txBody>
      </p:sp>
      <p:pic>
        <p:nvPicPr>
          <p:cNvPr id="25" name="Image 3" descr="preencoded.png"/>
          <p:cNvPicPr>
            <a:picLocks noChangeAspect="1"/>
          </p:cNvPicPr>
          <p:nvPr/>
        </p:nvPicPr>
        <p:blipFill>
          <a:blip r:embed="rId6"/>
          <a:stretch>
            <a:fillRect/>
          </a:stretch>
        </p:blipFill>
        <p:spPr>
          <a:xfrm>
            <a:off x="6615684" y="4466844"/>
            <a:ext cx="301752" cy="301752"/>
          </a:xfrm>
          <a:prstGeom prst="rect">
            <a:avLst/>
          </a:prstGeom>
        </p:spPr>
      </p:pic>
      <p:sp>
        <p:nvSpPr>
          <p:cNvPr id="26" name="Text 20"/>
          <p:cNvSpPr txBox="1"/>
          <p:nvPr/>
        </p:nvSpPr>
        <p:spPr>
          <a:xfrm>
            <a:off x="7269480" y="4251960"/>
            <a:ext cx="4114800" cy="731520"/>
          </a:xfrm>
          <a:prstGeom prst="rect">
            <a:avLst/>
          </a:prstGeom>
          <a:noFill/>
          <a:ln/>
        </p:spPr>
        <p:txBody>
          <a:bodyPr wrap="square" lIns="0" tIns="0" rIns="0" bIns="0" rtlCol="0" anchor="ctr"/>
          <a:lstStyle/>
          <a:p>
            <a:pPr marL="0" indent="0">
              <a:buNone/>
            </a:pPr>
            <a:r>
              <a:rPr lang="en-US" sz="1800" b="1" dirty="0">
                <a:solidFill>
                  <a:srgbClr val="13303A"/>
                </a:solidFill>
                <a:latin typeface="Calibri" pitchFamily="34" charset="0"/>
                <a:ea typeface="Calibri" pitchFamily="34" charset="-122"/>
                <a:cs typeface="Calibri" pitchFamily="34" charset="-120"/>
              </a:rPr>
              <a:t>Số tầng chưa đạt chỉ tiêu F1 0,9</a:t>
            </a:r>
            <a:endParaRPr lang="en-US" sz="1800" dirty="0"/>
          </a:p>
        </p:txBody>
      </p:sp>
      <p:sp>
        <p:nvSpPr>
          <p:cNvPr id="27" name="Text 21"/>
          <p:cNvSpPr txBox="1"/>
          <p:nvPr/>
        </p:nvSpPr>
        <p:spPr>
          <a:xfrm>
            <a:off x="6464808" y="5120640"/>
            <a:ext cx="4855464" cy="822960"/>
          </a:xfrm>
          <a:prstGeom prst="rect">
            <a:avLst/>
          </a:prstGeom>
          <a:noFill/>
          <a:ln/>
        </p:spPr>
        <p:txBody>
          <a:bodyPr wrap="square" lIns="0" tIns="0" rIns="0" bIns="0" rtlCol="0" anchor="t"/>
          <a:lstStyle/>
          <a:p>
            <a:pPr marL="0" indent="0">
              <a:buNone/>
            </a:pPr>
            <a:r>
              <a:rPr lang="en-US" sz="1500" dirty="0">
                <a:solidFill>
                  <a:srgbClr val="1B2A30"/>
                </a:solidFill>
                <a:latin typeface="Calibri" pitchFamily="34" charset="0"/>
                <a:ea typeface="Calibri" pitchFamily="34" charset="-122"/>
                <a:cs typeface="Calibri" pitchFamily="34" charset="-120"/>
              </a:rPr>
              <a:t>Báo cáo trung thực kèm phân tích lỗi, thay vì chỉnh luật cho khớp nhãn nhiễu.</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475488" cy="292608"/>
          </a:xfrm>
          <a:prstGeom prst="roundRect">
            <a:avLst>
              <a:gd name="adj" fmla="val 18750"/>
            </a:avLst>
          </a:prstGeom>
          <a:solidFill>
            <a:srgbClr val="C8553A"/>
          </a:solidFill>
          <a:ln w="12700">
            <a:solidFill>
              <a:srgbClr val="C8553A"/>
            </a:solidFill>
            <a:prstDash val="solid"/>
          </a:ln>
        </p:spPr>
        <p:txBody>
          <a:bodyPr/>
          <a:lstStyle/>
          <a:p>
            <a:endParaRPr lang="en-VN"/>
          </a:p>
        </p:txBody>
      </p:sp>
      <p:sp>
        <p:nvSpPr>
          <p:cNvPr id="3" name="Text 1"/>
          <p:cNvSpPr txBox="1"/>
          <p:nvPr/>
        </p:nvSpPr>
        <p:spPr>
          <a:xfrm>
            <a:off x="548640" y="457200"/>
            <a:ext cx="47548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17</a:t>
            </a:r>
            <a:endParaRPr lang="en-US" sz="1200" dirty="0"/>
          </a:p>
        </p:txBody>
      </p:sp>
      <p:sp>
        <p:nvSpPr>
          <p:cNvPr id="4" name="Text 2"/>
          <p:cNvSpPr txBox="1"/>
          <p:nvPr/>
        </p:nvSpPr>
        <p:spPr>
          <a:xfrm>
            <a:off x="1161288" y="457200"/>
            <a:ext cx="8229600" cy="292608"/>
          </a:xfrm>
          <a:prstGeom prst="rect">
            <a:avLst/>
          </a:prstGeom>
          <a:noFill/>
          <a:ln/>
        </p:spPr>
        <p:txBody>
          <a:bodyPr wrap="square" lIns="0" tIns="0" rIns="0" bIns="0" rtlCol="0" anchor="ctr"/>
          <a:lstStyle/>
          <a:p>
            <a:pPr marL="0" indent="0">
              <a:buNone/>
            </a:pPr>
            <a:r>
              <a:rPr lang="en-US" sz="1200" b="1" kern="0" spc="150" dirty="0">
                <a:solidFill>
                  <a:srgbClr val="C8553A"/>
                </a:solidFill>
                <a:latin typeface="Calibri" pitchFamily="34" charset="0"/>
                <a:ea typeface="Calibri" pitchFamily="34" charset="-122"/>
                <a:cs typeface="Calibri" pitchFamily="34" charset="-120"/>
              </a:rPr>
              <a:t>TỔNG KẾT</a:t>
            </a:r>
            <a:endParaRPr lang="en-US" sz="1200" dirty="0"/>
          </a:p>
        </p:txBody>
      </p:sp>
      <p:sp>
        <p:nvSpPr>
          <p:cNvPr id="5" name="Text 3"/>
          <p:cNvSpPr txBox="1"/>
          <p:nvPr/>
        </p:nvSpPr>
        <p:spPr>
          <a:xfrm>
            <a:off x="548640" y="822960"/>
            <a:ext cx="11064240" cy="685800"/>
          </a:xfrm>
          <a:prstGeom prst="rect">
            <a:avLst/>
          </a:prstGeom>
          <a:noFill/>
          <a:ln/>
        </p:spPr>
        <p:txBody>
          <a:bodyPr wrap="square" lIns="0" tIns="0" rIns="0" bIns="0" rtlCol="0" anchor="ctr"/>
          <a:lstStyle/>
          <a:p>
            <a:pPr marL="0" indent="0">
              <a:buNone/>
            </a:pPr>
            <a:r>
              <a:rPr lang="en-US" sz="3200" b="1" dirty="0">
                <a:solidFill>
                  <a:srgbClr val="13303A"/>
                </a:solidFill>
                <a:latin typeface="Calibri" pitchFamily="34" charset="0"/>
                <a:ea typeface="Calibri" pitchFamily="34" charset="-122"/>
                <a:cs typeface="Calibri" pitchFamily="34" charset="-120"/>
              </a:rPr>
              <a:t>Hướng phát triển</a:t>
            </a:r>
            <a:endParaRPr lang="en-US" sz="3200" dirty="0"/>
          </a:p>
        </p:txBody>
      </p:sp>
      <p:sp>
        <p:nvSpPr>
          <p:cNvPr id="6" name="Text 4"/>
          <p:cNvSpPr txBox="1"/>
          <p:nvPr/>
        </p:nvSpPr>
        <p:spPr>
          <a:xfrm>
            <a:off x="548640" y="6419088"/>
            <a:ext cx="7315200" cy="256032"/>
          </a:xfrm>
          <a:prstGeom prst="rect">
            <a:avLst/>
          </a:prstGeom>
          <a:noFill/>
          <a:ln/>
        </p:spPr>
        <p:txBody>
          <a:bodyPr wrap="square" lIns="0" tIns="0" rIns="0" bIns="0" rtlCol="0" anchor="ctr"/>
          <a:lstStyle/>
          <a:p>
            <a:pPr marL="0" indent="0">
              <a:buNone/>
            </a:pPr>
            <a:r>
              <a:rPr lang="en-US" sz="1000" dirty="0">
                <a:solidFill>
                  <a:srgbClr val="5B6D74"/>
                </a:solidFill>
                <a:latin typeface="Calibri" pitchFamily="34" charset="0"/>
                <a:ea typeface="Calibri" pitchFamily="34" charset="-122"/>
                <a:cs typeface="Calibri" pitchFamily="34" charset="-120"/>
              </a:rPr>
              <a:t>Dự báo giá nhà TP.HCM từ dữ liệu rao vặt · Nhóm 14</a:t>
            </a:r>
            <a:endParaRPr lang="en-US" sz="1000" dirty="0"/>
          </a:p>
        </p:txBody>
      </p:sp>
      <p:sp>
        <p:nvSpPr>
          <p:cNvPr id="7" name="Text 5"/>
          <p:cNvSpPr txBox="1"/>
          <p:nvPr/>
        </p:nvSpPr>
        <p:spPr>
          <a:xfrm>
            <a:off x="8869680" y="6419088"/>
            <a:ext cx="2743200" cy="256032"/>
          </a:xfrm>
          <a:prstGeom prst="rect">
            <a:avLst/>
          </a:prstGeom>
          <a:noFill/>
          <a:ln/>
        </p:spPr>
        <p:txBody>
          <a:bodyPr wrap="square" lIns="0" tIns="0" rIns="0" bIns="0" rtlCol="0" anchor="ctr"/>
          <a:lstStyle/>
          <a:p>
            <a:pPr marL="0" indent="0" algn="r">
              <a:buNone/>
            </a:pPr>
            <a:r>
              <a:rPr lang="en-US" sz="1000" dirty="0">
                <a:solidFill>
                  <a:srgbClr val="5B6D74"/>
                </a:solidFill>
                <a:latin typeface="Calibri" pitchFamily="34" charset="0"/>
                <a:ea typeface="Calibri" pitchFamily="34" charset="-122"/>
                <a:cs typeface="Calibri" pitchFamily="34" charset="-120"/>
              </a:rPr>
              <a:t>CS106.F31.CN2</a:t>
            </a:r>
            <a:endParaRPr lang="en-US" sz="1000" dirty="0"/>
          </a:p>
        </p:txBody>
      </p:sp>
      <p:sp>
        <p:nvSpPr>
          <p:cNvPr id="8" name="Shape 6"/>
          <p:cNvSpPr/>
          <p:nvPr/>
        </p:nvSpPr>
        <p:spPr>
          <a:xfrm>
            <a:off x="548640" y="1874520"/>
            <a:ext cx="685800" cy="685800"/>
          </a:xfrm>
          <a:prstGeom prst="ellipse">
            <a:avLst/>
          </a:prstGeom>
          <a:solidFill>
            <a:srgbClr val="EAF2F3"/>
          </a:solidFill>
          <a:ln w="12700">
            <a:solidFill>
              <a:srgbClr val="EAF2F3"/>
            </a:solidFill>
            <a:prstDash val="solid"/>
          </a:ln>
        </p:spPr>
        <p:txBody>
          <a:bodyPr/>
          <a:lstStyle/>
          <a:p>
            <a:endParaRPr lang="en-VN"/>
          </a:p>
        </p:txBody>
      </p:sp>
      <p:pic>
        <p:nvPicPr>
          <p:cNvPr id="9" name="Image 0" descr="preencoded.png"/>
          <p:cNvPicPr>
            <a:picLocks noChangeAspect="1"/>
          </p:cNvPicPr>
          <p:nvPr/>
        </p:nvPicPr>
        <p:blipFill>
          <a:blip r:embed="rId3"/>
          <a:stretch>
            <a:fillRect/>
          </a:stretch>
        </p:blipFill>
        <p:spPr>
          <a:xfrm>
            <a:off x="720090" y="2045970"/>
            <a:ext cx="342900" cy="342900"/>
          </a:xfrm>
          <a:prstGeom prst="rect">
            <a:avLst/>
          </a:prstGeom>
        </p:spPr>
      </p:pic>
      <p:sp>
        <p:nvSpPr>
          <p:cNvPr id="10" name="Text 7"/>
          <p:cNvSpPr txBox="1"/>
          <p:nvPr/>
        </p:nvSpPr>
        <p:spPr>
          <a:xfrm>
            <a:off x="1463040" y="1828800"/>
            <a:ext cx="4754880" cy="384048"/>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Bổ sung dữ liệu</a:t>
            </a:r>
            <a:endParaRPr lang="en-US" sz="1800" dirty="0"/>
          </a:p>
        </p:txBody>
      </p:sp>
      <p:sp>
        <p:nvSpPr>
          <p:cNvPr id="11" name="Text 8"/>
          <p:cNvSpPr txBox="1"/>
          <p:nvPr/>
        </p:nvSpPr>
        <p:spPr>
          <a:xfrm>
            <a:off x="1463040" y="2221992"/>
            <a:ext cx="4754880" cy="384048"/>
          </a:xfrm>
          <a:prstGeom prst="rect">
            <a:avLst/>
          </a:prstGeom>
          <a:noFill/>
          <a:ln/>
        </p:spPr>
        <p:txBody>
          <a:bodyPr wrap="square" lIns="0" tIns="0" rIns="0" bIns="0" rtlCol="0" anchor="t"/>
          <a:lstStyle/>
          <a:p>
            <a:pPr marL="0" indent="0">
              <a:buNone/>
            </a:pPr>
            <a:r>
              <a:rPr lang="en-US" sz="1500" dirty="0">
                <a:solidFill>
                  <a:srgbClr val="5B6D74"/>
                </a:solidFill>
                <a:latin typeface="Calibri" pitchFamily="34" charset="0"/>
                <a:ea typeface="Calibri" pitchFamily="34" charset="-122"/>
                <a:cs typeface="Calibri" pitchFamily="34" charset="-120"/>
              </a:rPr>
              <a:t>Crawl script đã resume được, chỉ cần chạy tiếp</a:t>
            </a:r>
            <a:endParaRPr lang="en-US" sz="1500" dirty="0"/>
          </a:p>
        </p:txBody>
      </p:sp>
      <p:sp>
        <p:nvSpPr>
          <p:cNvPr id="12" name="Shape 9"/>
          <p:cNvSpPr/>
          <p:nvPr/>
        </p:nvSpPr>
        <p:spPr>
          <a:xfrm>
            <a:off x="548640" y="2971800"/>
            <a:ext cx="685800" cy="685800"/>
          </a:xfrm>
          <a:prstGeom prst="ellipse">
            <a:avLst/>
          </a:prstGeom>
          <a:solidFill>
            <a:srgbClr val="EAF2F3"/>
          </a:solidFill>
          <a:ln w="12700">
            <a:solidFill>
              <a:srgbClr val="EAF2F3"/>
            </a:solidFill>
            <a:prstDash val="solid"/>
          </a:ln>
        </p:spPr>
        <p:txBody>
          <a:bodyPr/>
          <a:lstStyle/>
          <a:p>
            <a:endParaRPr lang="en-VN"/>
          </a:p>
        </p:txBody>
      </p:sp>
      <p:pic>
        <p:nvPicPr>
          <p:cNvPr id="13" name="Image 1" descr="preencoded.png"/>
          <p:cNvPicPr>
            <a:picLocks noChangeAspect="1"/>
          </p:cNvPicPr>
          <p:nvPr/>
        </p:nvPicPr>
        <p:blipFill>
          <a:blip r:embed="rId4"/>
          <a:stretch>
            <a:fillRect/>
          </a:stretch>
        </p:blipFill>
        <p:spPr>
          <a:xfrm>
            <a:off x="720090" y="3143250"/>
            <a:ext cx="342900" cy="342900"/>
          </a:xfrm>
          <a:prstGeom prst="rect">
            <a:avLst/>
          </a:prstGeom>
        </p:spPr>
      </p:pic>
      <p:sp>
        <p:nvSpPr>
          <p:cNvPr id="14" name="Text 10"/>
          <p:cNvSpPr txBox="1"/>
          <p:nvPr/>
        </p:nvSpPr>
        <p:spPr>
          <a:xfrm>
            <a:off x="1463040" y="2926080"/>
            <a:ext cx="4754880" cy="384048"/>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Toạ độ và đặc trưng khoảng cách</a:t>
            </a:r>
            <a:endParaRPr lang="en-US" sz="1800" dirty="0"/>
          </a:p>
        </p:txBody>
      </p:sp>
      <p:sp>
        <p:nvSpPr>
          <p:cNvPr id="15" name="Text 11"/>
          <p:cNvSpPr txBox="1"/>
          <p:nvPr/>
        </p:nvSpPr>
        <p:spPr>
          <a:xfrm>
            <a:off x="1463040" y="3319272"/>
            <a:ext cx="4754880" cy="384048"/>
          </a:xfrm>
          <a:prstGeom prst="rect">
            <a:avLst/>
          </a:prstGeom>
          <a:noFill/>
          <a:ln/>
        </p:spPr>
        <p:txBody>
          <a:bodyPr wrap="square" lIns="0" tIns="0" rIns="0" bIns="0" rtlCol="0" anchor="t"/>
          <a:lstStyle/>
          <a:p>
            <a:pPr marL="0" indent="0">
              <a:buNone/>
            </a:pPr>
            <a:r>
              <a:rPr lang="en-US" sz="1500" dirty="0">
                <a:solidFill>
                  <a:srgbClr val="5B6D74"/>
                </a:solidFill>
                <a:latin typeface="Calibri" pitchFamily="34" charset="0"/>
                <a:ea typeface="Calibri" pitchFamily="34" charset="-122"/>
                <a:cs typeface="Calibri" pitchFamily="34" charset="-120"/>
              </a:rPr>
              <a:t>Đã thiết kế, hoãn theo cut-line</a:t>
            </a:r>
            <a:endParaRPr lang="en-US" sz="1500" dirty="0"/>
          </a:p>
        </p:txBody>
      </p:sp>
      <p:sp>
        <p:nvSpPr>
          <p:cNvPr id="16" name="Shape 12"/>
          <p:cNvSpPr/>
          <p:nvPr/>
        </p:nvSpPr>
        <p:spPr>
          <a:xfrm>
            <a:off x="548640" y="4069080"/>
            <a:ext cx="685800" cy="685800"/>
          </a:xfrm>
          <a:prstGeom prst="ellipse">
            <a:avLst/>
          </a:prstGeom>
          <a:solidFill>
            <a:srgbClr val="EAF2F3"/>
          </a:solidFill>
          <a:ln w="12700">
            <a:solidFill>
              <a:srgbClr val="EAF2F3"/>
            </a:solidFill>
            <a:prstDash val="solid"/>
          </a:ln>
        </p:spPr>
        <p:txBody>
          <a:bodyPr/>
          <a:lstStyle/>
          <a:p>
            <a:endParaRPr lang="en-VN"/>
          </a:p>
        </p:txBody>
      </p:sp>
      <p:pic>
        <p:nvPicPr>
          <p:cNvPr id="17" name="Image 2" descr="preencoded.png"/>
          <p:cNvPicPr>
            <a:picLocks noChangeAspect="1"/>
          </p:cNvPicPr>
          <p:nvPr/>
        </p:nvPicPr>
        <p:blipFill>
          <a:blip r:embed="rId5"/>
          <a:stretch>
            <a:fillRect/>
          </a:stretch>
        </p:blipFill>
        <p:spPr>
          <a:xfrm>
            <a:off x="720090" y="4240530"/>
            <a:ext cx="342900" cy="342900"/>
          </a:xfrm>
          <a:prstGeom prst="rect">
            <a:avLst/>
          </a:prstGeom>
        </p:spPr>
      </p:pic>
      <p:sp>
        <p:nvSpPr>
          <p:cNvPr id="18" name="Text 13"/>
          <p:cNvSpPr txBox="1"/>
          <p:nvPr/>
        </p:nvSpPr>
        <p:spPr>
          <a:xfrm>
            <a:off x="1463040" y="4023360"/>
            <a:ext cx="4754880" cy="384048"/>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Đối chiếu với giá giao dịch thật</a:t>
            </a:r>
            <a:endParaRPr lang="en-US" sz="1800" dirty="0"/>
          </a:p>
        </p:txBody>
      </p:sp>
      <p:sp>
        <p:nvSpPr>
          <p:cNvPr id="19" name="Text 14"/>
          <p:cNvSpPr txBox="1"/>
          <p:nvPr/>
        </p:nvSpPr>
        <p:spPr>
          <a:xfrm>
            <a:off x="1463040" y="4416552"/>
            <a:ext cx="4754880" cy="384048"/>
          </a:xfrm>
          <a:prstGeom prst="rect">
            <a:avLst/>
          </a:prstGeom>
          <a:noFill/>
          <a:ln/>
        </p:spPr>
        <p:txBody>
          <a:bodyPr wrap="square" lIns="0" tIns="0" rIns="0" bIns="0" rtlCol="0" anchor="t"/>
          <a:lstStyle/>
          <a:p>
            <a:pPr marL="0" indent="0">
              <a:buNone/>
            </a:pPr>
            <a:r>
              <a:rPr lang="en-US" sz="1500" dirty="0">
                <a:solidFill>
                  <a:srgbClr val="5B6D74"/>
                </a:solidFill>
                <a:latin typeface="Calibri" pitchFamily="34" charset="0"/>
                <a:ea typeface="Calibri" pitchFamily="34" charset="-122"/>
                <a:cs typeface="Calibri" pitchFamily="34" charset="-120"/>
              </a:rPr>
              <a:t>Nếu tiếp cận được dữ liệu giao dịch</a:t>
            </a:r>
            <a:endParaRPr lang="en-US" sz="1500" dirty="0"/>
          </a:p>
        </p:txBody>
      </p:sp>
      <p:sp>
        <p:nvSpPr>
          <p:cNvPr id="20" name="Shape 15"/>
          <p:cNvSpPr/>
          <p:nvPr/>
        </p:nvSpPr>
        <p:spPr>
          <a:xfrm>
            <a:off x="548640" y="5166360"/>
            <a:ext cx="685800" cy="685800"/>
          </a:xfrm>
          <a:prstGeom prst="ellipse">
            <a:avLst/>
          </a:prstGeom>
          <a:solidFill>
            <a:srgbClr val="EAF2F3"/>
          </a:solidFill>
          <a:ln w="12700">
            <a:solidFill>
              <a:srgbClr val="EAF2F3"/>
            </a:solidFill>
            <a:prstDash val="solid"/>
          </a:ln>
        </p:spPr>
        <p:txBody>
          <a:bodyPr/>
          <a:lstStyle/>
          <a:p>
            <a:endParaRPr lang="en-VN"/>
          </a:p>
        </p:txBody>
      </p:sp>
      <p:pic>
        <p:nvPicPr>
          <p:cNvPr id="21" name="Image 3" descr="preencoded.png"/>
          <p:cNvPicPr>
            <a:picLocks noChangeAspect="1"/>
          </p:cNvPicPr>
          <p:nvPr/>
        </p:nvPicPr>
        <p:blipFill>
          <a:blip r:embed="rId6"/>
          <a:stretch>
            <a:fillRect/>
          </a:stretch>
        </p:blipFill>
        <p:spPr>
          <a:xfrm>
            <a:off x="720090" y="5337810"/>
            <a:ext cx="342900" cy="342900"/>
          </a:xfrm>
          <a:prstGeom prst="rect">
            <a:avLst/>
          </a:prstGeom>
        </p:spPr>
      </p:pic>
      <p:sp>
        <p:nvSpPr>
          <p:cNvPr id="22" name="Text 16"/>
          <p:cNvSpPr txBox="1"/>
          <p:nvPr/>
        </p:nvSpPr>
        <p:spPr>
          <a:xfrm>
            <a:off x="1463040" y="5120640"/>
            <a:ext cx="4754880" cy="384048"/>
          </a:xfrm>
          <a:prstGeom prst="rect">
            <a:avLst/>
          </a:prstGeom>
          <a:noFill/>
          <a:ln/>
        </p:spPr>
        <p:txBody>
          <a:bodyPr wrap="square" lIns="0" tIns="0" rIns="0" bIns="0" rtlCol="0" anchor="t"/>
          <a:lstStyle/>
          <a:p>
            <a:pPr marL="0" indent="0">
              <a:buNone/>
            </a:pPr>
            <a:r>
              <a:rPr lang="en-US" sz="1800" b="1" dirty="0">
                <a:solidFill>
                  <a:srgbClr val="13303A"/>
                </a:solidFill>
                <a:latin typeface="Calibri" pitchFamily="34" charset="0"/>
                <a:ea typeface="Calibri" pitchFamily="34" charset="-122"/>
                <a:cs typeface="Calibri" pitchFamily="34" charset="-120"/>
              </a:rPr>
              <a:t>Đọc đường cong học</a:t>
            </a:r>
            <a:endParaRPr lang="en-US" sz="1800" dirty="0"/>
          </a:p>
        </p:txBody>
      </p:sp>
      <p:sp>
        <p:nvSpPr>
          <p:cNvPr id="23" name="Text 17"/>
          <p:cNvSpPr txBox="1"/>
          <p:nvPr/>
        </p:nvSpPr>
        <p:spPr>
          <a:xfrm>
            <a:off x="1463040" y="5513832"/>
            <a:ext cx="4754880" cy="384048"/>
          </a:xfrm>
          <a:prstGeom prst="rect">
            <a:avLst/>
          </a:prstGeom>
          <a:noFill/>
          <a:ln/>
        </p:spPr>
        <p:txBody>
          <a:bodyPr wrap="square" lIns="0" tIns="0" rIns="0" bIns="0" rtlCol="0" anchor="t"/>
          <a:lstStyle/>
          <a:p>
            <a:pPr marL="0" indent="0">
              <a:buNone/>
            </a:pPr>
            <a:r>
              <a:rPr lang="en-US" sz="1500" dirty="0">
                <a:solidFill>
                  <a:srgbClr val="5B6D74"/>
                </a:solidFill>
                <a:latin typeface="Calibri" pitchFamily="34" charset="0"/>
                <a:ea typeface="Calibri" pitchFamily="34" charset="-122"/>
                <a:cs typeface="Calibri" pitchFamily="34" charset="-120"/>
              </a:rPr>
              <a:t>Cho biết crawl thêm còn đáng hay không</a:t>
            </a:r>
            <a:endParaRPr lang="en-US" sz="1500" dirty="0"/>
          </a:p>
        </p:txBody>
      </p:sp>
      <p:sp>
        <p:nvSpPr>
          <p:cNvPr id="24" name="Shape 18"/>
          <p:cNvSpPr/>
          <p:nvPr/>
        </p:nvSpPr>
        <p:spPr>
          <a:xfrm>
            <a:off x="6583680" y="1783080"/>
            <a:ext cx="5029200" cy="4434840"/>
          </a:xfrm>
          <a:prstGeom prst="roundRect">
            <a:avLst>
              <a:gd name="adj" fmla="val 2062"/>
            </a:avLst>
          </a:prstGeom>
          <a:solidFill>
            <a:srgbClr val="FFFFFF"/>
          </a:solidFill>
          <a:ln w="12700">
            <a:solidFill>
              <a:srgbClr val="D3DFE2"/>
            </a:solidFill>
            <a:prstDash val="solid"/>
          </a:ln>
          <a:effectLst>
            <a:outerShdw blurRad="127000" dist="25400" dir="5400000" algn="bl" rotWithShape="0">
              <a:srgbClr val="000000">
                <a:alpha val="10000"/>
              </a:srgbClr>
            </a:outerShdw>
          </a:effectLst>
        </p:spPr>
        <p:txBody>
          <a:bodyPr/>
          <a:lstStyle/>
          <a:p>
            <a:endParaRPr lang="en-VN"/>
          </a:p>
        </p:txBody>
      </p:sp>
      <p:sp>
        <p:nvSpPr>
          <p:cNvPr id="25" name="Text 19"/>
          <p:cNvSpPr txBox="1"/>
          <p:nvPr/>
        </p:nvSpPr>
        <p:spPr>
          <a:xfrm>
            <a:off x="6812280" y="1920240"/>
            <a:ext cx="4572000" cy="347472"/>
          </a:xfrm>
          <a:prstGeom prst="rect">
            <a:avLst/>
          </a:prstGeom>
          <a:noFill/>
          <a:ln/>
        </p:spPr>
        <p:txBody>
          <a:bodyPr wrap="square" lIns="0" tIns="0" rIns="0" bIns="0" rtlCol="0" anchor="t"/>
          <a:lstStyle/>
          <a:p>
            <a:pPr marL="0" indent="0">
              <a:buNone/>
            </a:pPr>
            <a:r>
              <a:rPr lang="en-US" sz="1600" b="1" dirty="0">
                <a:solidFill>
                  <a:srgbClr val="13303A"/>
                </a:solidFill>
                <a:latin typeface="Calibri" pitchFamily="34" charset="0"/>
                <a:ea typeface="Calibri" pitchFamily="34" charset="-122"/>
                <a:cs typeface="Calibri" pitchFamily="34" charset="-120"/>
              </a:rPr>
              <a:t>Đường cong học (LightGBM)</a:t>
            </a:r>
            <a:endParaRPr lang="en-US" sz="1600" dirty="0"/>
          </a:p>
        </p:txBody>
      </p:sp>
      <p:sp>
        <p:nvSpPr>
          <p:cNvPr id="26" name="Text 20"/>
          <p:cNvSpPr txBox="1"/>
          <p:nvPr/>
        </p:nvSpPr>
        <p:spPr>
          <a:xfrm>
            <a:off x="6812280" y="2258568"/>
            <a:ext cx="4572000" cy="274320"/>
          </a:xfrm>
          <a:prstGeom prst="rect">
            <a:avLst/>
          </a:prstGeom>
          <a:noFill/>
          <a:ln/>
        </p:spPr>
        <p:txBody>
          <a:bodyPr wrap="square" lIns="0" tIns="0" rIns="0" bIns="0" rtlCol="0" anchor="t"/>
          <a:lstStyle/>
          <a:p>
            <a:pPr marL="0" indent="0">
              <a:buNone/>
            </a:pPr>
            <a:r>
              <a:rPr lang="en-US" sz="1200" dirty="0">
                <a:solidFill>
                  <a:srgbClr val="5B6D74"/>
                </a:solidFill>
                <a:latin typeface="Calibri" pitchFamily="34" charset="0"/>
                <a:ea typeface="Calibri" pitchFamily="34" charset="-122"/>
                <a:cs typeface="Calibri" pitchFamily="34" charset="-120"/>
              </a:rPr>
              <a:t>MdAPE (%) trên cùng tập hold-out, theo số tin huấn luyện</a:t>
            </a:r>
            <a:endParaRPr lang="en-US" sz="1200" dirty="0"/>
          </a:p>
        </p:txBody>
      </p:sp>
      <p:graphicFrame>
        <p:nvGraphicFramePr>
          <p:cNvPr id="27" name="Chart 0"/>
          <p:cNvGraphicFramePr/>
          <p:nvPr/>
        </p:nvGraphicFramePr>
        <p:xfrm>
          <a:off x="6720840" y="2560320"/>
          <a:ext cx="4754880" cy="2697480"/>
        </p:xfrm>
        <a:graphic>
          <a:graphicData uri="http://schemas.openxmlformats.org/drawingml/2006/chart">
            <c:chart xmlns:c="http://schemas.openxmlformats.org/drawingml/2006/chart" xmlns:r="http://schemas.openxmlformats.org/officeDocument/2006/relationships" r:id="rId7"/>
          </a:graphicData>
        </a:graphic>
      </p:graphicFrame>
      <p:sp>
        <p:nvSpPr>
          <p:cNvPr id="28" name="Text 21"/>
          <p:cNvSpPr txBox="1"/>
          <p:nvPr/>
        </p:nvSpPr>
        <p:spPr>
          <a:xfrm>
            <a:off x="6812280" y="5303520"/>
            <a:ext cx="4617720" cy="822960"/>
          </a:xfrm>
          <a:prstGeom prst="rect">
            <a:avLst/>
          </a:prstGeom>
          <a:noFill/>
          <a:ln/>
        </p:spPr>
        <p:txBody>
          <a:bodyPr wrap="square" lIns="0" tIns="0" rIns="0" bIns="0" rtlCol="0" anchor="t"/>
          <a:lstStyle/>
          <a:p>
            <a:pPr marL="0" indent="0">
              <a:buNone/>
            </a:pPr>
            <a:r>
              <a:rPr lang="en-US" sz="1250" dirty="0">
                <a:solidFill>
                  <a:srgbClr val="1B2A30"/>
                </a:solidFill>
                <a:latin typeface="Calibri" pitchFamily="34" charset="0"/>
                <a:ea typeface="Calibri" pitchFamily="34" charset="-122"/>
                <a:cs typeface="Calibri" pitchFamily="34" charset="-120"/>
              </a:rPr>
              <a:t>186 → 1.860 tin: MdAPE 22,9% → 14,2%. Bước cuối tăng 0,8 điểm; mỗi tỷ lệ mới chạy một lần nên chưa kết luận được đường cong đã phẳng.</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303A"/>
        </a:solidFill>
        <a:effectLst/>
      </p:bgPr>
    </p:bg>
    <p:spTree>
      <p:nvGrpSpPr>
        <p:cNvPr id="1" name=""/>
        <p:cNvGrpSpPr/>
        <p:nvPr/>
      </p:nvGrpSpPr>
      <p:grpSpPr>
        <a:xfrm>
          <a:off x="0" y="0"/>
          <a:ext cx="0" cy="0"/>
          <a:chOff x="0" y="0"/>
          <a:chExt cx="0" cy="0"/>
        </a:xfrm>
      </p:grpSpPr>
      <p:sp>
        <p:nvSpPr>
          <p:cNvPr id="2" name="Text 0"/>
          <p:cNvSpPr txBox="1"/>
          <p:nvPr/>
        </p:nvSpPr>
        <p:spPr>
          <a:xfrm>
            <a:off x="640080" y="777240"/>
            <a:ext cx="4572000" cy="365760"/>
          </a:xfrm>
          <a:prstGeom prst="rect">
            <a:avLst/>
          </a:prstGeom>
          <a:noFill/>
          <a:ln/>
        </p:spPr>
        <p:txBody>
          <a:bodyPr wrap="square" lIns="0" tIns="0" rIns="0" bIns="0" rtlCol="0" anchor="t"/>
          <a:lstStyle/>
          <a:p>
            <a:pPr marL="0" indent="0">
              <a:buNone/>
            </a:pPr>
            <a:r>
              <a:rPr lang="en-US" sz="1300" b="1" kern="0" spc="150" dirty="0">
                <a:solidFill>
                  <a:srgbClr val="F2A283"/>
                </a:solidFill>
                <a:latin typeface="Calibri" pitchFamily="34" charset="0"/>
                <a:ea typeface="Calibri" pitchFamily="34" charset="-122"/>
                <a:cs typeface="Calibri" pitchFamily="34" charset="-120"/>
              </a:rPr>
              <a:t>KẾT LUẬN</a:t>
            </a:r>
            <a:endParaRPr lang="en-US" sz="1300" dirty="0"/>
          </a:p>
        </p:txBody>
      </p:sp>
      <p:sp>
        <p:nvSpPr>
          <p:cNvPr id="3" name="Text 1"/>
          <p:cNvSpPr txBox="1"/>
          <p:nvPr/>
        </p:nvSpPr>
        <p:spPr>
          <a:xfrm>
            <a:off x="640080" y="1188720"/>
            <a:ext cx="6400800" cy="73152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Ba điều nhóm rút ra</a:t>
            </a:r>
            <a:endParaRPr lang="en-US" sz="3800" dirty="0"/>
          </a:p>
        </p:txBody>
      </p:sp>
      <p:sp>
        <p:nvSpPr>
          <p:cNvPr id="4" name="Text 2"/>
          <p:cNvSpPr txBox="1"/>
          <p:nvPr/>
        </p:nvSpPr>
        <p:spPr>
          <a:xfrm>
            <a:off x="640080" y="2240280"/>
            <a:ext cx="548640" cy="1005840"/>
          </a:xfrm>
          <a:prstGeom prst="rect">
            <a:avLst/>
          </a:prstGeom>
          <a:noFill/>
          <a:ln/>
        </p:spPr>
        <p:txBody>
          <a:bodyPr wrap="square" lIns="0" tIns="0" rIns="0" bIns="0" rtlCol="0" anchor="t"/>
          <a:lstStyle/>
          <a:p>
            <a:pPr marL="0" indent="0">
              <a:buNone/>
            </a:pPr>
            <a:r>
              <a:rPr lang="en-US" sz="3400" b="1" dirty="0">
                <a:solidFill>
                  <a:srgbClr val="F2A283"/>
                </a:solidFill>
                <a:latin typeface="Calibri" pitchFamily="34" charset="0"/>
                <a:ea typeface="Calibri" pitchFamily="34" charset="-122"/>
                <a:cs typeface="Calibri" pitchFamily="34" charset="-120"/>
              </a:rPr>
              <a:t>1</a:t>
            </a:r>
            <a:endParaRPr lang="en-US" sz="3400" dirty="0"/>
          </a:p>
        </p:txBody>
      </p:sp>
      <p:sp>
        <p:nvSpPr>
          <p:cNvPr id="5" name="Text 3"/>
          <p:cNvSpPr txBox="1"/>
          <p:nvPr/>
        </p:nvSpPr>
        <p:spPr>
          <a:xfrm>
            <a:off x="1280160" y="2313432"/>
            <a:ext cx="5760720" cy="10515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Boosting hơn baseline môi giới 6,32–6,66 điểm %</a:t>
            </a:r>
            <a:r>
              <a:rPr lang="en-US" sz="1700" dirty="0">
                <a:solidFill>
                  <a:srgbClr val="B4CAD0"/>
                </a:solidFill>
                <a:latin typeface="Calibri" pitchFamily="34" charset="0"/>
                <a:ea typeface="Calibri" pitchFamily="34" charset="-122"/>
                <a:cs typeface="Calibri" pitchFamily="34" charset="-120"/>
              </a:rPr>
              <a:t> MdAPE. Giá trị của học máy nằm ở khoảng cách này.</a:t>
            </a:r>
            <a:endParaRPr lang="en-US" sz="1700" dirty="0"/>
          </a:p>
        </p:txBody>
      </p:sp>
      <p:sp>
        <p:nvSpPr>
          <p:cNvPr id="6" name="Text 4"/>
          <p:cNvSpPr txBox="1"/>
          <p:nvPr/>
        </p:nvSpPr>
        <p:spPr>
          <a:xfrm>
            <a:off x="640080" y="3520440"/>
            <a:ext cx="548640" cy="1005840"/>
          </a:xfrm>
          <a:prstGeom prst="rect">
            <a:avLst/>
          </a:prstGeom>
          <a:noFill/>
          <a:ln/>
        </p:spPr>
        <p:txBody>
          <a:bodyPr wrap="square" lIns="0" tIns="0" rIns="0" bIns="0" rtlCol="0" anchor="t"/>
          <a:lstStyle/>
          <a:p>
            <a:pPr marL="0" indent="0">
              <a:buNone/>
            </a:pPr>
            <a:r>
              <a:rPr lang="en-US" sz="3400" b="1" dirty="0">
                <a:solidFill>
                  <a:srgbClr val="F2A283"/>
                </a:solidFill>
                <a:latin typeface="Calibri" pitchFamily="34" charset="0"/>
                <a:ea typeface="Calibri" pitchFamily="34" charset="-122"/>
                <a:cs typeface="Calibri" pitchFamily="34" charset="-120"/>
              </a:rPr>
              <a:t>2</a:t>
            </a:r>
            <a:endParaRPr lang="en-US" sz="3400" dirty="0"/>
          </a:p>
        </p:txBody>
      </p:sp>
      <p:sp>
        <p:nvSpPr>
          <p:cNvPr id="7" name="Text 5"/>
          <p:cNvSpPr txBox="1"/>
          <p:nvPr/>
        </p:nvSpPr>
        <p:spPr>
          <a:xfrm>
            <a:off x="1280160" y="3593592"/>
            <a:ext cx="5760720" cy="10515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Mô tả rao vặt có tín hiệu giá</a:t>
            </a:r>
            <a:r>
              <a:rPr lang="en-US" sz="1700" dirty="0">
                <a:solidFill>
                  <a:srgbClr val="B4CAD0"/>
                </a:solidFill>
                <a:latin typeface="Calibri" pitchFamily="34" charset="0"/>
                <a:ea typeface="Calibri" pitchFamily="34" charset="-122"/>
                <a:cs typeface="Calibri" pitchFamily="34" charset="-120"/>
              </a:rPr>
              <a:t>: giảm 0,89 điểm % MdAPE, nhất quán về dấu nhưng nhỏ hơn độ lệch giữa các fold.</a:t>
            </a:r>
            <a:endParaRPr lang="en-US" sz="1700" dirty="0"/>
          </a:p>
        </p:txBody>
      </p:sp>
      <p:sp>
        <p:nvSpPr>
          <p:cNvPr id="8" name="Text 6"/>
          <p:cNvSpPr txBox="1"/>
          <p:nvPr/>
        </p:nvSpPr>
        <p:spPr>
          <a:xfrm>
            <a:off x="640080" y="4800600"/>
            <a:ext cx="548640" cy="1005840"/>
          </a:xfrm>
          <a:prstGeom prst="rect">
            <a:avLst/>
          </a:prstGeom>
          <a:noFill/>
          <a:ln/>
        </p:spPr>
        <p:txBody>
          <a:bodyPr wrap="square" lIns="0" tIns="0" rIns="0" bIns="0" rtlCol="0" anchor="t"/>
          <a:lstStyle/>
          <a:p>
            <a:pPr marL="0" indent="0">
              <a:buNone/>
            </a:pPr>
            <a:r>
              <a:rPr lang="en-US" sz="3400" b="1" dirty="0">
                <a:solidFill>
                  <a:srgbClr val="F2A283"/>
                </a:solidFill>
                <a:latin typeface="Calibri" pitchFamily="34" charset="0"/>
                <a:ea typeface="Calibri" pitchFamily="34" charset="-122"/>
                <a:cs typeface="Calibri" pitchFamily="34" charset="-120"/>
              </a:rPr>
              <a:t>3</a:t>
            </a:r>
            <a:endParaRPr lang="en-US" sz="3400" dirty="0"/>
          </a:p>
        </p:txBody>
      </p:sp>
      <p:sp>
        <p:nvSpPr>
          <p:cNvPr id="9" name="Text 7"/>
          <p:cNvSpPr txBox="1"/>
          <p:nvPr/>
        </p:nvSpPr>
        <p:spPr>
          <a:xfrm>
            <a:off x="1280160" y="4873752"/>
            <a:ext cx="5760720" cy="10515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Dữ liệu cũ mất độ chính xác theo thời gian</a:t>
            </a:r>
            <a:r>
              <a:rPr lang="en-US" sz="1700" dirty="0">
                <a:solidFill>
                  <a:srgbClr val="B4CAD0"/>
                </a:solidFill>
                <a:latin typeface="Calibri" pitchFamily="34" charset="0"/>
                <a:ea typeface="Calibri" pitchFamily="34" charset="-122"/>
                <a:cs typeface="Calibri" pitchFamily="34" charset="-120"/>
              </a:rPr>
              <a:t>: chuyển sang tin 2026, MdAPE xấu đi trung vị 2,8 điểm %.</a:t>
            </a:r>
            <a:endParaRPr lang="en-US" sz="1700" dirty="0"/>
          </a:p>
        </p:txBody>
      </p:sp>
      <p:sp>
        <p:nvSpPr>
          <p:cNvPr id="10" name="Shape 8"/>
          <p:cNvSpPr/>
          <p:nvPr/>
        </p:nvSpPr>
        <p:spPr>
          <a:xfrm>
            <a:off x="7635240" y="777240"/>
            <a:ext cx="3977640" cy="5394960"/>
          </a:xfrm>
          <a:prstGeom prst="roundRect">
            <a:avLst>
              <a:gd name="adj" fmla="val 2759"/>
            </a:avLst>
          </a:prstGeom>
          <a:solidFill>
            <a:srgbClr val="1C4250"/>
          </a:solidFill>
          <a:ln w="12700">
            <a:solidFill>
              <a:srgbClr val="1C4250"/>
            </a:solidFill>
            <a:prstDash val="solid"/>
          </a:ln>
        </p:spPr>
        <p:txBody>
          <a:bodyPr/>
          <a:lstStyle/>
          <a:p>
            <a:endParaRPr lang="en-VN"/>
          </a:p>
        </p:txBody>
      </p:sp>
      <p:sp>
        <p:nvSpPr>
          <p:cNvPr id="11" name="Text 9"/>
          <p:cNvSpPr txBox="1"/>
          <p:nvPr/>
        </p:nvSpPr>
        <p:spPr>
          <a:xfrm>
            <a:off x="8001000" y="1280160"/>
            <a:ext cx="3291840" cy="164592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Cảm ơn thầy cô và các bạn đã lắng nghe</a:t>
            </a:r>
            <a:endParaRPr lang="en-US" sz="2600" dirty="0"/>
          </a:p>
        </p:txBody>
      </p:sp>
      <p:sp>
        <p:nvSpPr>
          <p:cNvPr id="12" name="Text 10"/>
          <p:cNvSpPr txBox="1"/>
          <p:nvPr/>
        </p:nvSpPr>
        <p:spPr>
          <a:xfrm>
            <a:off x="8001000" y="3291840"/>
            <a:ext cx="3291840" cy="914400"/>
          </a:xfrm>
          <a:prstGeom prst="rect">
            <a:avLst/>
          </a:prstGeom>
          <a:noFill/>
          <a:ln/>
        </p:spPr>
        <p:txBody>
          <a:bodyPr wrap="square" lIns="0" tIns="0" rIns="0" bIns="0" rtlCol="0" anchor="t"/>
          <a:lstStyle/>
          <a:p>
            <a:pPr marL="0" indent="0">
              <a:buNone/>
            </a:pPr>
            <a:r>
              <a:rPr lang="en-US" sz="4800" b="1" dirty="0">
                <a:solidFill>
                  <a:srgbClr val="F2A283"/>
                </a:solidFill>
                <a:latin typeface="Calibri" pitchFamily="34" charset="0"/>
                <a:ea typeface="Calibri" pitchFamily="34" charset="-122"/>
                <a:cs typeface="Calibri" pitchFamily="34" charset="-120"/>
              </a:rPr>
              <a:t>Hỏi đáp</a:t>
            </a:r>
            <a:endParaRPr lang="en-US" sz="4800" dirty="0"/>
          </a:p>
        </p:txBody>
      </p:sp>
      <p:sp>
        <p:nvSpPr>
          <p:cNvPr id="13" name="Text 11"/>
          <p:cNvSpPr txBox="1"/>
          <p:nvPr/>
        </p:nvSpPr>
        <p:spPr>
          <a:xfrm>
            <a:off x="8001000" y="5532120"/>
            <a:ext cx="3291840" cy="365760"/>
          </a:xfrm>
          <a:prstGeom prst="rect">
            <a:avLst/>
          </a:prstGeom>
          <a:noFill/>
          <a:ln/>
        </p:spPr>
        <p:txBody>
          <a:bodyPr wrap="square" lIns="0" tIns="0" rIns="0" bIns="0" rtlCol="0" anchor="t"/>
          <a:lstStyle/>
          <a:p>
            <a:pPr marL="0" indent="0">
              <a:buNone/>
            </a:pPr>
            <a:r>
              <a:rPr lang="en-US" sz="1300" dirty="0">
                <a:solidFill>
                  <a:srgbClr val="B4CAD0"/>
                </a:solidFill>
                <a:latin typeface="Calibri" pitchFamily="34" charset="0"/>
                <a:ea typeface="Calibri" pitchFamily="34" charset="-122"/>
                <a:cs typeface="Calibri" pitchFamily="34" charset="-120"/>
              </a:rPr>
              <a:t>CS106.F31.CN2 · Nhóm 14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5186</Words>
  <Application>Microsoft Macintosh PowerPoint</Application>
  <PresentationFormat>Widescreen</PresentationFormat>
  <Paragraphs>482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báo giá nhà TP.HCM từ dữ liệu rao vặt</dc:title>
  <dc:subject>PptxGenJS Presentation</dc:subject>
  <dc:creator>Nhóm 14 · CS106.F31.CN2</dc:creator>
  <cp:lastModifiedBy>Nguyễn Thanh Duy</cp:lastModifiedBy>
  <cp:revision>1</cp:revision>
  <dcterms:created xsi:type="dcterms:W3CDTF">2026-09-15T18:19:44Z</dcterms:created>
  <dcterms:modified xsi:type="dcterms:W3CDTF">2026-09-15T19:02:45Z</dcterms:modified>
</cp:coreProperties>
</file>