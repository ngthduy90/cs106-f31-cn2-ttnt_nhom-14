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Dự báo giá nhà TP.HCM từ dữ liệu rao vặt</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CS106.F31.CN2 · Đồ án đề tài 5 · Nhóm 14</a:t>
            </a:r>
          </a:p>
        </p:txBody>
      </p:sp>
      <p:sp>
        <p:nvSpPr>
          <p:cNvPr id="4" name="Date Placeholder 3"/>
          <p:cNvSpPr>
            <a:spLocks noGrp="1"/>
          </p:cNvSpPr>
          <p:nvPr>
            <p:ph idx="10" sz="half" type="dt"/>
          </p:nvPr>
        </p:nvSpPr>
        <p:spPr/>
        <p:txBody>
          <a:bodyPr/>
          <a:lstStyle/>
          <a:p>
            <a:pPr lvl="0" indent="0" marL="0">
              <a:buNone/>
            </a:pPr>
            <a:r>
              <a:rPr/>
              <a:t>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Bài toán</a:t>
            </a:r>
          </a:p>
        </p:txBody>
      </p:sp>
      <p:sp>
        <p:nvSpPr>
          <p:cNvPr id="3" name="Content Placeholder 2"/>
          <p:cNvSpPr>
            <a:spLocks noGrp="1"/>
          </p:cNvSpPr>
          <p:nvPr>
            <p:ph idx="1"/>
          </p:nvPr>
        </p:nvSpPr>
        <p:spPr/>
        <p:txBody>
          <a:bodyPr/>
          <a:lstStyle/>
          <a:p>
            <a:pPr lvl="0" indent="0" marL="0">
              <a:buNone/>
            </a:pPr>
            <a:r>
              <a:rPr/>
              <a:t>Ước lượng </a:t>
            </a:r>
            <a:r>
              <a:rPr b="1"/>
              <a:t>tổng giá rao</a:t>
            </a:r>
            <a:r>
              <a:rPr/>
              <a:t> của một bất động sản tại TP.HCM từ:</a:t>
            </a:r>
          </a:p>
          <a:p>
            <a:pPr lvl="0"/>
            <a:r>
              <a:rPr/>
              <a:t>các thuộc tính có cấu trúc: diện tích, phòng ngủ, số tầng, vị trí, pháp lý</a:t>
            </a:r>
          </a:p>
          <a:p>
            <a:pPr lvl="0"/>
            <a:r>
              <a:rPr/>
              <a:t>và </a:t>
            </a:r>
            <a:r>
              <a:rPr b="1"/>
              <a:t>mô tả tự do</a:t>
            </a:r>
            <a:r>
              <a:rPr/>
              <a:t> của tin rao</a:t>
            </a:r>
          </a:p>
          <a:p>
            <a:pPr lvl="0" indent="0" marL="0">
              <a:buNone/>
            </a:pPr>
            <a:r>
              <a:rPr/>
              <a:t>Vì sao đáng làm: mô tả chứa thông tin mà form không có: “hẻm xe hơi”, “nở hậu”, “ngộp bank”, “sổ hồng riêng”. Câu hỏi trung tâm: phần văn bản đó đáng bao nhiêu?</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Ba nguồn dữ liệu</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Vai trò</a:t>
                      </a:r>
                    </a:p>
                  </a:txBody>
                  <a:tcPr/>
                </a:tc>
                <a:tc>
                  <a:txBody>
                    <a:bodyPr/>
                    <a:lstStyle/>
                    <a:p>
                      <a:pPr lvl="0" indent="0" marL="0">
                        <a:buNone/>
                      </a:pPr>
                      <a:r>
                        <a:rPr/>
                        <a:t>Nguồn</a:t>
                      </a:r>
                    </a:p>
                  </a:txBody>
                  <a:tcPr/>
                </a:tc>
                <a:tc>
                  <a:txBody>
                    <a:bodyPr/>
                    <a:lstStyle/>
                    <a:p>
                      <a:pPr lvl="0" indent="0" marL="0">
                        <a:buNone/>
                      </a:pPr>
                      <a:r>
                        <a:rPr/>
                        <a:t>Cách lấy</a:t>
                      </a:r>
                    </a:p>
                  </a:txBody>
                  <a:tcPr/>
                </a:tc>
              </a:tr>
              <a:tr h="0">
                <a:tc>
                  <a:txBody>
                    <a:bodyPr/>
                    <a:lstStyle/>
                    <a:p>
                      <a:pPr lvl="0" indent="0" marL="0">
                        <a:buNone/>
                      </a:pPr>
                      <a:r>
                        <a:rPr/>
                        <a:t>Hiện tại</a:t>
                      </a:r>
                    </a:p>
                  </a:txBody>
                </a:tc>
                <a:tc>
                  <a:txBody>
                    <a:bodyPr/>
                    <a:lstStyle/>
                    <a:p>
                      <a:pPr lvl="0" indent="0" marL="0">
                        <a:buNone/>
                      </a:pPr>
                      <a:r>
                        <a:rPr/>
                        <a:t>Chợ Tốt</a:t>
                      </a:r>
                    </a:p>
                  </a:txBody>
                </a:tc>
                <a:tc>
                  <a:txBody>
                    <a:bodyPr/>
                    <a:lstStyle/>
                    <a:p>
                      <a:pPr lvl="0" indent="0" marL="0">
                        <a:buNone/>
                      </a:pPr>
                      <a:r>
                        <a:rPr/>
                        <a:t>API JSON công khai, quét theo quận</a:t>
                      </a:r>
                    </a:p>
                  </a:txBody>
                </a:tc>
              </a:tr>
              <a:tr h="0">
                <a:tc>
                  <a:txBody>
                    <a:bodyPr/>
                    <a:lstStyle/>
                    <a:p>
                      <a:pPr lvl="0" indent="0" marL="0">
                        <a:buNone/>
                      </a:pPr>
                      <a:r>
                        <a:rPr/>
                        <a:t>Hiện tại</a:t>
                      </a:r>
                    </a:p>
                  </a:txBody>
                </a:tc>
                <a:tc>
                  <a:txBody>
                    <a:bodyPr/>
                    <a:lstStyle/>
                    <a:p>
                      <a:pPr lvl="0" indent="0" marL="0">
                        <a:buNone/>
                      </a:pPr>
                      <a:r>
                        <a:rPr/>
                        <a:t>mogi.vn</a:t>
                      </a:r>
                    </a:p>
                  </a:txBody>
                </a:tc>
                <a:tc>
                  <a:txBody>
                    <a:bodyPr/>
                    <a:lstStyle/>
                    <a:p>
                      <a:pPr lvl="0" indent="0" marL="0">
                        <a:buNone/>
                      </a:pPr>
                      <a:r>
                        <a:rPr/>
                        <a:t>Parse HTML danh sách → chi tiết</a:t>
                      </a:r>
                    </a:p>
                  </a:txBody>
                </a:tc>
              </a:tr>
              <a:tr h="0">
                <a:tc>
                  <a:txBody>
                    <a:bodyPr/>
                    <a:lstStyle/>
                    <a:p>
                      <a:pPr lvl="0" indent="0" marL="0">
                        <a:buNone/>
                      </a:pPr>
                      <a:r>
                        <a:rPr/>
                        <a:t>Lịch sử</a:t>
                      </a:r>
                    </a:p>
                  </a:txBody>
                </a:tc>
                <a:tc>
                  <a:txBody>
                    <a:bodyPr/>
                    <a:lstStyle/>
                    <a:p>
                      <a:pPr lvl="0" indent="0" marL="0">
                        <a:buNone/>
                      </a:pPr>
                      <a:r>
                        <a:rPr>
                          <a:latin typeface="Courier"/>
                        </a:rPr>
                        <a:t>tinixai/vietnam-real-estates</a:t>
                      </a:r>
                    </a:p>
                  </a:txBody>
                </a:tc>
                <a:tc>
                  <a:txBody>
                    <a:bodyPr/>
                    <a:lstStyle/>
                    <a:p>
                      <a:pPr lvl="0" indent="0" marL="0">
                        <a:buNone/>
                      </a:pPr>
                      <a:r>
                        <a:rPr/>
                        <a:t>Tải parquet từ Hugging Face</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Ranh giới tự đặt: tôn trọng </a:t>
            </a:r>
            <a:r>
              <a:rPr>
                <a:latin typeface="Courier"/>
              </a:rPr>
              <a:t>robots.txt</a:t>
            </a:r>
            <a:r>
              <a:rPr/>
              <a:t>, không vượt anti-bot chủ động, 1 request mỗi 1,5 giây, không thu thập thông tin người bán.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Xoá số điện thoại ngay lúc ghi file</a:t>
            </a:r>
          </a:p>
        </p:txBody>
      </p:sp>
      <p:sp>
        <p:nvSpPr>
          <p:cNvPr id="3" name="Content Placeholder 2"/>
          <p:cNvSpPr>
            <a:spLocks noGrp="1"/>
          </p:cNvSpPr>
          <p:nvPr>
            <p:ph idx="1"/>
          </p:nvPr>
        </p:nvSpPr>
        <p:spPr/>
        <p:txBody>
          <a:bodyPr/>
          <a:lstStyle/>
          <a:p>
            <a:pPr lvl="0" indent="0" marL="0">
              <a:buNone/>
            </a:pPr>
            <a:r>
              <a:rPr/>
              <a:t>Người rao né bộ lọc của sàn bằng đủ kiểu: chữ số Unicode, emoji, chữ cái thay số, số viết bằng chữ, ký tự vô hình chèn giữa.</a:t>
            </a:r>
          </a:p>
          <a:p>
            <a:pPr lvl="0" indent="0" marL="0">
              <a:buNone/>
            </a:pPr>
            <a:r>
              <a:rPr/>
              <a:t>Cách xử lý: chuẩn hoá thành chuỗi </a:t>
            </a:r>
            <a:r>
              <a:rPr i="1"/>
              <a:t>chỉ-để-dò</a:t>
            </a:r>
            <a:r>
              <a:rPr/>
              <a:t> nhưng </a:t>
            </a:r>
            <a:r>
              <a:rPr b="1"/>
              <a:t>giữ bản đồ vị trí ngược</a:t>
            </a:r>
            <a:r>
              <a:rPr/>
              <a:t> về văn bản gốc → chỉ đúng đoạn số điện thoại bị xoá.</a:t>
            </a:r>
          </a:p>
          <a:p>
            <a:pPr lvl="0" indent="0" marL="0">
              <a:buNone/>
            </a:pPr>
            <a:r>
              <a:rPr/>
              <a:t>14 kiểu nguỵ trang phủ bằng test · </a:t>
            </a:r>
            <a:r>
              <a:rPr b="1"/>
              <a:t>0 số sót lại</a:t>
            </a:r>
            <a:r>
              <a:rPr/>
              <a:t> trong kho thô.</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Trích đặc trưng định lượng từ văn bản</a:t>
            </a:r>
          </a:p>
        </p:txBody>
      </p:sp>
      <p:sp>
        <p:nvSpPr>
          <p:cNvPr id="3" name="Content Placeholder 2"/>
          <p:cNvSpPr>
            <a:spLocks noGrp="1"/>
          </p:cNvSpPr>
          <p:nvPr>
            <p:ph idx="1"/>
          </p:nvPr>
        </p:nvSpPr>
        <p:spPr/>
        <p:txBody>
          <a:bodyPr/>
          <a:lstStyle/>
          <a:p>
            <a:pPr lvl="0" indent="0" marL="0">
              <a:buNone/>
            </a:pPr>
            <a:r>
              <a:rPr/>
              <a:t>Bảy trường rút bằng regex. Ba luật khó nhất:</a:t>
            </a:r>
          </a:p>
          <a:p>
            <a:pPr lvl="0"/>
            <a:r>
              <a:rPr b="1"/>
              <a:t>“1 trệt 2 lầu” = 3 tầng</a:t>
            </a:r>
            <a:r>
              <a:rPr/>
              <a:t>: tiếng Việt đếm tầng bằng phép cộng thành phần</a:t>
            </a:r>
          </a:p>
          <a:p>
            <a:pPr lvl="0"/>
            <a:r>
              <a:rPr b="1"/>
              <a:t>“4x15” là kích thước, không phải diện tích</a:t>
            </a:r>
            <a:r>
              <a:rPr/>
              <a:t>: phải nhân ra, và chiều ngang chính là mặt tiền</a:t>
            </a:r>
          </a:p>
          <a:p>
            <a:pPr lvl="0"/>
            <a:r>
              <a:rPr b="1"/>
              <a:t>“nhà mặt tiền” ≠ “mặt tiền 4m”</a:t>
            </a:r>
            <a:r>
              <a:rPr/>
              <a:t>: một cái là loại vị trí, một cái là số đo</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Đo chất lượng bằng nhãn độc lập</a:t>
            </a:r>
          </a:p>
        </p:txBody>
      </p:sp>
      <p:sp>
        <p:nvSpPr>
          <p:cNvPr id="4" name="Text Placeholder 3"/>
          <p:cNvSpPr>
            <a:spLocks noGrp="1"/>
          </p:cNvSpPr>
          <p:nvPr>
            <p:ph idx="2" sz="half" type="body"/>
          </p:nvPr>
        </p:nvSpPr>
        <p:spPr/>
        <p:txBody>
          <a:bodyPr/>
          <a:lstStyle/>
          <a:p>
            <a:pPr lvl="0" indent="0" marL="0">
              <a:buNone/>
            </a:pPr>
            <a:r>
              <a:rPr/>
              <a:t>Nhãn </a:t>
            </a:r>
            <a:r>
              <a:rPr b="1"/>
              <a:t>không</a:t>
            </a:r>
            <a:r>
              <a:rPr/>
              <a:t> do LLM gán, mà lấy từ chính </a:t>
            </a:r>
            <a:r>
              <a:rPr b="1"/>
              <a:t>trường có cấu trúc người bán điền vào form</a:t>
            </a:r>
            <a:r>
              <a:rPr/>
              <a:t>, thứ bộ luật regex không hề nhìn thấy.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Trường</a:t>
                      </a:r>
                    </a:p>
                  </a:txBody>
                  <a:tcPr/>
                </a:tc>
                <a:tc>
                  <a:txBody>
                    <a:bodyPr/>
                    <a:lstStyle/>
                    <a:p>
                      <a:pPr lvl="0" indent="0" marL="0">
                        <a:buNone/>
                      </a:pPr>
                      <a:r>
                        <a:rPr/>
                        <a:t>F1</a:t>
                      </a:r>
                    </a:p>
                  </a:txBody>
                  <a:tcPr/>
                </a:tc>
              </a:tr>
              <a:tr h="0">
                <a:tc>
                  <a:txBody>
                    <a:bodyPr/>
                    <a:lstStyle/>
                    <a:p>
                      <a:pPr lvl="0" indent="0" marL="0">
                        <a:buNone/>
                      </a:pPr>
                      <a:r>
                        <a:rPr/>
                        <a:t>Diện tích</a:t>
                      </a:r>
                    </a:p>
                  </a:txBody>
                </a:tc>
                <a:tc>
                  <a:txBody>
                    <a:bodyPr/>
                    <a:lstStyle/>
                    <a:p>
                      <a:pPr lvl="0" indent="0" marL="0">
                        <a:buNone/>
                      </a:pPr>
                      <a:r>
                        <a:rPr b="1"/>
                        <a:t>0,939</a:t>
                      </a:r>
                      <a:r>
                        <a:rPr/>
                        <a:t> ✓</a:t>
                      </a:r>
                    </a:p>
                  </a:txBody>
                </a:tc>
              </a:tr>
              <a:tr h="0">
                <a:tc>
                  <a:txBody>
                    <a:bodyPr/>
                    <a:lstStyle/>
                    <a:p>
                      <a:pPr lvl="0" indent="0" marL="0">
                        <a:buNone/>
                      </a:pPr>
                      <a:r>
                        <a:rPr/>
                        <a:t>Số phòng ngủ</a:t>
                      </a:r>
                    </a:p>
                  </a:txBody>
                </a:tc>
                <a:tc>
                  <a:txBody>
                    <a:bodyPr/>
                    <a:lstStyle/>
                    <a:p>
                      <a:pPr lvl="0" indent="0" marL="0">
                        <a:buNone/>
                      </a:pPr>
                      <a:r>
                        <a:rPr/>
                        <a:t>0,887</a:t>
                      </a:r>
                    </a:p>
                  </a:txBody>
                </a:tc>
              </a:tr>
              <a:tr h="0">
                <a:tc>
                  <a:txBody>
                    <a:bodyPr/>
                    <a:lstStyle/>
                    <a:p>
                      <a:pPr lvl="0" indent="0" marL="0">
                        <a:buNone/>
                      </a:pPr>
                      <a:r>
                        <a:rPr/>
                        <a:t>Số nhà tắm</a:t>
                      </a:r>
                    </a:p>
                  </a:txBody>
                </a:tc>
                <a:tc>
                  <a:txBody>
                    <a:bodyPr/>
                    <a:lstStyle/>
                    <a:p>
                      <a:pPr lvl="0" indent="0" marL="0">
                        <a:buNone/>
                      </a:pPr>
                      <a:r>
                        <a:rPr/>
                        <a:t>0,894</a:t>
                      </a:r>
                    </a:p>
                  </a:txBody>
                </a:tc>
              </a:tr>
              <a:tr h="0">
                <a:tc>
                  <a:txBody>
                    <a:bodyPr/>
                    <a:lstStyle/>
                    <a:p>
                      <a:pPr lvl="0" indent="0" marL="0">
                        <a:buNone/>
                      </a:pPr>
                      <a:r>
                        <a:rPr/>
                        <a:t>Số tầng</a:t>
                      </a:r>
                    </a:p>
                  </a:txBody>
                </a:tc>
                <a:tc>
                  <a:txBody>
                    <a:bodyPr/>
                    <a:lstStyle/>
                    <a:p>
                      <a:pPr lvl="0" indent="0" marL="0">
                        <a:buNone/>
                      </a:pPr>
                      <a:r>
                        <a:rPr/>
                        <a:t>0,802</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Số tầng dừng dưới chỉ tiêu: 13/17 lỗi còn lại lệch </a:t>
            </a:r>
            <a:r>
              <a:rPr b="1"/>
              <a:t>đúng 1 đơn vị</a:t>
            </a:r>
            <a:r>
              <a:rPr/>
              <a:t>, trên các tin viết “1 trệt 1 lầu” nhưng điền số 1 vào form. Nhiễu của nhãn, không phải bộ luật đọc sai.</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Sáp nhập hành chính 2025</a:t>
            </a:r>
          </a:p>
        </p:txBody>
      </p:sp>
      <p:sp>
        <p:nvSpPr>
          <p:cNvPr id="3" name="Content Placeholder 2"/>
          <p:cNvSpPr>
            <a:spLocks noGrp="1"/>
          </p:cNvSpPr>
          <p:nvPr>
            <p:ph idx="1"/>
          </p:nvPr>
        </p:nvSpPr>
        <p:spPr/>
        <p:txBody>
          <a:bodyPr/>
          <a:lstStyle/>
          <a:p>
            <a:pPr lvl="0" indent="0" marL="0">
              <a:buNone/>
            </a:pPr>
            <a:r>
              <a:rPr/>
              <a:t>TP.HCM còn </a:t>
            </a:r>
            <a:r>
              <a:rPr b="1"/>
              <a:t>168 đơn vị cấp xã</a:t>
            </a:r>
            <a:r>
              <a:rPr/>
              <a:t> (113 phường, 54 xã, 1 đặc khu) từ 01/07/2025. Tin 2026 ghi phường mới, dữ liệu lịch sử ghi phường cũ.</a:t>
            </a:r>
          </a:p>
          <a:p>
            <a:pPr lvl="0" indent="0" marL="0">
              <a:buNone/>
            </a:pPr>
            <a:r>
              <a:rPr b="1"/>
              <a:t>Bảng ánh xạ dựng từ chính dữ liệu</a:t>
            </a:r>
            <a:r>
              <a:rPr/>
              <a:t>: API Chợ Tốt trả cả tên phường hệ cũ lẫn hệ mới cho cùng một tin → mỗi tin là một cặp ánh xạ do sàn khẳng định.</a:t>
            </a:r>
          </a:p>
          <a:p>
            <a:pPr lvl="0" indent="0" marL="0">
              <a:buNone/>
            </a:pPr>
            <a:r>
              <a:rPr/>
              <a:t>Kết quả cũng lộ ra cạm bẫy: </a:t>
            </a:r>
            <a:r>
              <a:rPr b="1"/>
              <a:t>14/16 phường mới gộp từ nhiều phường cũ</a:t>
            </a:r>
            <a:r>
              <a:rPr/>
              <a:t>, tỷ lệ đa số thấp nhất 0,45.</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Chống rò rỉ nhãn: kiểm, không tin</a:t>
            </a:r>
          </a:p>
        </p:txBody>
      </p:sp>
      <p:sp>
        <p:nvSpPr>
          <p:cNvPr id="3" name="Content Placeholder 2"/>
          <p:cNvSpPr>
            <a:spLocks noGrp="1"/>
          </p:cNvSpPr>
          <p:nvPr>
            <p:ph idx="1"/>
          </p:nvPr>
        </p:nvSpPr>
        <p:spPr/>
        <p:txBody>
          <a:bodyPr/>
          <a:lstStyle/>
          <a:p>
            <a:pPr lvl="0" indent="0" marL="0">
              <a:buNone/>
            </a:pPr>
            <a:r>
              <a:rPr/>
              <a:t>Danh sách kiểm chạy trước </a:t>
            </a:r>
            <a:r>
              <a:rPr b="1"/>
              <a:t>mỗi</a:t>
            </a:r>
            <a:r>
              <a:rPr/>
              <a:t> lần huấn luyện. Nó bắt được hai lỗi thật:</a:t>
            </a:r>
          </a:p>
          <a:p>
            <a:pPr lvl="0" indent="-342900" marL="342900">
              <a:buAutoNum type="arabicPeriod"/>
            </a:pPr>
            <a:r>
              <a:rPr/>
              <a:t>Bước tách từ </a:t>
            </a:r>
            <a:r>
              <a:rPr b="1"/>
              <a:t>tái tạo</a:t>
            </a:r>
            <a:r>
              <a:rPr/>
              <a:t> cụm tiền sau khi đã lọc: bỏ dấu phẩy thập phân biến “5,85” thành “585” nằm cạnh chữ “tỷ” còn sót</a:t>
            </a:r>
          </a:p>
          <a:p>
            <a:pPr lvl="0" indent="-342900" marL="342900">
              <a:buAutoNum type="arabicPeriod"/>
            </a:pPr>
            <a:r>
              <a:rPr/>
              <a:t>Đơn giá lọt qua dưới dạng “110 </a:t>
            </a:r>
            <a:r>
              <a:rPr b="1"/>
              <a:t>triệum2</a:t>
            </a:r>
            <a:r>
              <a:rPr/>
              <a:t>”, thứ nhân với diện tích ra thẳng nhãn</a:t>
            </a:r>
          </a:p>
          <a:p>
            <a:pPr lvl="0" indent="0" marL="0">
              <a:buNone/>
            </a:pPr>
            <a:r>
              <a:rPr/>
              <a:t>Kết quả: </a:t>
            </a:r>
            <a:r>
              <a:rPr b="1"/>
              <a:t>0/34.607</a:t>
            </a:r>
            <a:r>
              <a:rPr/>
              <a:t> dòng mang token tiền vào TF-IDF.</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Pipeline</a:t>
            </a:r>
          </a:p>
        </p:txBody>
      </p:sp>
      <p:pic>
        <p:nvPicPr>
          <p:cNvPr descr="../figures/01-pipeline-tong-the.png" id="0" name="Picture 1"/>
          <p:cNvPicPr>
            <a:picLocks noGrp="1" noChangeAspect="1"/>
          </p:cNvPicPr>
          <p:nvPr/>
        </p:nvPicPr>
        <p:blipFill>
          <a:blip r:embed="rId2"/>
          <a:stretch>
            <a:fillRect/>
          </a:stretch>
        </p:blipFill>
        <p:spPr bwMode="auto">
          <a:xfrm>
            <a:off x="2006600" y="1193800"/>
            <a:ext cx="51308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Pipeline tổng thể</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Danh mục 12 mô hình, 4 tầng</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Tầng</a:t>
                      </a:r>
                    </a:p>
                  </a:txBody>
                  <a:tcPr/>
                </a:tc>
                <a:tc>
                  <a:txBody>
                    <a:bodyPr/>
                    <a:lstStyle/>
                    <a:p>
                      <a:pPr lvl="0" indent="0" marL="0">
                        <a:buNone/>
                      </a:pPr>
                      <a:r>
                        <a:rPr/>
                        <a:t>Mô hình</a:t>
                      </a:r>
                    </a:p>
                  </a:txBody>
                  <a:tcPr/>
                </a:tc>
              </a:tr>
              <a:tr h="0">
                <a:tc>
                  <a:txBody>
                    <a:bodyPr/>
                    <a:lstStyle/>
                    <a:p>
                      <a:pPr lvl="0" indent="0" marL="0">
                        <a:buNone/>
                      </a:pPr>
                      <a:r>
                        <a:rPr/>
                        <a:t>0 · mốc</a:t>
                      </a:r>
                    </a:p>
                  </a:txBody>
                </a:tc>
                <a:tc>
                  <a:txBody>
                    <a:bodyPr/>
                    <a:lstStyle/>
                    <a:p>
                      <a:pPr lvl="0" indent="0" marL="0">
                        <a:buNone/>
                      </a:pPr>
                      <a:r>
                        <a:rPr/>
                        <a:t>Dummy · </a:t>
                      </a:r>
                      <a:r>
                        <a:rPr b="1"/>
                        <a:t>trung vị giá/m² theo nhóm</a:t>
                      </a:r>
                    </a:p>
                  </a:txBody>
                </a:tc>
              </a:tr>
              <a:tr h="0">
                <a:tc>
                  <a:txBody>
                    <a:bodyPr/>
                    <a:lstStyle/>
                    <a:p>
                      <a:pPr lvl="0" indent="0" marL="0">
                        <a:buNone/>
                      </a:pPr>
                      <a:r>
                        <a:rPr/>
                        <a:t>1 · tuyến tính</a:t>
                      </a:r>
                    </a:p>
                  </a:txBody>
                </a:tc>
                <a:tc>
                  <a:txBody>
                    <a:bodyPr/>
                    <a:lstStyle/>
                    <a:p>
                      <a:pPr lvl="0" indent="0" marL="0">
                        <a:buNone/>
                      </a:pPr>
                      <a:r>
                        <a:rPr/>
                        <a:t>Linear · Ridge · Lasso</a:t>
                      </a:r>
                    </a:p>
                  </a:txBody>
                </a:tc>
              </a:tr>
              <a:tr h="0">
                <a:tc>
                  <a:txBody>
                    <a:bodyPr/>
                    <a:lstStyle/>
                    <a:p>
                      <a:pPr lvl="0" indent="0" marL="0">
                        <a:buNone/>
                      </a:pPr>
                      <a:r>
                        <a:rPr/>
                        <a:t>2 · chủ lực</a:t>
                      </a:r>
                    </a:p>
                  </a:txBody>
                </a:tc>
                <a:tc>
                  <a:txBody>
                    <a:bodyPr/>
                    <a:lstStyle/>
                    <a:p>
                      <a:pPr lvl="0" indent="0" marL="0">
                        <a:buNone/>
                      </a:pPr>
                      <a:r>
                        <a:rPr/>
                        <a:t>Random Forest · LightGBM · CatBoost · XGBoost</a:t>
                      </a:r>
                    </a:p>
                  </a:txBody>
                </a:tc>
              </a:tr>
              <a:tr h="0">
                <a:tc>
                  <a:txBody>
                    <a:bodyPr/>
                    <a:lstStyle/>
                    <a:p>
                      <a:pPr lvl="0" indent="0" marL="0">
                        <a:buNone/>
                      </a:pPr>
                      <a:r>
                        <a:rPr/>
                        <a:t>3 · mở rộng</a:t>
                      </a:r>
                    </a:p>
                  </a:txBody>
                </a:tc>
                <a:tc>
                  <a:txBody>
                    <a:bodyPr/>
                    <a:lstStyle/>
                    <a:p>
                      <a:pPr lvl="0" indent="0" marL="0">
                        <a:buNone/>
                      </a:pPr>
                      <a:r>
                        <a:rPr/>
                        <a:t>KNN · Cây quyết định · MLP</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Mốc đáng quan tâm nhất là </a:t>
            </a:r>
            <a:r>
              <a:rPr b="1"/>
              <a:t>baseline môi giới</a:t>
            </a:r>
            <a:r>
              <a:rPr/>
              <a:t>: cách một người môi giới định giá trong đầu. Thắng Dummy chỉ chứng minh dữ liệu có tín hiệu.</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Kết quả chính (E1)</a:t>
            </a:r>
          </a:p>
        </p:txBody>
      </p:sp>
      <p:sp>
        <p:nvSpPr>
          <p:cNvPr id="4" name="Text Placeholder 3"/>
          <p:cNvSpPr>
            <a:spLocks noGrp="1"/>
          </p:cNvSpPr>
          <p:nvPr>
            <p:ph idx="2" sz="half" type="body"/>
          </p:nvPr>
        </p:nvSpPr>
        <p:spPr/>
        <p:txBody>
          <a:bodyPr/>
          <a:lstStyle/>
          <a:p>
            <a:pPr lvl="0" indent="0" marL="0">
              <a:buNone/>
            </a:pPr>
            <a:r>
              <a:rPr/>
              <a:t>2.326 tin Chợ Tốt · 5-fold · cùng bộ fold, cùng ngân sách tinh chỉnh</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Mô hình</a:t>
                      </a:r>
                    </a:p>
                  </a:txBody>
                  <a:tcPr/>
                </a:tc>
                <a:tc>
                  <a:txBody>
                    <a:bodyPr/>
                    <a:lstStyle/>
                    <a:p>
                      <a:pPr lvl="0" indent="0" marL="0" algn="r">
                        <a:buNone/>
                      </a:pPr>
                      <a:r>
                        <a:rPr/>
                        <a:t>MdAPE (%)</a:t>
                      </a:r>
                    </a:p>
                  </a:txBody>
                  <a:tcPr/>
                </a:tc>
                <a:tc>
                  <a:txBody>
                    <a:bodyPr/>
                    <a:lstStyle/>
                    <a:p>
                      <a:pPr lvl="0" indent="0" marL="0" algn="r">
                        <a:buNone/>
                      </a:pPr>
                      <a:r>
                        <a:rPr/>
                        <a:t>RMSE (tỷ)</a:t>
                      </a:r>
                    </a:p>
                  </a:txBody>
                  <a:tcPr/>
                </a:tc>
                <a:tc>
                  <a:txBody>
                    <a:bodyPr/>
                    <a:lstStyle/>
                    <a:p>
                      <a:pPr lvl="0" indent="0" marL="0" algn="r">
                        <a:buNone/>
                      </a:pPr>
                      <a:r>
                        <a:rPr/>
                        <a:t>R²</a:t>
                      </a:r>
                    </a:p>
                  </a:txBody>
                  <a:tcPr/>
                </a:tc>
              </a:tr>
              <a:tr h="0">
                <a:tc>
                  <a:txBody>
                    <a:bodyPr/>
                    <a:lstStyle/>
                    <a:p>
                      <a:pPr lvl="0" indent="0" marL="0">
                        <a:buNone/>
                      </a:pPr>
                      <a:r>
                        <a:rPr/>
                        <a:t>Dummy (trung vị)</a:t>
                      </a:r>
                    </a:p>
                  </a:txBody>
                </a:tc>
                <a:tc>
                  <a:txBody>
                    <a:bodyPr/>
                    <a:lstStyle/>
                    <a:p>
                      <a:pPr lvl="0" indent="0" marL="0" algn="r">
                        <a:buNone/>
                      </a:pPr>
                      <a:r>
                        <a:rPr/>
                        <a:t>34,6</a:t>
                      </a:r>
                    </a:p>
                  </a:txBody>
                </a:tc>
                <a:tc>
                  <a:txBody>
                    <a:bodyPr/>
                    <a:lstStyle/>
                    <a:p>
                      <a:pPr lvl="0" indent="0" marL="0" algn="r">
                        <a:buNone/>
                      </a:pPr>
                      <a:r>
                        <a:rPr/>
                        <a:t>7,250</a:t>
                      </a:r>
                    </a:p>
                  </a:txBody>
                </a:tc>
                <a:tc>
                  <a:txBody>
                    <a:bodyPr/>
                    <a:lstStyle/>
                    <a:p>
                      <a:pPr lvl="0" indent="0" marL="0" algn="r">
                        <a:buNone/>
                      </a:pPr>
                      <a:r>
                        <a:rPr/>
                        <a:t>-0,053</a:t>
                      </a:r>
                    </a:p>
                  </a:txBody>
                </a:tc>
              </a:tr>
              <a:tr h="0">
                <a:tc>
                  <a:txBody>
                    <a:bodyPr/>
                    <a:lstStyle/>
                    <a:p>
                      <a:pPr lvl="0" indent="0" marL="0">
                        <a:buNone/>
                      </a:pPr>
                      <a:r>
                        <a:rPr/>
                        <a:t>Trung vị giá/m² theo nhóm</a:t>
                      </a:r>
                    </a:p>
                  </a:txBody>
                </a:tc>
                <a:tc>
                  <a:txBody>
                    <a:bodyPr/>
                    <a:lstStyle/>
                    <a:p>
                      <a:pPr lvl="0" indent="0" marL="0" algn="r">
                        <a:buNone/>
                      </a:pPr>
                      <a:r>
                        <a:rPr/>
                        <a:t>20,5</a:t>
                      </a:r>
                    </a:p>
                  </a:txBody>
                </a:tc>
                <a:tc>
                  <a:txBody>
                    <a:bodyPr/>
                    <a:lstStyle/>
                    <a:p>
                      <a:pPr lvl="0" indent="0" marL="0" algn="r">
                        <a:buNone/>
                      </a:pPr>
                      <a:r>
                        <a:rPr/>
                        <a:t>3,802</a:t>
                      </a:r>
                    </a:p>
                  </a:txBody>
                </a:tc>
                <a:tc>
                  <a:txBody>
                    <a:bodyPr/>
                    <a:lstStyle/>
                    <a:p>
                      <a:pPr lvl="0" indent="0" marL="0" algn="r">
                        <a:buNone/>
                      </a:pPr>
                      <a:r>
                        <a:rPr/>
                        <a:t>0,706</a:t>
                      </a:r>
                    </a:p>
                  </a:txBody>
                </a:tc>
              </a:tr>
              <a:tr h="0">
                <a:tc>
                  <a:txBody>
                    <a:bodyPr/>
                    <a:lstStyle/>
                    <a:p>
                      <a:pPr lvl="0" indent="0" marL="0">
                        <a:buNone/>
                      </a:pPr>
                      <a:r>
                        <a:rPr/>
                        <a:t>Ridge</a:t>
                      </a:r>
                    </a:p>
                  </a:txBody>
                </a:tc>
                <a:tc>
                  <a:txBody>
                    <a:bodyPr/>
                    <a:lstStyle/>
                    <a:p>
                      <a:pPr lvl="0" indent="0" marL="0" algn="r">
                        <a:buNone/>
                      </a:pPr>
                      <a:r>
                        <a:rPr/>
                        <a:t>19,7</a:t>
                      </a:r>
                    </a:p>
                  </a:txBody>
                </a:tc>
                <a:tc>
                  <a:txBody>
                    <a:bodyPr/>
                    <a:lstStyle/>
                    <a:p>
                      <a:pPr lvl="0" indent="0" marL="0" algn="r">
                        <a:buNone/>
                      </a:pPr>
                      <a:r>
                        <a:rPr/>
                        <a:t>7,002</a:t>
                      </a:r>
                    </a:p>
                  </a:txBody>
                </a:tc>
                <a:tc>
                  <a:txBody>
                    <a:bodyPr/>
                    <a:lstStyle/>
                    <a:p>
                      <a:pPr lvl="0" indent="0" marL="0" algn="r">
                        <a:buNone/>
                      </a:pPr>
                      <a:r>
                        <a:rPr/>
                        <a:t>-0,160</a:t>
                      </a:r>
                    </a:p>
                  </a:txBody>
                </a:tc>
              </a:tr>
              <a:tr h="0">
                <a:tc>
                  <a:txBody>
                    <a:bodyPr/>
                    <a:lstStyle/>
                    <a:p>
                      <a:pPr lvl="0" indent="0" marL="0">
                        <a:buNone/>
                      </a:pPr>
                      <a:r>
                        <a:rPr/>
                        <a:t>Random Forest</a:t>
                      </a:r>
                    </a:p>
                  </a:txBody>
                </a:tc>
                <a:tc>
                  <a:txBody>
                    <a:bodyPr/>
                    <a:lstStyle/>
                    <a:p>
                      <a:pPr lvl="0" indent="0" marL="0" algn="r">
                        <a:buNone/>
                      </a:pPr>
                      <a:r>
                        <a:rPr/>
                        <a:t>15,1</a:t>
                      </a:r>
                    </a:p>
                  </a:txBody>
                </a:tc>
                <a:tc>
                  <a:txBody>
                    <a:bodyPr/>
                    <a:lstStyle/>
                    <a:p>
                      <a:pPr lvl="0" indent="0" marL="0" algn="r">
                        <a:buNone/>
                      </a:pPr>
                      <a:r>
                        <a:rPr/>
                        <a:t>4,626</a:t>
                      </a:r>
                    </a:p>
                  </a:txBody>
                </a:tc>
                <a:tc>
                  <a:txBody>
                    <a:bodyPr/>
                    <a:lstStyle/>
                    <a:p>
                      <a:pPr lvl="0" indent="0" marL="0" algn="r">
                        <a:buNone/>
                      </a:pPr>
                      <a:r>
                        <a:rPr/>
                        <a:t>0,579</a:t>
                      </a:r>
                    </a:p>
                  </a:txBody>
                </a:tc>
              </a:tr>
              <a:tr h="0">
                <a:tc>
                  <a:txBody>
                    <a:bodyPr/>
                    <a:lstStyle/>
                    <a:p>
                      <a:pPr lvl="0" indent="0" marL="0">
                        <a:buNone/>
                      </a:pPr>
                      <a:r>
                        <a:rPr b="1"/>
                        <a:t>LightGBM</a:t>
                      </a:r>
                    </a:p>
                  </a:txBody>
                </a:tc>
                <a:tc>
                  <a:txBody>
                    <a:bodyPr/>
                    <a:lstStyle/>
                    <a:p>
                      <a:pPr lvl="0" indent="0" marL="0" algn="r">
                        <a:buNone/>
                      </a:pPr>
                      <a:r>
                        <a:rPr/>
                        <a:t>13,9</a:t>
                      </a:r>
                    </a:p>
                  </a:txBody>
                </a:tc>
                <a:tc>
                  <a:txBody>
                    <a:bodyPr/>
                    <a:lstStyle/>
                    <a:p>
                      <a:pPr lvl="0" indent="0" marL="0" algn="r">
                        <a:buNone/>
                      </a:pPr>
                      <a:r>
                        <a:rPr/>
                        <a:t>3,925</a:t>
                      </a:r>
                    </a:p>
                  </a:txBody>
                </a:tc>
                <a:tc>
                  <a:txBody>
                    <a:bodyPr/>
                    <a:lstStyle/>
                    <a:p>
                      <a:pPr lvl="0" indent="0" marL="0" algn="r">
                        <a:buNone/>
                      </a:pPr>
                      <a:r>
                        <a:rPr/>
                        <a:t>0,698</a:t>
                      </a:r>
                    </a:p>
                  </a:txBody>
                </a:tc>
              </a:tr>
              <a:tr h="0">
                <a:tc>
                  <a:txBody>
                    <a:bodyPr/>
                    <a:lstStyle/>
                    <a:p>
                      <a:pPr lvl="0" indent="0" marL="0">
                        <a:buNone/>
                      </a:pPr>
                      <a:r>
                        <a:rPr b="1"/>
                        <a:t>XGBoost</a:t>
                      </a:r>
                    </a:p>
                  </a:txBody>
                </a:tc>
                <a:tc>
                  <a:txBody>
                    <a:bodyPr/>
                    <a:lstStyle/>
                    <a:p>
                      <a:pPr lvl="0" indent="0" marL="0" algn="r">
                        <a:buNone/>
                      </a:pPr>
                      <a:r>
                        <a:rPr/>
                        <a:t>14,0</a:t>
                      </a:r>
                    </a:p>
                  </a:txBody>
                </a:tc>
                <a:tc>
                  <a:txBody>
                    <a:bodyPr/>
                    <a:lstStyle/>
                    <a:p>
                      <a:pPr lvl="0" indent="0" marL="0" algn="r">
                        <a:buNone/>
                      </a:pPr>
                      <a:r>
                        <a:rPr/>
                        <a:t>3,793</a:t>
                      </a:r>
                    </a:p>
                  </a:txBody>
                </a:tc>
                <a:tc>
                  <a:txBody>
                    <a:bodyPr/>
                    <a:lstStyle/>
                    <a:p>
                      <a:pPr lvl="0" indent="0" marL="0" algn="r">
                        <a:buNone/>
                      </a:pPr>
                      <a:r>
                        <a:rPr/>
                        <a:t>0,716</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LightGBM và XGBoost hơn baseline môi giới 6,66 điểm phần trăm MdAPE. Cách biệt giữa các mô hình in đậm nhỏ hơn độ lệch chuẩn giữa các fold, nên không chọn ra một mô hình thắng. Điều kiện so sánh công bằng: cùng bộ fold, cùng ngân sách tinh chỉnh, cùng seed. Không tuyên bố hơn kém khi hai khoảng trung bình ± độ lệch chuẩn chồng lấn.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Vì sao phải báo cả ba chỉ số</a:t>
            </a:r>
          </a:p>
        </p:txBody>
      </p:sp>
      <p:sp>
        <p:nvSpPr>
          <p:cNvPr id="3" name="Content Placeholder 2"/>
          <p:cNvSpPr>
            <a:spLocks noGrp="1"/>
          </p:cNvSpPr>
          <p:nvPr>
            <p:ph idx="1"/>
          </p:nvPr>
        </p:nvSpPr>
        <p:spPr/>
        <p:txBody>
          <a:bodyPr/>
          <a:lstStyle/>
          <a:p>
            <a:pPr lvl="0" indent="0" marL="0">
              <a:buNone/>
            </a:pPr>
            <a:r>
              <a:rPr/>
              <a:t>Nhóm tuyến tính: </a:t>
            </a:r>
            <a:r>
              <a:rPr b="1"/>
              <a:t>MdAPE khá, nhưng R² âm</a:t>
            </a:r>
            <a:r>
              <a:rPr/>
              <a:t>.</a:t>
            </a:r>
          </a:p>
          <a:p>
            <a:pPr lvl="0" indent="0" marL="0">
              <a:buNone/>
            </a:pPr>
            <a:r>
              <a:rPr/>
              <a:t>Không phải lỗi cài đặt. Huấn luyện trên log giá, mô hình tuyến tính ngoại suy rất xa ở vài điểm, phép </a:t>
            </a:r>
            <a:r>
              <a:rPr>
                <a:latin typeface="Courier"/>
              </a:rPr>
              <a:t>exp</a:t>
            </a:r>
            <a:r>
              <a:rPr/>
              <a:t> biến sai lệch đó thành con số khổng lồ trên thang VND. Trung vị không bị ảnh hưởng, RMSE thì sụp.</a:t>
            </a:r>
          </a:p>
          <a:p>
            <a:pPr lvl="0"/>
            <a:r>
              <a:rPr/>
              <a:t>Đọc R² một mình → kết luận hồi quy tuyến tính vô dụng. Sai.</a:t>
            </a:r>
          </a:p>
          <a:p>
            <a:pPr lvl="0"/>
            <a:r>
              <a:rPr/>
              <a:t>Đọc MdAPE một mình → kết luận nó ngang boosting. Cũng sai.</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Ablation: văn bản đáng bao nhiêu?</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Đặc trưng dùng</a:t>
                      </a:r>
                    </a:p>
                  </a:txBody>
                  <a:tcPr/>
                </a:tc>
                <a:tc>
                  <a:txBody>
                    <a:bodyPr/>
                    <a:lstStyle/>
                    <a:p>
                      <a:pPr lvl="0" indent="0" marL="0" algn="r">
                        <a:buNone/>
                      </a:pPr>
                      <a:r>
                        <a:rPr/>
                        <a:t>MdAPE (%)</a:t>
                      </a:r>
                    </a:p>
                  </a:txBody>
                  <a:tcPr/>
                </a:tc>
                <a:tc>
                  <a:txBody>
                    <a:bodyPr/>
                    <a:lstStyle/>
                    <a:p>
                      <a:pPr lvl="0" indent="0" marL="0" algn="r">
                        <a:buNone/>
                      </a:pPr>
                      <a:r>
                        <a:rPr/>
                        <a:t>Δ</a:t>
                      </a:r>
                    </a:p>
                  </a:txBody>
                  <a:tcPr/>
                </a:tc>
              </a:tr>
              <a:tr h="0">
                <a:tc>
                  <a:txBody>
                    <a:bodyPr/>
                    <a:lstStyle/>
                    <a:p>
                      <a:pPr lvl="0" indent="0" marL="0">
                        <a:buNone/>
                      </a:pPr>
                      <a:r>
                        <a:rPr/>
                        <a:t>Chỉ đặc trưng bảng</a:t>
                      </a:r>
                    </a:p>
                  </a:txBody>
                </a:tc>
                <a:tc>
                  <a:txBody>
                    <a:bodyPr/>
                    <a:lstStyle/>
                    <a:p>
                      <a:pPr lvl="0" indent="0" marL="0" algn="r">
                        <a:buNone/>
                      </a:pPr>
                      <a:r>
                        <a:rPr/>
                        <a:t>14,77</a:t>
                      </a:r>
                    </a:p>
                  </a:txBody>
                </a:tc>
                <a:tc>
                  <a:txBody>
                    <a:bodyPr/>
                    <a:lstStyle/>
                    <a:p>
                      <a:pPr lvl="0" indent="0" marL="0" algn="r">
                        <a:buNone/>
                      </a:pPr>
                      <a:r>
                        <a:rPr/>
                        <a:t>0,00</a:t>
                      </a:r>
                    </a:p>
                  </a:txBody>
                </a:tc>
              </a:tr>
              <a:tr h="0">
                <a:tc>
                  <a:txBody>
                    <a:bodyPr/>
                    <a:lstStyle/>
                    <a:p>
                      <a:pPr lvl="0" indent="0" marL="0">
                        <a:buNone/>
                      </a:pPr>
                      <a:r>
                        <a:rPr/>
                        <a:t>Bảng + cờ văn bản thủ công</a:t>
                      </a:r>
                    </a:p>
                  </a:txBody>
                </a:tc>
                <a:tc>
                  <a:txBody>
                    <a:bodyPr/>
                    <a:lstStyle/>
                    <a:p>
                      <a:pPr lvl="0" indent="0" marL="0" algn="r">
                        <a:buNone/>
                      </a:pPr>
                      <a:r>
                        <a:rPr/>
                        <a:t>14,08</a:t>
                      </a:r>
                    </a:p>
                  </a:txBody>
                </a:tc>
                <a:tc>
                  <a:txBody>
                    <a:bodyPr/>
                    <a:lstStyle/>
                    <a:p>
                      <a:pPr lvl="0" indent="0" marL="0" algn="r">
                        <a:buNone/>
                      </a:pPr>
                      <a:r>
                        <a:rPr/>
                        <a:t>-0,69</a:t>
                      </a:r>
                    </a:p>
                  </a:txBody>
                </a:tc>
              </a:tr>
              <a:tr h="0">
                <a:tc>
                  <a:txBody>
                    <a:bodyPr/>
                    <a:lstStyle/>
                    <a:p>
                      <a:pPr lvl="0" indent="0" marL="0">
                        <a:buNone/>
                      </a:pPr>
                      <a:r>
                        <a:rPr/>
                        <a:t>Bảng + TF-IDF/SVD</a:t>
                      </a:r>
                    </a:p>
                  </a:txBody>
                </a:tc>
                <a:tc>
                  <a:txBody>
                    <a:bodyPr/>
                    <a:lstStyle/>
                    <a:p>
                      <a:pPr lvl="0" indent="0" marL="0" algn="r">
                        <a:buNone/>
                      </a:pPr>
                      <a:r>
                        <a:rPr/>
                        <a:t>13,91</a:t>
                      </a:r>
                    </a:p>
                  </a:txBody>
                </a:tc>
                <a:tc>
                  <a:txBody>
                    <a:bodyPr/>
                    <a:lstStyle/>
                    <a:p>
                      <a:pPr lvl="0" indent="0" marL="0" algn="r">
                        <a:buNone/>
                      </a:pPr>
                      <a:r>
                        <a:rPr/>
                        <a:t>-0,86</a:t>
                      </a:r>
                    </a:p>
                  </a:txBody>
                </a:tc>
              </a:tr>
              <a:tr h="0">
                <a:tc>
                  <a:txBody>
                    <a:bodyPr/>
                    <a:lstStyle/>
                    <a:p>
                      <a:pPr lvl="0" indent="0" marL="0">
                        <a:buNone/>
                      </a:pPr>
                      <a:r>
                        <a:rPr/>
                        <a:t>Bảng + TF-IDF/SVD + cờ</a:t>
                      </a:r>
                    </a:p>
                  </a:txBody>
                </a:tc>
                <a:tc>
                  <a:txBody>
                    <a:bodyPr/>
                    <a:lstStyle/>
                    <a:p>
                      <a:pPr lvl="0" indent="0" marL="0" algn="r">
                        <a:buNone/>
                      </a:pPr>
                      <a:r>
                        <a:rPr/>
                        <a:t>13,88</a:t>
                      </a:r>
                    </a:p>
                  </a:txBody>
                </a:tc>
                <a:tc>
                  <a:txBody>
                    <a:bodyPr/>
                    <a:lstStyle/>
                    <a:p>
                      <a:pPr lvl="0" indent="0" marL="0" algn="r">
                        <a:buNone/>
                      </a:pPr>
                      <a:r>
                        <a:rPr/>
                        <a:t>-0,89</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Cùng bộ fold, cùng mô hình, cùng ngân sách. Khác biệt duy nhất là nhánh văn bản.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E2: trôi giá theo thời gian</a:t>
            </a:r>
          </a:p>
        </p:txBody>
      </p:sp>
      <p:sp>
        <p:nvSpPr>
          <p:cNvPr id="4" name="Text Placeholder 3"/>
          <p:cNvSpPr>
            <a:spLocks noGrp="1"/>
          </p:cNvSpPr>
          <p:nvPr>
            <p:ph idx="2" sz="half" type="body"/>
          </p:nvPr>
        </p:nvSpPr>
        <p:spPr/>
        <p:txBody>
          <a:bodyPr/>
          <a:lstStyle/>
          <a:p>
            <a:pPr lvl="0" indent="0" marL="0">
              <a:buNone/>
            </a:pPr>
            <a:r>
              <a:rPr/>
              <a:t>Huấn luyện trên tin ≤ 06/2025 → kiểm trên tin crawl 08/2026.</a:t>
            </a:r>
          </a:p>
          <a:p>
            <a:pPr lvl="0" indent="0" marL="0">
              <a:buNone/>
            </a:pPr>
            <a:r>
              <a:rPr/>
              <a:t>Cả hai phía đều là </a:t>
            </a:r>
            <a:r>
              <a:rPr b="1"/>
              <a:t>giá rao</a:t>
            </a:r>
            <a:r>
              <a:rPr/>
              <a:t>, nên con số đo được là trôi giá theo thời gian thuần tuý, không lẫn khoảng cách giá rao / giá giao dịch.</a:t>
            </a:r>
          </a:p>
        </p:txBody>
      </p:sp>
      <p:pic>
        <p:nvPicPr>
          <p:cNvPr descr="../figures/eda-04-gia-m2-theo-thang.png" id="0" name="Picture 1"/>
          <p:cNvPicPr>
            <a:picLocks noGrp="1" noChangeAspect="1"/>
          </p:cNvPicPr>
          <p:nvPr/>
        </p:nvPicPr>
        <p:blipFill>
          <a:blip r:embed="rId2"/>
          <a:stretch>
            <a:fillRect/>
          </a:stretch>
        </p:blipFill>
        <p:spPr bwMode="auto">
          <a:xfrm>
            <a:off x="3568700" y="1079500"/>
            <a:ext cx="5105400" cy="2120900"/>
          </a:xfrm>
          <a:prstGeom prst="rect">
            <a:avLst/>
          </a:prstGeom>
          <a:noFill/>
          <a:ln w="9525">
            <a:noFill/>
            <a:headEnd/>
            <a:tailEnd/>
          </a:ln>
        </p:spPr>
      </p:pic>
      <p:sp>
        <p:nvSpPr>
          <p:cNvPr id="1" name="TextBox 3"/>
          <p:cNvSpPr txBox="1"/>
          <p:nvPr>
            <p:ph idx="1"/>
          </p:nvPr>
        </p:nvSpPr>
        <p:spPr>
          <a:xfrm>
            <a:off x="3568700" y="4076700"/>
            <a:ext cx="5105400" cy="508000"/>
          </a:xfrm>
          <a:prstGeom prst="rect">
            <a:avLst/>
          </a:prstGeom>
          <a:noFill/>
        </p:spPr>
        <p:txBody>
          <a:bodyPr/>
          <a:lstStyle/>
          <a:p>
            <a:pPr lvl="0" indent="0" marL="0" algn="ctr">
              <a:buNone/>
            </a:pPr>
            <a:r>
              <a:rPr/>
              <a:t>Giá mỗi m² trung vị theo tháng</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Demo</a:t>
            </a:r>
          </a:p>
        </p:txBody>
      </p:sp>
      <p:pic>
        <p:nvPicPr>
          <p:cNvPr descr="../../submission/Demo/demo-02-ket-qua-va-giai-thich.png" id="0" name="Picture 1"/>
          <p:cNvPicPr>
            <a:picLocks noGrp="1" noChangeAspect="1"/>
          </p:cNvPicPr>
          <p:nvPr/>
        </p:nvPicPr>
        <p:blipFill>
          <a:blip r:embed="rId2"/>
          <a:stretch>
            <a:fillRect/>
          </a:stretch>
        </p:blipFill>
        <p:spPr bwMode="auto">
          <a:xfrm>
            <a:off x="1676400" y="1193800"/>
            <a:ext cx="57785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Ảnh chụp web app</a:t>
            </a:r>
          </a:p>
        </p:txBody>
      </p:sp>
      <p:sp>
        <p:nvSpPr>
          <p:cNvPr id="3" name="Content Placeholder 2"/>
          <p:cNvSpPr>
            <a:spLocks noGrp="1"/>
          </p:cNvSpPr>
          <p:nvPr>
            <p:ph idx="1"/>
          </p:nvPr>
        </p:nvSpPr>
        <p:spPr/>
        <p:txBody>
          <a:bodyPr/>
          <a:lstStyle/>
          <a:p>
            <a:pPr lvl="0" indent="0" marL="0">
              <a:buNone/>
            </a:pPr>
            <a:r>
              <a:rPr/>
              <a:t>Streamlit, nạp đúng artefact mà bước huấn luyện xuất ra. Khoảng tin cậy lấy từ MdAPE đo trên hold-out, không phải con số tự đặt.</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Hạn chế, nói thẳng</a:t>
            </a:r>
          </a:p>
        </p:txBody>
      </p:sp>
      <p:sp>
        <p:nvSpPr>
          <p:cNvPr id="3" name="Content Placeholder 2"/>
          <p:cNvSpPr>
            <a:spLocks noGrp="1"/>
          </p:cNvSpPr>
          <p:nvPr>
            <p:ph idx="1"/>
          </p:nvPr>
        </p:nvSpPr>
        <p:spPr/>
        <p:txBody>
          <a:bodyPr/>
          <a:lstStyle/>
          <a:p>
            <a:pPr lvl="0"/>
            <a:r>
              <a:rPr/>
              <a:t>Học từ </a:t>
            </a:r>
            <a:r>
              <a:rPr b="1"/>
              <a:t>giá rao</a:t>
            </a:r>
            <a:r>
              <a:rPr/>
              <a:t>, không phải giá giao dịch. Nhóm không có dữ liệu để đo khoảng cách đó nên không phỏng đoán.</a:t>
            </a:r>
          </a:p>
          <a:p>
            <a:pPr lvl="0"/>
            <a:r>
              <a:rPr/>
              <a:t>Chỉ phủ TP.HCM, dày nhất ở ba quận mục tiêu. E3 đo trực tiếp mức suy giảm khi sang khu vực chưa thấy.</a:t>
            </a:r>
          </a:p>
          <a:p>
            <a:pPr lvl="0"/>
            <a:r>
              <a:rPr/>
              <a:t>Tin rao tự mâu thuẫn: form một đằng, mô tả một nẻo.</a:t>
            </a:r>
          </a:p>
          <a:p>
            <a:pPr lvl="0"/>
            <a:r>
              <a:rPr/>
              <a:t>Số tầng chưa đạt chỉ tiêu F1 0,9. Báo cáo trung thực kèm phân tích lỗi thay vì chỉnh luật cho khớp nhãn nhiễu.</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Hướng phát triển</a:t>
            </a:r>
          </a:p>
        </p:txBody>
      </p:sp>
      <p:sp>
        <p:nvSpPr>
          <p:cNvPr id="3" name="Content Placeholder 2"/>
          <p:cNvSpPr>
            <a:spLocks noGrp="1"/>
          </p:cNvSpPr>
          <p:nvPr>
            <p:ph idx="1"/>
          </p:nvPr>
        </p:nvSpPr>
        <p:spPr/>
        <p:txBody>
          <a:bodyPr/>
          <a:lstStyle/>
          <a:p>
            <a:pPr lvl="0"/>
            <a:r>
              <a:rPr/>
              <a:t>Bổ sung dữ liệu: crawl script đã resume được, chỉ cần chạy tiếp</a:t>
            </a:r>
          </a:p>
          <a:p>
            <a:pPr lvl="0"/>
            <a:r>
              <a:rPr/>
              <a:t>Toạ độ và đặc trưng khoảng cách (đã thiết kế, hoãn theo cut-line)</a:t>
            </a:r>
          </a:p>
          <a:p>
            <a:pPr lvl="0"/>
            <a:r>
              <a:rPr/>
              <a:t>Đối chiếu với dữ liệu giao dịch thật nếu tiếp cận được</a:t>
            </a:r>
          </a:p>
          <a:p>
            <a:pPr lvl="0"/>
            <a:r>
              <a:rPr/>
              <a:t>Đường cong học cho biết crawl thêm còn đáng hay không</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Phân công</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Thành viên</a:t>
                      </a:r>
                    </a:p>
                  </a:txBody>
                  <a:tcPr/>
                </a:tc>
                <a:tc>
                  <a:txBody>
                    <a:bodyPr/>
                    <a:lstStyle/>
                    <a:p>
                      <a:pPr lvl="0" indent="0" marL="0">
                        <a:buNone/>
                      </a:pPr>
                      <a:r>
                        <a:rPr/>
                        <a:t>Phần phụ trách</a:t>
                      </a:r>
                    </a:p>
                  </a:txBody>
                  <a:tcPr/>
                </a:tc>
              </a:tr>
              <a:tr h="0">
                <a:tc>
                  <a:txBody>
                    <a:bodyPr/>
                    <a:lstStyle/>
                    <a:p>
                      <a:pPr lvl="0" indent="0" marL="0">
                        <a:buNone/>
                      </a:pPr>
                      <a:r>
                        <a:rPr i="1"/>
                        <a:t>(cập nhật)</a:t>
                      </a:r>
                    </a:p>
                  </a:txBody>
                </a:tc>
                <a:tc>
                  <a:txBody>
                    <a:bodyPr/>
                    <a:lstStyle/>
                    <a:p>
                      <a:pPr lvl="0" indent="0" marL="0">
                        <a:buNone/>
                      </a:pPr>
                      <a:r>
                        <a:rPr/>
                        <a:t>Thu thập dữ liệu</a:t>
                      </a:r>
                    </a:p>
                  </a:txBody>
                </a:tc>
              </a:tr>
              <a:tr h="0">
                <a:tc>
                  <a:txBody>
                    <a:bodyPr/>
                    <a:lstStyle/>
                    <a:p>
                      <a:pPr lvl="0" indent="0" marL="0">
                        <a:buNone/>
                      </a:pPr>
                      <a:r>
                        <a:rPr i="1"/>
                        <a:t>(cập nhật)</a:t>
                      </a:r>
                    </a:p>
                  </a:txBody>
                </a:tc>
                <a:tc>
                  <a:txBody>
                    <a:bodyPr/>
                    <a:lstStyle/>
                    <a:p>
                      <a:pPr lvl="0" indent="0" marL="0">
                        <a:buNone/>
                      </a:pPr>
                      <a:r>
                        <a:rPr/>
                        <a:t>Tiền xử lý và đặc trưng</a:t>
                      </a:r>
                    </a:p>
                  </a:txBody>
                </a:tc>
              </a:tr>
              <a:tr h="0">
                <a:tc>
                  <a:txBody>
                    <a:bodyPr/>
                    <a:lstStyle/>
                    <a:p>
                      <a:pPr lvl="0" indent="0" marL="0">
                        <a:buNone/>
                      </a:pPr>
                      <a:r>
                        <a:rPr i="1"/>
                        <a:t>(cập nhật)</a:t>
                      </a:r>
                    </a:p>
                  </a:txBody>
                </a:tc>
                <a:tc>
                  <a:txBody>
                    <a:bodyPr/>
                    <a:lstStyle/>
                    <a:p>
                      <a:pPr lvl="0" indent="0" marL="0">
                        <a:buNone/>
                      </a:pPr>
                      <a:r>
                        <a:rPr/>
                        <a:t>Mô hình và thí nghiệm</a:t>
                      </a:r>
                    </a:p>
                  </a:txBody>
                </a:tc>
              </a:tr>
              <a:tr h="0">
                <a:tc>
                  <a:txBody>
                    <a:bodyPr/>
                    <a:lstStyle/>
                    <a:p>
                      <a:pPr lvl="0" indent="0" marL="0">
                        <a:buNone/>
                      </a:pPr>
                      <a:r>
                        <a:rPr i="1"/>
                        <a:t>(cập nhật)</a:t>
                      </a:r>
                    </a:p>
                  </a:txBody>
                </a:tc>
                <a:tc>
                  <a:txBody>
                    <a:bodyPr/>
                    <a:lstStyle/>
                    <a:p>
                      <a:pPr lvl="0" indent="0" marL="0">
                        <a:buNone/>
                      </a:pPr>
                      <a:r>
                        <a:rPr/>
                        <a:t>Báo cáo và demo</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Dự báo giá nhà TP.HCM từ dữ liệu rao vặt</dc:title>
  <dc:creator/>
  <cp:keywords/>
  <dcterms:created xsi:type="dcterms:W3CDTF">2026-08-23T08:50:02Z</dcterms:created>
  <dcterms:modified xsi:type="dcterms:W3CDTF">2026-08-23T08:50:02Z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vt:lpwstr>
  </property>
  <property fmtid="{D5CDD505-2E9C-101B-9397-08002B2CF9AE}" pid="3" name="subtitle">
    <vt:lpwstr>CS106.F31.CN2 · Đồ án đề tài 5 · Nhóm 14</vt:lpwstr>
  </property>
</Properties>
</file>